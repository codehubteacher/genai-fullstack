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Open Sans Light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B50AC5-857A-4BC8-AAC5-805F08EFCFB5}">
  <a:tblStyle styleId="{72B50AC5-857A-4BC8-AAC5-805F08EFCFB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F2FD"/>
          </a:solidFill>
        </a:fill>
      </a:tcStyle>
    </a:wholeTbl>
    <a:band1H>
      <a:tcTxStyle/>
      <a:tcStyle>
        <a:fill>
          <a:solidFill>
            <a:srgbClr val="CAE4FA"/>
          </a:solidFill>
        </a:fill>
      </a:tcStyle>
    </a:band1H>
    <a:band2H>
      <a:tcTxStyle/>
    </a:band2H>
    <a:band1V>
      <a:tcTxStyle/>
      <a:tcStyle>
        <a:fill>
          <a:solidFill>
            <a:srgbClr val="CAE4F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Light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OpenSansLight-italic.fntdata"/><Relationship Id="rId27" Type="http://schemas.openxmlformats.org/officeDocument/2006/relationships/font" Target="fonts/OpenSans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bbc1e3531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bbbc1e3531_0_6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bbc1e3531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bbc1e3531_0_6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bbc1e3531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bbbc1e3531_0_7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bbc1e35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bbbc1e353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bbc1e353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bbbc1e353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bbc1e3531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bbbc1e353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bbc1e3531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bbbc1e353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bbc1e353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bbbc1e3531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bbc1e3531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bbbc1e353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bbc1e3531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bbc1e353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bbc1e3531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bbbc1e353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bbc1e353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bbbc1e3531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bbc1e353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bbc1e3531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bbc1e3531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bbbc1e353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bbc1e3531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bbbc1e353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084" y="-178044"/>
            <a:ext cx="1312038" cy="131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084" y="-178044"/>
            <a:ext cx="1312038" cy="131203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/>
        </p:nvSpPr>
        <p:spPr>
          <a:xfrm>
            <a:off x="8047434" y="657437"/>
            <a:ext cx="10614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7F7F7F"/>
                </a:solidFill>
              </a:rPr>
              <a:t>codehubai.com</a:t>
            </a:r>
            <a:endParaRPr sz="9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084" y="-178044"/>
            <a:ext cx="1312038" cy="131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084" y="-178044"/>
            <a:ext cx="1312038" cy="131203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8047434" y="657437"/>
            <a:ext cx="10614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7F7F7F"/>
                </a:solidFill>
              </a:rPr>
              <a:t>codehubai.com</a:t>
            </a:r>
            <a:endParaRPr sz="9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>
            <p:ph idx="2" type="pic"/>
          </p:nvPr>
        </p:nvSpPr>
        <p:spPr>
          <a:xfrm>
            <a:off x="801583" y="628475"/>
            <a:ext cx="2155200" cy="388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60" name="Google Shape;60;p15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61" name="Google Shape;61;p15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62" name="Google Shape;62;p1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" name="Google Shape;65;p15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1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" name="Google Shape;67;p15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68" name="Google Shape;68;p15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3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3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3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" name="Google Shape;71;p15"/>
          <p:cNvGrpSpPr/>
          <p:nvPr/>
        </p:nvGrpSpPr>
        <p:grpSpPr>
          <a:xfrm>
            <a:off x="7544421" y="-171025"/>
            <a:ext cx="3502095" cy="5560230"/>
            <a:chOff x="7392021" y="-171025"/>
            <a:chExt cx="3502095" cy="5560230"/>
          </a:xfrm>
        </p:grpSpPr>
        <p:grpSp>
          <p:nvGrpSpPr>
            <p:cNvPr id="72" name="Google Shape;72;p15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73" name="Google Shape;73;p15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" name="Google Shape;75;p15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" name="Google Shape;76;p15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77" name="Google Shape;77;p15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" name="Google Shape;78;p15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79" name="Google Shape;79;p1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7150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1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" name="Google Shape;81;p15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82" name="Google Shape;82;p1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7150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" name="Google Shape;83;p1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4" name="Google Shape;84;p15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85" name="Google Shape;85;p15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7150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15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7150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87" name="Google Shape;87;p15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>
            <a:off x="7364969" y="-1196839"/>
            <a:ext cx="3733032" cy="2849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6"/>
          <p:cNvGrpSpPr/>
          <p:nvPr/>
        </p:nvGrpSpPr>
        <p:grpSpPr>
          <a:xfrm>
            <a:off x="-396330" y="-1603674"/>
            <a:ext cx="4397194" cy="4171657"/>
            <a:chOff x="-494405" y="-1584824"/>
            <a:chExt cx="4397194" cy="4171657"/>
          </a:xfrm>
        </p:grpSpPr>
        <p:grpSp>
          <p:nvGrpSpPr>
            <p:cNvPr id="90" name="Google Shape;90;p16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91" name="Google Shape;91;p16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6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16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4" name="Google Shape;94;p16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46667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6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7"/>
                    </a:srgbClr>
                  </a:gs>
                  <a:gs pos="78000">
                    <a:srgbClr val="F5F8FF">
                      <a:alpha val="46667"/>
                    </a:srgbClr>
                  </a:gs>
                  <a:gs pos="100000">
                    <a:srgbClr val="F5F8FF">
                      <a:alpha val="46667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" name="Google Shape;96;p16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7" name="Google Shape;97;p16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8" name="Google Shape;98;p1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9" name="Google Shape;99;p1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0" name="Google Shape;100;p1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1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" name="Google Shape;102;p1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" name="Google Shape;103;p1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" name="Google Shape;104;p1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5" name="Google Shape;105;p1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" name="Google Shape;106;p16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7" name="Google Shape;107;p16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1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" name="Google Shape;109;p1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0" name="Google Shape;110;p1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1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" name="Google Shape;112;p1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" name="Google Shape;113;p1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" name="Google Shape;114;p1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5" name="Google Shape;115;p1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16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7" name="Google Shape;117;p16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1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9" name="Google Shape;119;p1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20" name="Google Shape;120;p1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1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" name="Google Shape;122;p1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3" name="Google Shape;123;p1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4" name="Google Shape;124;p1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68575" lIns="68575" spcFirstLastPara="1" rIns="68575" wrap="square" tIns="685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5" name="Google Shape;125;p1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" name="Google Shape;126;p16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7" name="Google Shape;127;p16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6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6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30" name="Google Shape;130;p1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084" y="-178044"/>
            <a:ext cx="1312038" cy="131203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047434" y="657437"/>
            <a:ext cx="10614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7F7F7F"/>
                </a:solidFill>
              </a:rPr>
              <a:t>codehubai.com</a:t>
            </a:r>
            <a:endParaRPr sz="9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0992" y="570339"/>
            <a:ext cx="2807065" cy="280706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2965904" y="2761686"/>
            <a:ext cx="37512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 sz="1100"/>
          </a:p>
        </p:txBody>
      </p:sp>
      <p:sp>
        <p:nvSpPr>
          <p:cNvPr id="138" name="Google Shape;138;p17"/>
          <p:cNvSpPr txBox="1"/>
          <p:nvPr/>
        </p:nvSpPr>
        <p:spPr>
          <a:xfrm>
            <a:off x="3033488" y="3314006"/>
            <a:ext cx="6141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36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8473905" y="4880045"/>
            <a:ext cx="25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1100"/>
          </a:p>
        </p:txBody>
      </p:sp>
      <p:sp>
        <p:nvSpPr>
          <p:cNvPr id="140" name="Google Shape;140;p17"/>
          <p:cNvSpPr/>
          <p:nvPr/>
        </p:nvSpPr>
        <p:spPr>
          <a:xfrm>
            <a:off x="3060244" y="2792419"/>
            <a:ext cx="7464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956" y="2269781"/>
            <a:ext cx="2108532" cy="1626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8"/>
          <p:cNvGrpSpPr/>
          <p:nvPr/>
        </p:nvGrpSpPr>
        <p:grpSpPr>
          <a:xfrm>
            <a:off x="614467" y="1651255"/>
            <a:ext cx="7915050" cy="943670"/>
            <a:chOff x="800239" y="1101747"/>
            <a:chExt cx="10553400" cy="1258226"/>
          </a:xfrm>
        </p:grpSpPr>
        <p:sp>
          <p:nvSpPr>
            <p:cNvPr id="147" name="Google Shape;147;p18"/>
            <p:cNvSpPr txBox="1"/>
            <p:nvPr/>
          </p:nvSpPr>
          <p:spPr>
            <a:xfrm>
              <a:off x="800239" y="1467173"/>
              <a:ext cx="105534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9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A</a:t>
              </a:r>
              <a:r>
                <a:rPr b="1" lang="en-GB" sz="39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Prompt Engineering</a:t>
              </a:r>
              <a:endParaRPr b="1" sz="39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1292220" y="1101747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8"/>
          <p:cNvSpPr txBox="1"/>
          <p:nvPr/>
        </p:nvSpPr>
        <p:spPr>
          <a:xfrm>
            <a:off x="8473915" y="4880044"/>
            <a:ext cx="34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9"/>
          <p:cNvGrpSpPr/>
          <p:nvPr/>
        </p:nvGrpSpPr>
        <p:grpSpPr>
          <a:xfrm>
            <a:off x="900385" y="1471521"/>
            <a:ext cx="7915050" cy="1519385"/>
            <a:chOff x="1181464" y="862101"/>
            <a:chExt cx="10553400" cy="2025847"/>
          </a:xfrm>
        </p:grpSpPr>
        <p:sp>
          <p:nvSpPr>
            <p:cNvPr id="155" name="Google Shape;155;p19"/>
            <p:cNvSpPr txBox="1"/>
            <p:nvPr/>
          </p:nvSpPr>
          <p:spPr>
            <a:xfrm>
              <a:off x="1181464" y="1441048"/>
              <a:ext cx="10553400" cy="14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300">
                  <a:solidFill>
                    <a:srgbClr val="262626"/>
                  </a:solidFill>
                </a:rPr>
                <a:t>Introduction to</a:t>
              </a:r>
              <a:r>
                <a:rPr b="1" lang="en-GB" sz="3300">
                  <a:solidFill>
                    <a:srgbClr val="262626"/>
                  </a:solidFill>
                </a:rPr>
                <a:t> </a:t>
              </a:r>
              <a:br>
                <a:rPr b="1" lang="en-GB" sz="3300">
                  <a:solidFill>
                    <a:srgbClr val="262626"/>
                  </a:solidFill>
                </a:rPr>
              </a:br>
              <a:r>
                <a:rPr b="1" lang="en-GB" sz="3300">
                  <a:solidFill>
                    <a:schemeClr val="accent1"/>
                  </a:solidFill>
                </a:rPr>
                <a:t>Machine Learning &amp; Generative AI</a:t>
              </a:r>
              <a:endParaRPr b="1" sz="3300">
                <a:solidFill>
                  <a:schemeClr val="accent1"/>
                </a:solidFill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1292220" y="1101747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2427026" y="862101"/>
              <a:ext cx="7935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0">
                  <a:solidFill>
                    <a:srgbClr val="06B3F3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sz="1100"/>
            </a:p>
          </p:txBody>
        </p:sp>
      </p:grpSp>
      <p:sp>
        <p:nvSpPr>
          <p:cNvPr id="158" name="Google Shape;158;p19"/>
          <p:cNvSpPr txBox="1"/>
          <p:nvPr/>
        </p:nvSpPr>
        <p:spPr>
          <a:xfrm>
            <a:off x="8473915" y="4880044"/>
            <a:ext cx="34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/>
          <p:nvPr/>
        </p:nvSpPr>
        <p:spPr>
          <a:xfrm>
            <a:off x="857268" y="356663"/>
            <a:ext cx="10737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519" y="1222687"/>
            <a:ext cx="6870587" cy="369911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673069" y="435863"/>
            <a:ext cx="545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What is Generative AI - </a:t>
            </a:r>
            <a:r>
              <a:rPr b="1" lang="en-GB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Gen AI</a:t>
            </a:r>
            <a:endParaRPr b="1"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/>
          <p:nvPr/>
        </p:nvSpPr>
        <p:spPr>
          <a:xfrm>
            <a:off x="857268" y="356663"/>
            <a:ext cx="10737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857268" y="356663"/>
            <a:ext cx="10737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663000" y="435863"/>
            <a:ext cx="545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What is Generative AI - </a:t>
            </a:r>
            <a:r>
              <a:rPr b="1" lang="en-GB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Gen AI</a:t>
            </a:r>
            <a:endParaRPr b="1" sz="2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642863" y="1228013"/>
            <a:ext cx="7146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/>
              <a:t>Subset of ML that creates novel data: text, images, code, music</a:t>
            </a:r>
            <a:endParaRPr b="1" sz="12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Unlike traditional ML that classifies or predicts, Generative AI produces entirely </a:t>
            </a:r>
            <a:r>
              <a:rPr b="1" lang="en-GB" sz="1200">
                <a:solidFill>
                  <a:schemeClr val="accent1"/>
                </a:solidFill>
              </a:rPr>
              <a:t>new content</a:t>
            </a:r>
            <a:br>
              <a:rPr lang="en-GB" sz="1200"/>
            </a:br>
            <a:endParaRPr sz="1200"/>
          </a:p>
          <a:p>
            <a:pPr indent="-241300" lvl="0" marL="3429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/>
              <a:t>Learns joint data distribution; samples new instances that fit it</a:t>
            </a:r>
            <a:endParaRPr b="1" sz="12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Models capture </a:t>
            </a:r>
            <a:r>
              <a:rPr b="1" lang="en-GB" sz="1200">
                <a:solidFill>
                  <a:schemeClr val="accent1"/>
                </a:solidFill>
              </a:rPr>
              <a:t>patterns and relationships</a:t>
            </a:r>
            <a:r>
              <a:rPr lang="en-GB" sz="1200"/>
              <a:t> across all data dimensions</a:t>
            </a:r>
            <a:endParaRPr sz="1200"/>
          </a:p>
        </p:txBody>
      </p:sp>
      <p:pic>
        <p:nvPicPr>
          <p:cNvPr id="174" name="Google Shape;174;p21" title="Digital Icons Representing Content Type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422" y="2400638"/>
            <a:ext cx="3937332" cy="2136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/>
        </p:nvSpPr>
        <p:spPr>
          <a:xfrm>
            <a:off x="701125" y="519522"/>
            <a:ext cx="5574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662999" y="1769363"/>
            <a:ext cx="7615500" cy="25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603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i="0" lang="en-GB" sz="1500" u="none" cap="none" strike="noStrike">
                <a:solidFill>
                  <a:srgbClr val="000000"/>
                </a:solidFill>
              </a:rPr>
              <a:t>Train on large corpora </a:t>
            </a:r>
            <a:r>
              <a:rPr b="1" i="0" lang="en-GB" sz="1900" u="none" cap="none" strike="noStrike">
                <a:solidFill>
                  <a:schemeClr val="accent1"/>
                </a:solidFill>
              </a:rPr>
              <a:t>⇒</a:t>
            </a:r>
            <a:r>
              <a:rPr b="1" i="0" lang="en-GB" sz="1500" u="none" cap="none" strike="noStrike">
                <a:solidFill>
                  <a:srgbClr val="000000"/>
                </a:solidFill>
              </a:rPr>
              <a:t> model internalises patterns</a:t>
            </a:r>
            <a:endParaRPr b="1" sz="1500"/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learn statistical relationships and underlying structure</a:t>
            </a:r>
            <a:r>
              <a:rPr lang="en-GB" sz="1400"/>
              <a:t>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massive datasets.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2603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i="1" lang="en-GB" sz="1500" u="none" cap="none" strike="noStrike">
                <a:solidFill>
                  <a:schemeClr val="accent1"/>
                </a:solidFill>
              </a:rPr>
              <a:t>Sampling/decoding strategies</a:t>
            </a:r>
            <a:r>
              <a:rPr b="1" i="1" lang="en-GB" sz="1500" u="none" cap="none" strike="noStrike">
                <a:solidFill>
                  <a:srgbClr val="000000"/>
                </a:solidFill>
              </a:rPr>
              <a:t>:</a:t>
            </a:r>
            <a:r>
              <a:rPr b="1" i="0" lang="en-GB" sz="1500" u="none" cap="none" strike="noStrike">
                <a:solidFill>
                  <a:srgbClr val="000000"/>
                </a:solidFill>
              </a:rPr>
              <a:t> temperature, top-k, nucleus</a:t>
            </a:r>
            <a:endParaRPr b="1" sz="1500"/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creativity vs. consistency when generating new outputs.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400"/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</a:rPr>
              <a:t>Key architectures: GANs, VAEs, Transformers</a:t>
            </a:r>
            <a:endParaRPr b="1" sz="1400"/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approaches with specialized strengths for various</a:t>
            </a:r>
            <a:r>
              <a:rPr lang="en-GB" sz="1400"/>
              <a:t>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generation tasks.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857268" y="356663"/>
            <a:ext cx="10737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663000" y="435863"/>
            <a:ext cx="545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How Generative Models Work?</a:t>
            </a:r>
            <a:endParaRPr b="1" sz="2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/>
        </p:nvSpPr>
        <p:spPr>
          <a:xfrm>
            <a:off x="703112" y="435864"/>
            <a:ext cx="6868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 Generative Architectures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594075" y="3705881"/>
            <a:ext cx="7966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architecture represents a different approach to generating</a:t>
            </a:r>
            <a:r>
              <a:rPr lang="en-GB" sz="1400"/>
              <a:t>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 content, with  unique strengths in specific domains and applications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" name="Google Shape;189;p23"/>
          <p:cNvGraphicFramePr/>
          <p:nvPr/>
        </p:nvGraphicFramePr>
        <p:xfrm>
          <a:off x="751645" y="1186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{72B50AC5-857A-4BC8-AAC5-805F08EFCFB5}</a:tableStyleId>
              </a:tblPr>
              <a:tblGrid>
                <a:gridCol w="2537050"/>
                <a:gridCol w="2537050"/>
                <a:gridCol w="2537050"/>
              </a:tblGrid>
              <a:tr h="45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Architecture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Key idea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Typical usE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GAN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Generator vs. Discriminator duel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Photorealistic images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VAE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Probabilistic encoder/decoder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Anomaly detection, molecules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Transformer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Self-attention over sequences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Chat GPT-style LLMs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23"/>
          <p:cNvSpPr/>
          <p:nvPr/>
        </p:nvSpPr>
        <p:spPr>
          <a:xfrm>
            <a:off x="857268" y="356663"/>
            <a:ext cx="10737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/>
          <p:nvPr/>
        </p:nvSpPr>
        <p:spPr>
          <a:xfrm>
            <a:off x="3136395" y="1588097"/>
            <a:ext cx="2281424" cy="2286799"/>
          </a:xfrm>
          <a:custGeom>
            <a:rect b="b" l="l" r="r" t="t"/>
            <a:pathLst>
              <a:path extrusionOk="0" h="585" w="585">
                <a:moveTo>
                  <a:pt x="292" y="585"/>
                </a:moveTo>
                <a:cubicBezTo>
                  <a:pt x="131" y="585"/>
                  <a:pt x="0" y="454"/>
                  <a:pt x="0" y="292"/>
                </a:cubicBezTo>
                <a:cubicBezTo>
                  <a:pt x="0" y="131"/>
                  <a:pt x="131" y="0"/>
                  <a:pt x="292" y="0"/>
                </a:cubicBezTo>
                <a:cubicBezTo>
                  <a:pt x="453" y="0"/>
                  <a:pt x="585" y="131"/>
                  <a:pt x="585" y="292"/>
                </a:cubicBezTo>
                <a:cubicBezTo>
                  <a:pt x="585" y="454"/>
                  <a:pt x="453" y="585"/>
                  <a:pt x="292" y="585"/>
                </a:cubicBezTo>
                <a:close/>
                <a:moveTo>
                  <a:pt x="292" y="78"/>
                </a:moveTo>
                <a:cubicBezTo>
                  <a:pt x="174" y="78"/>
                  <a:pt x="78" y="174"/>
                  <a:pt x="78" y="292"/>
                </a:cubicBezTo>
                <a:cubicBezTo>
                  <a:pt x="78" y="410"/>
                  <a:pt x="174" y="507"/>
                  <a:pt x="292" y="507"/>
                </a:cubicBezTo>
                <a:cubicBezTo>
                  <a:pt x="410" y="507"/>
                  <a:pt x="506" y="410"/>
                  <a:pt x="506" y="292"/>
                </a:cubicBezTo>
                <a:cubicBezTo>
                  <a:pt x="506" y="174"/>
                  <a:pt x="410" y="78"/>
                  <a:pt x="292" y="78"/>
                </a:cubicBez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304800" rotWithShape="0" dir="10800000" dist="28575">
              <a:srgbClr val="222A35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44546A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3233138" y="3170231"/>
            <a:ext cx="349800" cy="337200"/>
          </a:xfrm>
          <a:prstGeom prst="ellipse">
            <a:avLst/>
          </a:prstGeom>
          <a:solidFill>
            <a:srgbClr val="FCE5CD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6167167" y="1222443"/>
            <a:ext cx="1885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Copy &amp; image generation for ads, personalized campaigns</a:t>
            </a:r>
            <a:endParaRPr sz="1100"/>
          </a:p>
        </p:txBody>
      </p:sp>
      <p:sp>
        <p:nvSpPr>
          <p:cNvPr id="198" name="Google Shape;198;p24"/>
          <p:cNvSpPr txBox="1"/>
          <p:nvPr/>
        </p:nvSpPr>
        <p:spPr>
          <a:xfrm>
            <a:off x="453846" y="3471118"/>
            <a:ext cx="15858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design optimisation, predictive maintenance, process efficiency.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461123" y="3207356"/>
            <a:ext cx="1650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Manufacturing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640344" y="493865"/>
            <a:ext cx="32193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Gen AI</a:t>
            </a:r>
            <a:r>
              <a:rPr b="1" lang="en-GB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GB" sz="1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Applications Across Industries</a:t>
            </a:r>
            <a:endParaRPr b="1" sz="1800"/>
          </a:p>
        </p:txBody>
      </p:sp>
      <p:sp>
        <p:nvSpPr>
          <p:cNvPr id="201" name="Google Shape;201;p24"/>
          <p:cNvSpPr/>
          <p:nvPr/>
        </p:nvSpPr>
        <p:spPr>
          <a:xfrm>
            <a:off x="708317" y="493862"/>
            <a:ext cx="7464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6402273" y="2550308"/>
            <a:ext cx="18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Protein or drug discovery, molecular structure simulation.</a:t>
            </a:r>
            <a:endParaRPr sz="1100"/>
          </a:p>
        </p:txBody>
      </p:sp>
      <p:sp>
        <p:nvSpPr>
          <p:cNvPr id="203" name="Google Shape;203;p24"/>
          <p:cNvSpPr txBox="1"/>
          <p:nvPr/>
        </p:nvSpPr>
        <p:spPr>
          <a:xfrm>
            <a:off x="6414782" y="2348304"/>
            <a:ext cx="1737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Pharma</a:t>
            </a:r>
            <a:endParaRPr sz="1100"/>
          </a:p>
        </p:txBody>
      </p:sp>
      <p:sp>
        <p:nvSpPr>
          <p:cNvPr id="204" name="Google Shape;204;p24"/>
          <p:cNvSpPr txBox="1"/>
          <p:nvPr/>
        </p:nvSpPr>
        <p:spPr>
          <a:xfrm>
            <a:off x="6144207" y="979631"/>
            <a:ext cx="1651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Marketing</a:t>
            </a:r>
            <a:endParaRPr sz="1100"/>
          </a:p>
        </p:txBody>
      </p:sp>
      <p:sp>
        <p:nvSpPr>
          <p:cNvPr id="205" name="Google Shape;205;p24"/>
          <p:cNvSpPr txBox="1"/>
          <p:nvPr/>
        </p:nvSpPr>
        <p:spPr>
          <a:xfrm>
            <a:off x="8473915" y="4880044"/>
            <a:ext cx="34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sz="1100"/>
          </a:p>
        </p:txBody>
      </p:sp>
      <p:sp>
        <p:nvSpPr>
          <p:cNvPr id="206" name="Google Shape;206;p24"/>
          <p:cNvSpPr txBox="1"/>
          <p:nvPr/>
        </p:nvSpPr>
        <p:spPr>
          <a:xfrm>
            <a:off x="450208" y="2003894"/>
            <a:ext cx="15858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Synthetic data for stress tests, fraud detection, risk modeling.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457486" y="1740131"/>
            <a:ext cx="1650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Finance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0552" y="3191345"/>
            <a:ext cx="295046" cy="29504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6044298" y="4199989"/>
            <a:ext cx="18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Virtual characters, voice dubbing, procedural game content.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6056807" y="3997985"/>
            <a:ext cx="1737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Media &amp; Gaming</a:t>
            </a:r>
            <a:endParaRPr sz="1100"/>
          </a:p>
        </p:txBody>
      </p:sp>
      <p:cxnSp>
        <p:nvCxnSpPr>
          <p:cNvPr id="211" name="Google Shape;211;p24"/>
          <p:cNvCxnSpPr/>
          <p:nvPr/>
        </p:nvCxnSpPr>
        <p:spPr>
          <a:xfrm flipH="1">
            <a:off x="1925625" y="1897350"/>
            <a:ext cx="887700" cy="55800"/>
          </a:xfrm>
          <a:prstGeom prst="straightConnector1">
            <a:avLst/>
          </a:prstGeom>
          <a:noFill/>
          <a:ln cap="flat" cmpd="sng" w="7150">
            <a:solidFill>
              <a:srgbClr val="A5A5A5"/>
            </a:solidFill>
            <a:prstDash val="dash"/>
            <a:miter lim="800000"/>
            <a:headEnd len="sm" w="sm" type="none"/>
            <a:tailEnd len="med" w="med" type="oval"/>
          </a:ln>
        </p:spPr>
      </p:cxnSp>
      <p:cxnSp>
        <p:nvCxnSpPr>
          <p:cNvPr id="212" name="Google Shape;212;p24"/>
          <p:cNvCxnSpPr>
            <a:endCxn id="213" idx="2"/>
          </p:cNvCxnSpPr>
          <p:nvPr/>
        </p:nvCxnSpPr>
        <p:spPr>
          <a:xfrm>
            <a:off x="2811309" y="1890169"/>
            <a:ext cx="515400" cy="299700"/>
          </a:xfrm>
          <a:prstGeom prst="straightConnector1">
            <a:avLst/>
          </a:prstGeom>
          <a:noFill/>
          <a:ln cap="flat" cmpd="sng" w="7150">
            <a:solidFill>
              <a:srgbClr val="A5A5A5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13" name="Google Shape;213;p24"/>
          <p:cNvSpPr/>
          <p:nvPr/>
        </p:nvSpPr>
        <p:spPr>
          <a:xfrm>
            <a:off x="3326709" y="2021269"/>
            <a:ext cx="349800" cy="337200"/>
          </a:xfrm>
          <a:prstGeom prst="ellipse">
            <a:avLst/>
          </a:prstGeom>
          <a:solidFill>
            <a:srgbClr val="E6B8AF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5077603" y="2719603"/>
            <a:ext cx="349800" cy="337200"/>
          </a:xfrm>
          <a:prstGeom prst="ellipse">
            <a:avLst/>
          </a:prstGeom>
          <a:solidFill>
            <a:srgbClr val="B6D7A8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215" name="Google Shape;215;p24"/>
          <p:cNvCxnSpPr/>
          <p:nvPr/>
        </p:nvCxnSpPr>
        <p:spPr>
          <a:xfrm flipH="1" rot="10800000">
            <a:off x="5495794" y="2571788"/>
            <a:ext cx="898800" cy="266700"/>
          </a:xfrm>
          <a:prstGeom prst="straightConnector1">
            <a:avLst/>
          </a:prstGeom>
          <a:noFill/>
          <a:ln cap="flat" cmpd="sng" w="7150">
            <a:solidFill>
              <a:srgbClr val="A5A5A5"/>
            </a:solidFill>
            <a:prstDash val="dash"/>
            <a:miter lim="800000"/>
            <a:headEnd len="sm" w="sm" type="none"/>
            <a:tailEnd len="med" w="med" type="oval"/>
          </a:ln>
        </p:spPr>
      </p:cxnSp>
      <p:pic>
        <p:nvPicPr>
          <p:cNvPr id="216" name="Google Shape;21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769" y="2746181"/>
            <a:ext cx="267562" cy="2675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24"/>
          <p:cNvCxnSpPr/>
          <p:nvPr/>
        </p:nvCxnSpPr>
        <p:spPr>
          <a:xfrm flipH="1" rot="10800000">
            <a:off x="4773701" y="1430584"/>
            <a:ext cx="303900" cy="319500"/>
          </a:xfrm>
          <a:prstGeom prst="straightConnector1">
            <a:avLst/>
          </a:prstGeom>
          <a:noFill/>
          <a:ln cap="flat" cmpd="sng" w="7150">
            <a:solidFill>
              <a:srgbClr val="A5A5A5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18" name="Google Shape;218;p24"/>
          <p:cNvCxnSpPr/>
          <p:nvPr/>
        </p:nvCxnSpPr>
        <p:spPr>
          <a:xfrm>
            <a:off x="5063508" y="1431715"/>
            <a:ext cx="945000" cy="0"/>
          </a:xfrm>
          <a:prstGeom prst="straightConnector1">
            <a:avLst/>
          </a:prstGeom>
          <a:noFill/>
          <a:ln cap="flat" cmpd="sng" w="7150">
            <a:solidFill>
              <a:srgbClr val="A5A5A5"/>
            </a:solidFill>
            <a:prstDash val="dash"/>
            <a:miter lim="800000"/>
            <a:headEnd len="sm" w="sm" type="none"/>
            <a:tailEnd len="med" w="med" type="oval"/>
          </a:ln>
        </p:spPr>
      </p:cxnSp>
      <p:cxnSp>
        <p:nvCxnSpPr>
          <p:cNvPr id="219" name="Google Shape;219;p24"/>
          <p:cNvCxnSpPr/>
          <p:nvPr/>
        </p:nvCxnSpPr>
        <p:spPr>
          <a:xfrm flipH="1">
            <a:off x="3056504" y="3362389"/>
            <a:ext cx="226200" cy="142500"/>
          </a:xfrm>
          <a:prstGeom prst="straightConnector1">
            <a:avLst/>
          </a:prstGeom>
          <a:noFill/>
          <a:ln cap="flat" cmpd="sng" w="7150">
            <a:solidFill>
              <a:srgbClr val="A5A5A5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20" name="Google Shape;220;p24"/>
          <p:cNvCxnSpPr/>
          <p:nvPr/>
        </p:nvCxnSpPr>
        <p:spPr>
          <a:xfrm rot="10800000">
            <a:off x="2149494" y="3504931"/>
            <a:ext cx="906900" cy="0"/>
          </a:xfrm>
          <a:prstGeom prst="straightConnector1">
            <a:avLst/>
          </a:prstGeom>
          <a:noFill/>
          <a:ln cap="flat" cmpd="sng" w="7150">
            <a:solidFill>
              <a:srgbClr val="A5A5A5"/>
            </a:solidFill>
            <a:prstDash val="dash"/>
            <a:miter lim="800000"/>
            <a:headEnd len="sm" w="sm" type="none"/>
            <a:tailEnd len="med" w="med" type="oval"/>
          </a:ln>
        </p:spPr>
      </p:cxnSp>
      <p:cxnSp>
        <p:nvCxnSpPr>
          <p:cNvPr id="221" name="Google Shape;221;p24"/>
          <p:cNvCxnSpPr/>
          <p:nvPr/>
        </p:nvCxnSpPr>
        <p:spPr>
          <a:xfrm>
            <a:off x="5133600" y="4192294"/>
            <a:ext cx="885900" cy="181500"/>
          </a:xfrm>
          <a:prstGeom prst="straightConnector1">
            <a:avLst/>
          </a:prstGeom>
          <a:noFill/>
          <a:ln cap="flat" cmpd="sng" w="7150">
            <a:solidFill>
              <a:srgbClr val="A5A5A5"/>
            </a:solidFill>
            <a:prstDash val="dash"/>
            <a:miter lim="800000"/>
            <a:headEnd len="sm" w="sm" type="none"/>
            <a:tailEnd len="med" w="med" type="oval"/>
          </a:ln>
        </p:spPr>
      </p:cxnSp>
      <p:cxnSp>
        <p:nvCxnSpPr>
          <p:cNvPr id="222" name="Google Shape;222;p24"/>
          <p:cNvCxnSpPr/>
          <p:nvPr/>
        </p:nvCxnSpPr>
        <p:spPr>
          <a:xfrm>
            <a:off x="4745906" y="3860138"/>
            <a:ext cx="407400" cy="339900"/>
          </a:xfrm>
          <a:prstGeom prst="straightConnector1">
            <a:avLst/>
          </a:prstGeom>
          <a:noFill/>
          <a:ln cap="flat" cmpd="sng" w="7150">
            <a:solidFill>
              <a:srgbClr val="A5A5A5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23" name="Google Shape;22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0522" y="3461381"/>
            <a:ext cx="402957" cy="40295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4483519" y="1666613"/>
            <a:ext cx="349800" cy="337200"/>
          </a:xfrm>
          <a:prstGeom prst="ellipse">
            <a:avLst/>
          </a:prstGeom>
          <a:solidFill>
            <a:schemeClr val="accent1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</a:endParaRPr>
          </a:p>
        </p:txBody>
      </p:sp>
      <p:pic>
        <p:nvPicPr>
          <p:cNvPr id="225" name="Google Shape;22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0927" y="1687729"/>
            <a:ext cx="295046" cy="29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7875" y="2055860"/>
            <a:ext cx="267562" cy="268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/>
        </p:nvSpPr>
        <p:spPr>
          <a:xfrm>
            <a:off x="318505" y="335856"/>
            <a:ext cx="5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Gen AI</a:t>
            </a:r>
            <a:r>
              <a:rPr b="1" lang="en-GB" sz="2400">
                <a:latin typeface="Poppins"/>
                <a:ea typeface="Poppins"/>
                <a:cs typeface="Poppins"/>
                <a:sym typeface="Poppins"/>
              </a:rPr>
              <a:t> Use cases</a:t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394170" y="296256"/>
            <a:ext cx="7464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863" y="1006744"/>
            <a:ext cx="5036551" cy="397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59" y="1292728"/>
            <a:ext cx="3255407" cy="3255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9" name="Google Shape;23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2875" y="2770368"/>
            <a:ext cx="240030" cy="300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4659" y="1292728"/>
            <a:ext cx="3255407" cy="3255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1928" y="1783548"/>
            <a:ext cx="240030" cy="300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4659" y="1292728"/>
            <a:ext cx="3255407" cy="3255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91928" y="3757099"/>
            <a:ext cx="240030" cy="30003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 txBox="1"/>
          <p:nvPr/>
        </p:nvSpPr>
        <p:spPr>
          <a:xfrm>
            <a:off x="318505" y="335856"/>
            <a:ext cx="5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Advantages of </a:t>
            </a:r>
            <a:r>
              <a:rPr b="1" lang="en-GB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Gen AI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394170" y="296256"/>
            <a:ext cx="7464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5798167" y="1490099"/>
            <a:ext cx="18855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Accelerates ideation and creation processes, enabling quick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iteration of concepts and designs.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5770068" y="1051350"/>
            <a:ext cx="2867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Creativity amplifier &amp; rapid prototyping</a:t>
            </a:r>
            <a:endParaRPr sz="1100"/>
          </a:p>
        </p:txBody>
      </p:sp>
      <p:sp>
        <p:nvSpPr>
          <p:cNvPr id="248" name="Google Shape;248;p26"/>
          <p:cNvSpPr txBox="1"/>
          <p:nvPr/>
        </p:nvSpPr>
        <p:spPr>
          <a:xfrm>
            <a:off x="5798167" y="3776549"/>
            <a:ext cx="18855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Delivers customized content and interactions for individual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Users without manual intervention.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5770068" y="3337800"/>
            <a:ext cx="2867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Personalised user experiences at scale</a:t>
            </a:r>
            <a:endParaRPr sz="1100"/>
          </a:p>
        </p:txBody>
      </p:sp>
      <p:sp>
        <p:nvSpPr>
          <p:cNvPr id="250" name="Google Shape;250;p26"/>
          <p:cNvSpPr txBox="1"/>
          <p:nvPr/>
        </p:nvSpPr>
        <p:spPr>
          <a:xfrm>
            <a:off x="283604" y="1949343"/>
            <a:ext cx="18855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Generates realistic training data for edge cases and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underrepresented scenarios,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255506" y="1510594"/>
            <a:ext cx="2867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Poppins"/>
                <a:ea typeface="Poppins"/>
                <a:cs typeface="Poppins"/>
                <a:sym typeface="Poppins"/>
              </a:rPr>
              <a:t>Fills data gaps with high-quality synthetic examples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/>
        </p:nvSpPr>
        <p:spPr>
          <a:xfrm>
            <a:off x="487913" y="494334"/>
            <a:ext cx="5926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 </a:t>
            </a:r>
            <a:r>
              <a:rPr b="1" i="0" lang="en-GB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Limitations</a:t>
            </a:r>
            <a:endParaRPr sz="2400"/>
          </a:p>
        </p:txBody>
      </p:sp>
      <p:sp>
        <p:nvSpPr>
          <p:cNvPr id="257" name="Google Shape;257;p27"/>
          <p:cNvSpPr txBox="1"/>
          <p:nvPr/>
        </p:nvSpPr>
        <p:spPr>
          <a:xfrm>
            <a:off x="737557" y="3714108"/>
            <a:ext cx="7668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413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Understanding these limitations is crucial for responsible implementation and developing effective mitigation strategies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8" name="Google Shape;258;p27"/>
          <p:cNvGraphicFramePr/>
          <p:nvPr/>
        </p:nvGraphicFramePr>
        <p:xfrm>
          <a:off x="779627" y="14922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{72B50AC5-857A-4BC8-AAC5-805F08EFCFB5}</a:tableStyleId>
              </a:tblPr>
              <a:tblGrid>
                <a:gridCol w="3846625"/>
                <a:gridCol w="3846625"/>
              </a:tblGrid>
              <a:tr h="50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Challenge</a:t>
                      </a:r>
                      <a:endParaRPr sz="15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Impact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"Hallucinations"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Incorrect or fabricated facts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Bias amplification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Reinforces societal inequities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IP &amp; copyright risk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cap="none" strike="noStrike"/>
                        <a:t>Training data may contain protected IP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Compute &amp; energy cost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Large carbon footprint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9" name="Google Shape;259;p27"/>
          <p:cNvSpPr/>
          <p:nvPr/>
        </p:nvSpPr>
        <p:spPr>
          <a:xfrm>
            <a:off x="553479" y="383667"/>
            <a:ext cx="7464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/>
          <p:nvPr/>
        </p:nvSpPr>
        <p:spPr>
          <a:xfrm>
            <a:off x="1145379" y="723005"/>
            <a:ext cx="4168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5" name="Google Shape;265;p28"/>
          <p:cNvSpPr txBox="1"/>
          <p:nvPr/>
        </p:nvSpPr>
        <p:spPr>
          <a:xfrm>
            <a:off x="911437" y="1368360"/>
            <a:ext cx="6701400" cy="26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Fairness &amp; non-discrimination:</a:t>
            </a:r>
            <a:endParaRPr b="1"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Audit training data, apply bias-mitigation techniques to prevent perpetuating stereotypes or disadvantaging certain groups</a:t>
            </a:r>
            <a:endParaRPr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Transparency:</a:t>
            </a:r>
            <a:endParaRPr b="1"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 model scope and limitations to users, ensuring they understand how the model works and its potential shortcomings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Char char="●"/>
            </a:pPr>
            <a:r>
              <a:rPr b="1" i="0" lang="en-GB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Accountability:</a:t>
            </a:r>
            <a:endParaRPr b="1"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Retain human oversight for high-stakes decisions where algorithmic failures could lead to significant harm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394161" y="407575"/>
            <a:ext cx="5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Ethical Considerations</a:t>
            </a:r>
            <a:endParaRPr b="1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394170" y="296256"/>
            <a:ext cx="7464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"/>
          <p:cNvSpPr txBox="1"/>
          <p:nvPr/>
        </p:nvSpPr>
        <p:spPr>
          <a:xfrm>
            <a:off x="537022" y="1454121"/>
            <a:ext cx="71898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"/>
              <a:buChar char="●"/>
            </a:pPr>
            <a:r>
              <a:rPr b="1" i="0" lang="en-GB" sz="1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ML </a:t>
            </a:r>
            <a:r>
              <a:rPr b="1" i="0" lang="en-GB" sz="1400" u="none" cap="none" strike="noStrike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predicts</a:t>
            </a:r>
            <a:r>
              <a:rPr b="1" i="0" lang="en-GB" sz="1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; Generative AI </a:t>
            </a:r>
            <a:r>
              <a:rPr b="1" i="0" lang="en-GB" sz="1400" u="none" cap="none" strike="noStrike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creates</a:t>
            </a:r>
            <a:endParaRPr b="1" sz="1400">
              <a:solidFill>
                <a:srgbClr val="F5040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Understanding this fundamental distinction guides effective utilization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"/>
              <a:buChar char="●"/>
            </a:pPr>
            <a:r>
              <a:rPr b="1" i="0" lang="en-GB" sz="1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Mastering the ML pipeline </a:t>
            </a:r>
            <a:r>
              <a:rPr b="1" i="0" lang="en-GB" sz="1400" u="none" cap="none" strike="noStrike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clarifies </a:t>
            </a:r>
            <a:r>
              <a:rPr b="1" i="0" lang="en-GB" sz="1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where prompt engineering fits</a:t>
            </a:r>
            <a:endParaRPr b="1" sz="1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Context helps you become more effective at steering AI systems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"/>
              <a:buChar char="●"/>
            </a:pPr>
            <a:r>
              <a:rPr b="1" i="0" lang="en-GB" sz="1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Benefits are huge, but </a:t>
            </a:r>
            <a:r>
              <a:rPr b="1" i="0" lang="en-GB" sz="1400" u="none" cap="none" strike="noStrike">
                <a:solidFill>
                  <a:srgbClr val="F50403"/>
                </a:solidFill>
                <a:latin typeface="Poppins"/>
                <a:ea typeface="Poppins"/>
                <a:cs typeface="Poppins"/>
                <a:sym typeface="Poppins"/>
              </a:rPr>
              <a:t>responsibility </a:t>
            </a:r>
            <a:r>
              <a:rPr b="1" i="0" lang="en-GB" sz="1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is non-negotiable</a:t>
            </a:r>
            <a:endParaRPr b="1" sz="1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Ethical considerations must accompany technical implementation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487913" y="494334"/>
            <a:ext cx="5926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/>
              <a:t>Key Takeaways</a:t>
            </a:r>
            <a:endParaRPr sz="2400"/>
          </a:p>
        </p:txBody>
      </p:sp>
      <p:sp>
        <p:nvSpPr>
          <p:cNvPr id="274" name="Google Shape;274;p29"/>
          <p:cNvSpPr/>
          <p:nvPr/>
        </p:nvSpPr>
        <p:spPr>
          <a:xfrm>
            <a:off x="553479" y="383667"/>
            <a:ext cx="7464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/>
          <p:nvPr/>
        </p:nvSpPr>
        <p:spPr>
          <a:xfrm>
            <a:off x="3658594" y="1948952"/>
            <a:ext cx="7464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3580948" y="2028150"/>
            <a:ext cx="1768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  <a:r>
              <a:rPr b="1" lang="en-GB" sz="3000"/>
              <a:t>/</a:t>
            </a:r>
            <a:r>
              <a:rPr b="1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/>
          <p:nvPr/>
        </p:nvSpPr>
        <p:spPr>
          <a:xfrm>
            <a:off x="3658594" y="1948952"/>
            <a:ext cx="746400" cy="792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1"/>
          <p:cNvSpPr txBox="1"/>
          <p:nvPr/>
        </p:nvSpPr>
        <p:spPr>
          <a:xfrm>
            <a:off x="3580948" y="2028150"/>
            <a:ext cx="1768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/>
              <a:t>Thanks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