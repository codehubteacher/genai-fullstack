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IBM Plex Mono Light"/>
      <p:regular r:id="rId35"/>
      <p:bold r:id="rId36"/>
      <p:italic r:id="rId37"/>
      <p:boldItalic r:id="rId38"/>
    </p:embeddedFont>
    <p:embeddedFont>
      <p:font typeface="Poppins Light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  <p:embeddedFont>
      <p:font typeface="Open Sans Light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bold.fntdata"/><Relationship Id="rId42" Type="http://schemas.openxmlformats.org/officeDocument/2006/relationships/font" Target="fonts/PoppinsLight-boldItalic.fntdata"/><Relationship Id="rId41" Type="http://schemas.openxmlformats.org/officeDocument/2006/relationships/font" Target="fonts/PoppinsLight-italic.fntdata"/><Relationship Id="rId44" Type="http://schemas.openxmlformats.org/officeDocument/2006/relationships/font" Target="fonts/PoppinsMedium-bold.fntdata"/><Relationship Id="rId43" Type="http://schemas.openxmlformats.org/officeDocument/2006/relationships/font" Target="fonts/PoppinsMedium-regular.fntdata"/><Relationship Id="rId46" Type="http://schemas.openxmlformats.org/officeDocument/2006/relationships/font" Target="fonts/PoppinsMedium-boldItalic.fntdata"/><Relationship Id="rId45" Type="http://schemas.openxmlformats.org/officeDocument/2006/relationships/font" Target="fonts/Poppi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Light-bold.fntdata"/><Relationship Id="rId47" Type="http://schemas.openxmlformats.org/officeDocument/2006/relationships/font" Target="fonts/OpenSansLight-regular.fntdata"/><Relationship Id="rId49" Type="http://schemas.openxmlformats.org/officeDocument/2006/relationships/font" Target="fonts/Open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slide" Target="slides/slide25.xml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IBMPlexMonoLight-regular.fntdata"/><Relationship Id="rId34" Type="http://schemas.openxmlformats.org/officeDocument/2006/relationships/font" Target="fonts/Poppins-boldItalic.fntdata"/><Relationship Id="rId37" Type="http://schemas.openxmlformats.org/officeDocument/2006/relationships/font" Target="fonts/IBMPlexMonoLight-italic.fntdata"/><Relationship Id="rId36" Type="http://schemas.openxmlformats.org/officeDocument/2006/relationships/font" Target="fonts/IBMPlexMonoLight-bold.fntdata"/><Relationship Id="rId39" Type="http://schemas.openxmlformats.org/officeDocument/2006/relationships/font" Target="fonts/PoppinsLight-regular.fntdata"/><Relationship Id="rId38" Type="http://schemas.openxmlformats.org/officeDocument/2006/relationships/font" Target="fonts/IBMPlexMonoLigh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OpenSansLight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80de1b8141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80de1b8141_2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7271c6c3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7271c6c3d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80de1b8141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80de1b8141_2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80de1b814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80de1b8141_2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80de1b8141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80de1b8141_2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80de1b8141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80de1b8141_2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80de1b8141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80de1b8141_2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80de1b8141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80de1b8141_2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80de1b8141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80de1b8141_2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80de1b8141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80de1b8141_2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80de1b8141_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80de1b8141_2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80de1b8141_2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80de1b8141_2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80de1b8141_2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80de1b8141_2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80de1b8141_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380de1b8141_2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80de1b8141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80de1b8141_2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80de1b8141_2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80de1b8141_2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80de1b8141_2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80de1b8141_2_4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48c93a3e68_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48c93a3e68_1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python.langchain.com/api_reference/" TargetMode="External"/><Relationship Id="rId4" Type="http://schemas.openxmlformats.org/officeDocument/2006/relationships/hyperlink" Target="https://www.promptingguide.ai/introduction/tips" TargetMode="External"/><Relationship Id="rId5" Type="http://schemas.openxmlformats.org/officeDocument/2006/relationships/hyperlink" Target="https://github.com/langchain-ai/langchain" TargetMode="External"/><Relationship Id="rId6" Type="http://schemas.openxmlformats.org/officeDocument/2006/relationships/hyperlink" Target="https://python.langchain.com/docs/concepts/prompt_templates/" TargetMode="External"/><Relationship Id="rId7" Type="http://schemas.openxmlformats.org/officeDocument/2006/relationships/hyperlink" Target="https://python.langchain.com/docs/tutorials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642048" y="6333126"/>
            <a:ext cx="498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"/>
          <p:cNvSpPr/>
          <p:nvPr/>
        </p:nvSpPr>
        <p:spPr>
          <a:xfrm>
            <a:off x="1006020" y="2469824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1" name="Google Shape;621;p38"/>
          <p:cNvGrpSpPr/>
          <p:nvPr/>
        </p:nvGrpSpPr>
        <p:grpSpPr>
          <a:xfrm>
            <a:off x="868426" y="2469824"/>
            <a:ext cx="11123100" cy="1631701"/>
            <a:chOff x="800251" y="1467172"/>
            <a:chExt cx="11123100" cy="1631701"/>
          </a:xfrm>
        </p:grpSpPr>
        <p:sp>
          <p:nvSpPr>
            <p:cNvPr id="622" name="Google Shape;622;p38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06B3F3"/>
                  </a:solidFill>
                  <a:latin typeface="Poppins"/>
                  <a:ea typeface="Poppins"/>
                  <a:cs typeface="Poppins"/>
                  <a:sym typeface="Poppins"/>
                </a:rPr>
                <a:t>Course C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sz="5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Developing Applications with LLM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4" name="Google Shape;624;p38"/>
          <p:cNvSpPr txBox="1"/>
          <p:nvPr>
            <p:ph idx="12" type="sldNum"/>
          </p:nvPr>
        </p:nvSpPr>
        <p:spPr>
          <a:xfrm>
            <a:off x="11259820" y="626590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"/>
          <p:cNvSpPr txBox="1"/>
          <p:nvPr/>
        </p:nvSpPr>
        <p:spPr>
          <a:xfrm>
            <a:off x="2326275" y="2661825"/>
            <a:ext cx="85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Introducing </a:t>
            </a: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3216662" y="3228487"/>
            <a:ext cx="6201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sz="1700">
                <a:solidFill>
                  <a:srgbClr val="F5040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Inputs </a:t>
            </a:r>
            <a:r>
              <a:rPr lang="en-US" sz="1700">
                <a:latin typeface="Poppins Light"/>
                <a:ea typeface="Poppins Light"/>
                <a:cs typeface="Poppins Light"/>
                <a:sym typeface="Poppins Light"/>
              </a:rPr>
              <a:t>&amp; </a:t>
            </a:r>
            <a:r>
              <a:rPr lang="en-US" sz="1700">
                <a:solidFill>
                  <a:srgbClr val="F50403"/>
                </a:solidFill>
                <a:latin typeface="Poppins Light"/>
                <a:ea typeface="Poppins Light"/>
                <a:cs typeface="Poppins Light"/>
                <a:sym typeface="Poppins Light"/>
              </a:rPr>
              <a:t>Outputs </a:t>
            </a:r>
            <a:r>
              <a:rPr lang="en-US" sz="1700">
                <a:latin typeface="Poppins Light"/>
                <a:ea typeface="Poppins Light"/>
                <a:cs typeface="Poppins Light"/>
                <a:sym typeface="Poppins Light"/>
              </a:rPr>
              <a:t>+ </a:t>
            </a:r>
            <a:r>
              <a:rPr lang="en-US" sz="1700">
                <a:solidFill>
                  <a:srgbClr val="F50403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Prompt Templates</a:t>
            </a:r>
            <a:endParaRPr sz="17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31" name="Google Shape;631;p39"/>
          <p:cNvSpPr txBox="1"/>
          <p:nvPr>
            <p:ph idx="12" type="sldNum"/>
          </p:nvPr>
        </p:nvSpPr>
        <p:spPr>
          <a:xfrm>
            <a:off x="11499050" y="6408400"/>
            <a:ext cx="384900" cy="3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 txBox="1"/>
          <p:nvPr/>
        </p:nvSpPr>
        <p:spPr>
          <a:xfrm>
            <a:off x="2427650" y="4176975"/>
            <a:ext cx="702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  <a:endParaRPr b="1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Guide to passing data through chains</a:t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Building Dynamic Prompts</a:t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337853" y="433775"/>
            <a:ext cx="32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4079925" y="13368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Inputs/Outputs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0" name="Google Shape;6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850" y="1434925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852" y="18740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850" y="2313063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850" y="2738062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0850" y="3163050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0"/>
          <p:cNvSpPr txBox="1"/>
          <p:nvPr/>
        </p:nvSpPr>
        <p:spPr>
          <a:xfrm>
            <a:off x="4079925" y="1775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Templates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40"/>
          <p:cNvSpPr txBox="1"/>
          <p:nvPr/>
        </p:nvSpPr>
        <p:spPr>
          <a:xfrm>
            <a:off x="4079925" y="22149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 prompt Template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0"/>
          <p:cNvSpPr txBox="1"/>
          <p:nvPr/>
        </p:nvSpPr>
        <p:spPr>
          <a:xfrm>
            <a:off x="4079925" y="26540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4079925" y="30671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Practices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9" name="Google Shape;649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1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What is a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Chain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5" name="Google Shape;655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1"/>
          <p:cNvSpPr txBox="1"/>
          <p:nvPr/>
        </p:nvSpPr>
        <p:spPr>
          <a:xfrm>
            <a:off x="3393350" y="1993725"/>
            <a:ext cx="5585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chain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callable composition of components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(LLMs, Prompt Templates, Tools,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Retrievers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7" name="Google Shape;6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450" y="2084233"/>
            <a:ext cx="496076" cy="49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4450" y="3204900"/>
            <a:ext cx="465676" cy="465676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1"/>
          <p:cNvSpPr txBox="1"/>
          <p:nvPr/>
        </p:nvSpPr>
        <p:spPr>
          <a:xfrm>
            <a:off x="3451800" y="2993475"/>
            <a:ext cx="5585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Chains accept a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dictionary of inputs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and return a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dictionary of outputs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2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Inputs &amp; outputs -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Core Idea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2341575" y="2224075"/>
            <a:ext cx="558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Inputs: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Named variable passed in to a chain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2341575" y="3418425"/>
            <a:ext cx="558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Results returned from the chain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9" name="Google Shape;66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874600" y="2242712"/>
            <a:ext cx="393825" cy="393825"/>
          </a:xfrm>
          <a:prstGeom prst="rect">
            <a:avLst/>
          </a:prstGeom>
          <a:noFill/>
          <a:ln>
            <a:noFill/>
          </a:ln>
          <a:effectLst>
            <a:reflection blurRad="0" dir="5400000" dist="142875" endA="0" endPos="30000" fadeDir="5400012" kx="0" rotWithShape="0" algn="bl" stA="45000" stPos="0" sy="-100000" ky="0"/>
          </a:effectLst>
        </p:spPr>
      </p:pic>
      <p:pic>
        <p:nvPicPr>
          <p:cNvPr id="670" name="Google Shape;67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4600" y="3437063"/>
            <a:ext cx="393825" cy="3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4588" y="4508650"/>
            <a:ext cx="365000" cy="3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2"/>
          <p:cNvSpPr txBox="1"/>
          <p:nvPr/>
        </p:nvSpPr>
        <p:spPr>
          <a:xfrm>
            <a:off x="2341575" y="4475600"/>
            <a:ext cx="558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Dicts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Keeps the flow </a:t>
            </a:r>
            <a:r>
              <a:rPr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explicit</a:t>
            </a:r>
            <a:r>
              <a:rPr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composable</a:t>
            </a:r>
            <a:endParaRPr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42"/>
          <p:cNvSpPr txBox="1"/>
          <p:nvPr/>
        </p:nvSpPr>
        <p:spPr>
          <a:xfrm>
            <a:off x="7582725" y="2141350"/>
            <a:ext cx="2818500" cy="8112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{"question": "..."}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4" name="Google Shape;674;p42"/>
          <p:cNvSpPr txBox="1"/>
          <p:nvPr/>
        </p:nvSpPr>
        <p:spPr>
          <a:xfrm>
            <a:off x="7553950" y="3308475"/>
            <a:ext cx="2818500" cy="7248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{"answer": "...", “sources”: [...]}</a:t>
            </a:r>
            <a:endParaRPr/>
          </a:p>
        </p:txBody>
      </p:sp>
      <p:sp>
        <p:nvSpPr>
          <p:cNvPr id="675" name="Google Shape;675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3"/>
          <p:cNvSpPr txBox="1"/>
          <p:nvPr/>
        </p:nvSpPr>
        <p:spPr>
          <a:xfrm>
            <a:off x="337851" y="433775"/>
            <a:ext cx="725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How Data flows between Steps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81" name="Google Shape;681;p43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3"/>
          <p:cNvSpPr/>
          <p:nvPr/>
        </p:nvSpPr>
        <p:spPr>
          <a:xfrm>
            <a:off x="2163675" y="2073150"/>
            <a:ext cx="1737600" cy="271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3" name="Google Shape;683;p43"/>
          <p:cNvCxnSpPr/>
          <p:nvPr/>
        </p:nvCxnSpPr>
        <p:spPr>
          <a:xfrm>
            <a:off x="4135238" y="2965575"/>
            <a:ext cx="4284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4" name="Google Shape;684;p43"/>
          <p:cNvSpPr txBox="1"/>
          <p:nvPr/>
        </p:nvSpPr>
        <p:spPr>
          <a:xfrm>
            <a:off x="2684150" y="2105525"/>
            <a:ext cx="11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Step A</a:t>
            </a:r>
            <a:endParaRPr b="1" sz="1600"/>
          </a:p>
        </p:txBody>
      </p:sp>
      <p:sp>
        <p:nvSpPr>
          <p:cNvPr id="685" name="Google Shape;685;p43"/>
          <p:cNvSpPr txBox="1"/>
          <p:nvPr/>
        </p:nvSpPr>
        <p:spPr>
          <a:xfrm>
            <a:off x="2231325" y="3429000"/>
            <a:ext cx="160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{"query": "...",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"context":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{"result_a": "...",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"metadata": {...}}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86" name="Google Shape;6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900" y="2201925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3"/>
          <p:cNvSpPr txBox="1"/>
          <p:nvPr/>
        </p:nvSpPr>
        <p:spPr>
          <a:xfrm>
            <a:off x="2163600" y="2659625"/>
            <a:ext cx="1737600" cy="554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Process user query and context</a:t>
            </a:r>
            <a:endParaRPr/>
          </a:p>
        </p:txBody>
      </p:sp>
      <p:sp>
        <p:nvSpPr>
          <p:cNvPr id="688" name="Google Shape;688;p43"/>
          <p:cNvSpPr/>
          <p:nvPr/>
        </p:nvSpPr>
        <p:spPr>
          <a:xfrm>
            <a:off x="4966675" y="1952225"/>
            <a:ext cx="1737600" cy="283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3"/>
          <p:cNvSpPr txBox="1"/>
          <p:nvPr/>
        </p:nvSpPr>
        <p:spPr>
          <a:xfrm>
            <a:off x="5487150" y="2105525"/>
            <a:ext cx="11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Step B</a:t>
            </a:r>
            <a:endParaRPr b="1" sz="1600"/>
          </a:p>
        </p:txBody>
      </p:sp>
      <p:sp>
        <p:nvSpPr>
          <p:cNvPr id="690" name="Google Shape;690;p43"/>
          <p:cNvSpPr txBox="1"/>
          <p:nvPr/>
        </p:nvSpPr>
        <p:spPr>
          <a:xfrm>
            <a:off x="5034325" y="3395448"/>
            <a:ext cx="160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{"input": "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{{result_a}}", "style":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{"response": "...",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"sources": [...]}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1" name="Google Shape;691;p43"/>
          <p:cNvSpPr txBox="1"/>
          <p:nvPr/>
        </p:nvSpPr>
        <p:spPr>
          <a:xfrm>
            <a:off x="4966600" y="2659625"/>
            <a:ext cx="1737600" cy="7389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Format response with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citations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7514675" y="1952225"/>
            <a:ext cx="1737600" cy="28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3"/>
          <p:cNvSpPr txBox="1"/>
          <p:nvPr/>
        </p:nvSpPr>
        <p:spPr>
          <a:xfrm>
            <a:off x="8035150" y="2105525"/>
            <a:ext cx="11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Step C</a:t>
            </a:r>
            <a:endParaRPr b="1" sz="1600"/>
          </a:p>
        </p:txBody>
      </p:sp>
      <p:sp>
        <p:nvSpPr>
          <p:cNvPr id="694" name="Google Shape;694;p43"/>
          <p:cNvSpPr txBox="1"/>
          <p:nvPr/>
        </p:nvSpPr>
        <p:spPr>
          <a:xfrm>
            <a:off x="7582325" y="3429000"/>
            <a:ext cx="160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{"response": "...",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"user_id":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{"answer": "...",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"sources": [...]}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95" name="Google Shape;6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900" y="2201925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3"/>
          <p:cNvSpPr txBox="1"/>
          <p:nvPr/>
        </p:nvSpPr>
        <p:spPr>
          <a:xfrm>
            <a:off x="7514600" y="2659625"/>
            <a:ext cx="1737600" cy="3693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Final delivery to user</a:t>
            </a:r>
            <a:endParaRPr/>
          </a:p>
        </p:txBody>
      </p:sp>
      <p:cxnSp>
        <p:nvCxnSpPr>
          <p:cNvPr id="697" name="Google Shape;697;p43"/>
          <p:cNvCxnSpPr/>
          <p:nvPr/>
        </p:nvCxnSpPr>
        <p:spPr>
          <a:xfrm>
            <a:off x="6895188" y="2936675"/>
            <a:ext cx="4284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98" name="Google Shape;69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4325" y="2190125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>
            <p:ph idx="12" type="sldNum"/>
          </p:nvPr>
        </p:nvSpPr>
        <p:spPr>
          <a:xfrm>
            <a:off x="11528425" y="6401525"/>
            <a:ext cx="5367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4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Runnable &amp; RunnableSequence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4"/>
          <p:cNvSpPr txBox="1"/>
          <p:nvPr/>
        </p:nvSpPr>
        <p:spPr>
          <a:xfrm>
            <a:off x="2408700" y="176105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Runnable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Abstract logic composition (sync/async, parallel) for consistent interface across components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7" name="Google Shape;707;p44"/>
          <p:cNvSpPr txBox="1"/>
          <p:nvPr/>
        </p:nvSpPr>
        <p:spPr>
          <a:xfrm>
            <a:off x="2499450" y="4359400"/>
            <a:ext cx="6056400" cy="811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 = prompt | model | output_parser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08" name="Google Shape;7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712" y="1858100"/>
            <a:ext cx="483013" cy="48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7675" y="2997900"/>
            <a:ext cx="4311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4"/>
          <p:cNvSpPr txBox="1"/>
          <p:nvPr/>
        </p:nvSpPr>
        <p:spPr>
          <a:xfrm>
            <a:off x="2408700" y="287490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RunnableSequence / RunnablePassthrough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Help forward data through multi-step workflows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1" name="Google Shape;71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3220" y="3979425"/>
            <a:ext cx="379974" cy="37997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4"/>
          <p:cNvSpPr txBox="1"/>
          <p:nvPr/>
        </p:nvSpPr>
        <p:spPr>
          <a:xfrm>
            <a:off x="2408700" y="39283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/>
          </a:p>
        </p:txBody>
      </p:sp>
      <p:sp>
        <p:nvSpPr>
          <p:cNvPr id="713" name="Google Shape;713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5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Passing Values Unchanged —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Passthrough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9" name="Google Shape;719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5"/>
          <p:cNvSpPr txBox="1"/>
          <p:nvPr/>
        </p:nvSpPr>
        <p:spPr>
          <a:xfrm>
            <a:off x="2703950" y="221735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RunnablePassthrough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carry values forward unchanged (e.g.,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user_id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, context blob).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45"/>
          <p:cNvSpPr txBox="1"/>
          <p:nvPr/>
        </p:nvSpPr>
        <p:spPr>
          <a:xfrm>
            <a:off x="2703950" y="333120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Helpful when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branching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 using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parallel steps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later need access to original inputs.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2" name="Google Shape;72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875" y="2318313"/>
            <a:ext cx="475174" cy="47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8887" y="3429000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6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Simple Sequential Flow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0" name="Google Shape;730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75" y="1280500"/>
            <a:ext cx="10218675" cy="51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Simple Sequential Flow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8" name="Google Shape;738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7"/>
          <p:cNvSpPr txBox="1"/>
          <p:nvPr/>
        </p:nvSpPr>
        <p:spPr>
          <a:xfrm>
            <a:off x="1274650" y="1056475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PromptTemplate formats instruction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LLM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0" name="Google Shape;740;p47"/>
          <p:cNvSpPr txBox="1"/>
          <p:nvPr/>
        </p:nvSpPr>
        <p:spPr>
          <a:xfrm>
            <a:off x="1355175" y="1352775"/>
            <a:ext cx="6677100" cy="13449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Define a prompt template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template = "Explain {concept} in simple terms."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PromptTemplate(template=template, input_variables=["concept"])</a:t>
            </a:r>
            <a:b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Format and send to LLM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formatted_prompt = prompt.format(concept=user_input)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41" name="Google Shape;74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950" y="11546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950" y="4318838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6952" y="2844550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47"/>
          <p:cNvSpPr txBox="1"/>
          <p:nvPr/>
        </p:nvSpPr>
        <p:spPr>
          <a:xfrm>
            <a:off x="1274650" y="2746425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 answer →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output draft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47"/>
          <p:cNvSpPr txBox="1"/>
          <p:nvPr/>
        </p:nvSpPr>
        <p:spPr>
          <a:xfrm>
            <a:off x="1386300" y="3059375"/>
            <a:ext cx="6677100" cy="10692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Process LLM response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draft = {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"explanation": result.content,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"timestamp": get_timestamp()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1274650" y="4220725"/>
            <a:ext cx="68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summarize_chain takes draft →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summary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7" name="Google Shape;747;p47"/>
          <p:cNvSpPr txBox="1"/>
          <p:nvPr/>
        </p:nvSpPr>
        <p:spPr>
          <a:xfrm>
            <a:off x="1379600" y="4669675"/>
            <a:ext cx="6677100" cy="16044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Summarize the draft explanation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final_output = summarize_chain.invoke({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"text": draft["explanation"],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"max_words": 50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Return the summarized content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{"summary": final_output["summary"]}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8" name="Google Shape;748;p47"/>
          <p:cNvSpPr txBox="1"/>
          <p:nvPr/>
        </p:nvSpPr>
        <p:spPr>
          <a:xfrm>
            <a:off x="8871125" y="2419125"/>
            <a:ext cx="2592600" cy="727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{"user_input": "quantum computing"}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9" name="Google Shape;749;p47"/>
          <p:cNvSpPr txBox="1"/>
          <p:nvPr/>
        </p:nvSpPr>
        <p:spPr>
          <a:xfrm>
            <a:off x="8871125" y="3940550"/>
            <a:ext cx="2592600" cy="857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{"summary": "Quantum computing uses quantum bits..."}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50" name="Google Shape;75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89013" y="3365172"/>
            <a:ext cx="356826" cy="356826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8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Error Handling &amp; Validation for Outputs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7" name="Google Shape;757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8"/>
          <p:cNvSpPr txBox="1"/>
          <p:nvPr/>
        </p:nvSpPr>
        <p:spPr>
          <a:xfrm>
            <a:off x="2703950" y="221735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Validate outputs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(parse JSON, check required keys) to ensure data quality.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48"/>
          <p:cNvSpPr txBox="1"/>
          <p:nvPr/>
        </p:nvSpPr>
        <p:spPr>
          <a:xfrm>
            <a:off x="2703950" y="3331200"/>
            <a:ext cx="8305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OutputParsers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enforce schemas and retry on parse errors. 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(LangChain tooling available.)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0" name="Google Shape;7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312" y="2294950"/>
            <a:ext cx="364300" cy="3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2875" y="3474175"/>
            <a:ext cx="391150" cy="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9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PromptTemplate —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What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2703950" y="221735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PromptTemplate: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templated string that accepts variables and formats the prompt for an LLM.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2703950" y="3331200"/>
            <a:ext cx="8305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popular templating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f-strings</a:t>
            </a:r>
            <a:endParaRPr b="1" sz="160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jinja2</a:t>
            </a:r>
            <a:endParaRPr b="1" sz="160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mustache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Great for reuse and consistency.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1" name="Google Shape;77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875" y="2360325"/>
            <a:ext cx="391150" cy="3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3200" y="3396625"/>
            <a:ext cx="470500" cy="4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0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PromptTemplate —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9" name="Google Shape;779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0"/>
          <p:cNvSpPr txBox="1"/>
          <p:nvPr/>
        </p:nvSpPr>
        <p:spPr>
          <a:xfrm>
            <a:off x="1274650" y="1056475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the Template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1" name="Google Shape;781;p50"/>
          <p:cNvSpPr txBox="1"/>
          <p:nvPr/>
        </p:nvSpPr>
        <p:spPr>
          <a:xfrm>
            <a:off x="1355175" y="1352775"/>
            <a:ext cx="6701400" cy="17493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template for summarization in different languages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template = "Summarize this text in {language}:\n\n{text}"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Initialize the PromptTemplate with variable names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PromptTemplate(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template=template,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input_variables=["language", "text"]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2" name="Google Shape;78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950" y="11546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950" y="535159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6952" y="3200214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50"/>
          <p:cNvSpPr txBox="1"/>
          <p:nvPr/>
        </p:nvSpPr>
        <p:spPr>
          <a:xfrm>
            <a:off x="1274650" y="3102089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the Template with Variables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p50"/>
          <p:cNvSpPr txBox="1"/>
          <p:nvPr/>
        </p:nvSpPr>
        <p:spPr>
          <a:xfrm>
            <a:off x="1386300" y="3415039"/>
            <a:ext cx="6677100" cy="18324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Prepare variables for substitution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variables = {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"language": "Hindi",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"text": "Artificial intelligence is transforming how businesses operate..."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Format the template with variables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formatted_prompt = prompt.format(**variables)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7" name="Google Shape;787;p50"/>
          <p:cNvSpPr txBox="1"/>
          <p:nvPr/>
        </p:nvSpPr>
        <p:spPr>
          <a:xfrm>
            <a:off x="1274650" y="5253477"/>
            <a:ext cx="68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summarize_chain takes draft →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summary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8" name="Google Shape;788;p50"/>
          <p:cNvSpPr txBox="1"/>
          <p:nvPr/>
        </p:nvSpPr>
        <p:spPr>
          <a:xfrm>
            <a:off x="1379600" y="5595061"/>
            <a:ext cx="6677100" cy="7791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Summarize this text in Hindi: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Artificial intelligence is transforming how businesses operate...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9" name="Google Shape;789;p50"/>
          <p:cNvSpPr txBox="1"/>
          <p:nvPr/>
        </p:nvSpPr>
        <p:spPr>
          <a:xfrm>
            <a:off x="8871125" y="2419125"/>
            <a:ext cx="2592600" cy="727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{"language":"Hindi","text":"..."}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0" name="Google Shape;790;p50"/>
          <p:cNvSpPr txBox="1"/>
          <p:nvPr/>
        </p:nvSpPr>
        <p:spPr>
          <a:xfrm>
            <a:off x="8871125" y="3940550"/>
            <a:ext cx="2592600" cy="857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Returns the filled prompt string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91" name="Google Shape;79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89013" y="3365172"/>
            <a:ext cx="356826" cy="35682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1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Use Templates (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Benefits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8" name="Google Shape;798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1"/>
          <p:cNvSpPr txBox="1"/>
          <p:nvPr/>
        </p:nvSpPr>
        <p:spPr>
          <a:xfrm>
            <a:off x="2703950" y="2217350"/>
            <a:ext cx="712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Reproducible prompts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testing and evaluation.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0" name="Google Shape;800;p51"/>
          <p:cNvSpPr txBox="1"/>
          <p:nvPr/>
        </p:nvSpPr>
        <p:spPr>
          <a:xfrm>
            <a:off x="2685700" y="3027075"/>
            <a:ext cx="83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Easier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A/B testing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localization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parameterization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1" name="Google Shape;801;p51"/>
          <p:cNvSpPr txBox="1"/>
          <p:nvPr/>
        </p:nvSpPr>
        <p:spPr>
          <a:xfrm>
            <a:off x="2685700" y="3711813"/>
            <a:ext cx="712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Separates prompt content from code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(better maintenance)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2" name="Google Shape;80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775" y="2273525"/>
            <a:ext cx="318775" cy="3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776" y="3027087"/>
            <a:ext cx="360925" cy="36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5850" y="3767987"/>
            <a:ext cx="318775" cy="3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ChatPromptTemplate —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Chat-aware Prompts</a:t>
            </a:r>
            <a:endParaRPr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2"/>
          <p:cNvSpPr txBox="1"/>
          <p:nvPr/>
        </p:nvSpPr>
        <p:spPr>
          <a:xfrm>
            <a:off x="2703950" y="221735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ChatPromptTemplate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builds multi-message chat prompts with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system/human/assistant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roles.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52"/>
          <p:cNvSpPr txBox="1"/>
          <p:nvPr/>
        </p:nvSpPr>
        <p:spPr>
          <a:xfrm>
            <a:off x="2704025" y="3213450"/>
            <a:ext cx="83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Useful for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ChatModels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 role-aware context and system instructions.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4" name="Google Shape;81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100" y="3269612"/>
            <a:ext cx="318775" cy="3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874" y="2373750"/>
            <a:ext cx="361676" cy="3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52"/>
          <p:cNvSpPr txBox="1"/>
          <p:nvPr>
            <p:ph idx="12" type="sldNum"/>
          </p:nvPr>
        </p:nvSpPr>
        <p:spPr>
          <a:xfrm>
            <a:off x="11409049" y="6333126"/>
            <a:ext cx="633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3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ChatPromptTemplate —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Structure Example</a:t>
            </a:r>
            <a:endParaRPr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3"/>
          <p:cNvSpPr txBox="1"/>
          <p:nvPr/>
        </p:nvSpPr>
        <p:spPr>
          <a:xfrm>
            <a:off x="1274650" y="1056475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message templates for different roles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53"/>
          <p:cNvSpPr txBox="1"/>
          <p:nvPr/>
        </p:nvSpPr>
        <p:spPr>
          <a:xfrm>
            <a:off x="1355175" y="1352775"/>
            <a:ext cx="6701400" cy="14589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langchain.prompts import ChatPromptTemplate, SystemMessagePromptTemplate, HumanMessagePromptTemplate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System message template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system_template = "You are an assistant that helps with {task}."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system_message = SystemMessagePromptTemplate.from_template(system_template)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25" name="Google Shape;82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950" y="11546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100" y="443228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6952" y="3039164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53"/>
          <p:cNvSpPr txBox="1"/>
          <p:nvPr/>
        </p:nvSpPr>
        <p:spPr>
          <a:xfrm>
            <a:off x="1274650" y="2941039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human message template with variables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53"/>
          <p:cNvSpPr txBox="1"/>
          <p:nvPr/>
        </p:nvSpPr>
        <p:spPr>
          <a:xfrm>
            <a:off x="1386300" y="3253995"/>
            <a:ext cx="6677100" cy="10338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Human message template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human_template = "{user_query}"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human_message = HumanMessagePromptTemplate.from_template(human_template)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0" name="Google Shape;830;p53"/>
          <p:cNvSpPr txBox="1"/>
          <p:nvPr/>
        </p:nvSpPr>
        <p:spPr>
          <a:xfrm>
            <a:off x="1231800" y="4334167"/>
            <a:ext cx="68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Compose ChatPromptTemplate with message history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53"/>
          <p:cNvSpPr txBox="1"/>
          <p:nvPr/>
        </p:nvSpPr>
        <p:spPr>
          <a:xfrm>
            <a:off x="1336750" y="4675749"/>
            <a:ext cx="6677100" cy="15918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langchain.prompts import MessagesPlaceholder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Compose full chat template with history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chat_prompt = ChatPromptTemplate.from_messages([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system_message,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MessagesPlaceholder(variable_name="chat_history"),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human_message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2" name="Google Shape;832;p53"/>
          <p:cNvSpPr txBox="1"/>
          <p:nvPr/>
        </p:nvSpPr>
        <p:spPr>
          <a:xfrm>
            <a:off x="8401400" y="2251375"/>
            <a:ext cx="3462600" cy="7275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System: </a:t>
            </a:r>
            <a:r>
              <a:rPr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"You are an assistant that helps with {task}."</a:t>
            </a:r>
            <a:endParaRPr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3" name="Google Shape;833;p53"/>
          <p:cNvSpPr txBox="1"/>
          <p:nvPr/>
        </p:nvSpPr>
        <p:spPr>
          <a:xfrm>
            <a:off x="8401400" y="3981425"/>
            <a:ext cx="3462600" cy="649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Assistant (Previous): </a:t>
            </a:r>
            <a:r>
              <a:rPr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[Responses from chat_history]</a:t>
            </a:r>
            <a:endParaRPr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4" name="Google Shape;834;p53"/>
          <p:cNvSpPr txBox="1"/>
          <p:nvPr/>
        </p:nvSpPr>
        <p:spPr>
          <a:xfrm>
            <a:off x="8401400" y="3142050"/>
            <a:ext cx="3462600" cy="6762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Human (Previous): </a:t>
            </a:r>
            <a:r>
              <a:rPr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[Messages from chat_history]</a:t>
            </a:r>
            <a:endParaRPr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5" name="Google Shape;835;p53"/>
          <p:cNvSpPr txBox="1"/>
          <p:nvPr/>
        </p:nvSpPr>
        <p:spPr>
          <a:xfrm>
            <a:off x="8401400" y="4763625"/>
            <a:ext cx="3462600" cy="6762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Human (Previous): </a:t>
            </a:r>
            <a:r>
              <a:rPr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"{user_query}"</a:t>
            </a:r>
            <a:endParaRPr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6" name="Google Shape;836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4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Dynamic Prompts &amp;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Few-shot Examples</a:t>
            </a:r>
            <a:endParaRPr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2" name="Google Shape;842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4"/>
          <p:cNvSpPr txBox="1"/>
          <p:nvPr/>
        </p:nvSpPr>
        <p:spPr>
          <a:xfrm>
            <a:off x="2703950" y="2217350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Insert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dynamic examples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 few-shot pairs into templates to guide behavior.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54"/>
          <p:cNvSpPr txBox="1"/>
          <p:nvPr/>
        </p:nvSpPr>
        <p:spPr>
          <a:xfrm>
            <a:off x="2704025" y="3213450"/>
            <a:ext cx="8305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example selectors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(length, similarity, or MMR) to pick the best examples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runtime.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5" name="Google Shape;8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675" y="2340450"/>
            <a:ext cx="345626" cy="34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4038" y="3348650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5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Multimodal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Prompts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Inputs</a:t>
            </a:r>
            <a:endParaRPr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5"/>
          <p:cNvSpPr txBox="1"/>
          <p:nvPr/>
        </p:nvSpPr>
        <p:spPr>
          <a:xfrm>
            <a:off x="2750925" y="1814725"/>
            <a:ext cx="71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 supports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multimodal inputs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(images, audio) via provider-specific formats or cross-provider standard.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5" name="Google Shape;855;p55"/>
          <p:cNvSpPr txBox="1"/>
          <p:nvPr/>
        </p:nvSpPr>
        <p:spPr>
          <a:xfrm>
            <a:off x="2751000" y="2810825"/>
            <a:ext cx="83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Templates can include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placeholders for non-text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data references.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6" name="Google Shape;8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197" y="1955950"/>
            <a:ext cx="394650" cy="3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200" y="2871675"/>
            <a:ext cx="394650" cy="3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4200" y="4223763"/>
            <a:ext cx="1622900" cy="16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8200" y="4334001"/>
            <a:ext cx="1402476" cy="14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2475" y="4334000"/>
            <a:ext cx="1337300" cy="13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6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Best Practices —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 Templates</a:t>
            </a:r>
            <a:endParaRPr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6"/>
          <p:cNvSpPr txBox="1"/>
          <p:nvPr/>
        </p:nvSpPr>
        <p:spPr>
          <a:xfrm>
            <a:off x="2704025" y="2318988"/>
            <a:ext cx="712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 templates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small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focused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; avoid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leaking private data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9" name="Google Shape;869;p56"/>
          <p:cNvSpPr txBox="1"/>
          <p:nvPr/>
        </p:nvSpPr>
        <p:spPr>
          <a:xfrm>
            <a:off x="2704025" y="3213450"/>
            <a:ext cx="83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Parameterize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where possible; use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OutputParsers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structured outputs.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0" name="Google Shape;870;p56"/>
          <p:cNvSpPr txBox="1"/>
          <p:nvPr/>
        </p:nvSpPr>
        <p:spPr>
          <a:xfrm>
            <a:off x="2704025" y="4164375"/>
            <a:ext cx="83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 versions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(for reproducibility).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1" name="Google Shape;8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035" y="2414678"/>
            <a:ext cx="374900" cy="3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538" y="3266062"/>
            <a:ext cx="325875" cy="3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5052" y="4202500"/>
            <a:ext cx="325875" cy="3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7"/>
          <p:cNvSpPr txBox="1"/>
          <p:nvPr/>
        </p:nvSpPr>
        <p:spPr>
          <a:xfrm>
            <a:off x="337850" y="433775"/>
            <a:ext cx="939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Putting it Together —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End-to-End Example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880" name="Google Shape;880;p57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7"/>
          <p:cNvSpPr/>
          <p:nvPr/>
        </p:nvSpPr>
        <p:spPr>
          <a:xfrm>
            <a:off x="2103225" y="1341700"/>
            <a:ext cx="1737600" cy="135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2" name="Google Shape;882;p57"/>
          <p:cNvCxnSpPr/>
          <p:nvPr/>
        </p:nvCxnSpPr>
        <p:spPr>
          <a:xfrm>
            <a:off x="4008324" y="1911250"/>
            <a:ext cx="4284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57"/>
          <p:cNvSpPr txBox="1"/>
          <p:nvPr/>
        </p:nvSpPr>
        <p:spPr>
          <a:xfrm>
            <a:off x="2170875" y="2126750"/>
            <a:ext cx="160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{"user_query": "..."}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84" name="Google Shape;884;p57"/>
          <p:cNvSpPr txBox="1"/>
          <p:nvPr/>
        </p:nvSpPr>
        <p:spPr>
          <a:xfrm>
            <a:off x="2103150" y="1741900"/>
            <a:ext cx="17376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Input query from user</a:t>
            </a:r>
            <a:endParaRPr sz="1000"/>
          </a:p>
        </p:txBody>
      </p:sp>
      <p:sp>
        <p:nvSpPr>
          <p:cNvPr id="885" name="Google Shape;885;p57"/>
          <p:cNvSpPr txBox="1"/>
          <p:nvPr/>
        </p:nvSpPr>
        <p:spPr>
          <a:xfrm>
            <a:off x="2140550" y="1341700"/>
            <a:ext cx="163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User </a:t>
            </a:r>
            <a:r>
              <a:rPr b="1" lang="en-US" sz="1300">
                <a:solidFill>
                  <a:schemeClr val="dk1"/>
                </a:solidFill>
              </a:rPr>
              <a:t>Question</a:t>
            </a:r>
            <a:endParaRPr b="1" sz="1300"/>
          </a:p>
        </p:txBody>
      </p:sp>
      <p:sp>
        <p:nvSpPr>
          <p:cNvPr id="886" name="Google Shape;886;p57"/>
          <p:cNvSpPr/>
          <p:nvPr/>
        </p:nvSpPr>
        <p:spPr>
          <a:xfrm>
            <a:off x="4617738" y="1341700"/>
            <a:ext cx="1737600" cy="135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7"/>
          <p:cNvSpPr txBox="1"/>
          <p:nvPr/>
        </p:nvSpPr>
        <p:spPr>
          <a:xfrm>
            <a:off x="4597532" y="2080600"/>
            <a:ext cx="201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{"user_query":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{"messages": [...]}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8" name="Google Shape;888;p57"/>
          <p:cNvSpPr txBox="1"/>
          <p:nvPr/>
        </p:nvSpPr>
        <p:spPr>
          <a:xfrm>
            <a:off x="4617663" y="1741900"/>
            <a:ext cx="17376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Builds chat messages</a:t>
            </a:r>
            <a:endParaRPr sz="1000"/>
          </a:p>
        </p:txBody>
      </p:sp>
      <p:sp>
        <p:nvSpPr>
          <p:cNvPr id="889" name="Google Shape;889;p57"/>
          <p:cNvSpPr txBox="1"/>
          <p:nvPr/>
        </p:nvSpPr>
        <p:spPr>
          <a:xfrm>
            <a:off x="4655063" y="1341700"/>
            <a:ext cx="17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ChatPromptTemplate</a:t>
            </a:r>
            <a:endParaRPr b="1" sz="1200"/>
          </a:p>
        </p:txBody>
      </p:sp>
      <p:sp>
        <p:nvSpPr>
          <p:cNvPr id="890" name="Google Shape;890;p57"/>
          <p:cNvSpPr/>
          <p:nvPr/>
        </p:nvSpPr>
        <p:spPr>
          <a:xfrm>
            <a:off x="7132205" y="1341700"/>
            <a:ext cx="1737600" cy="135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7"/>
          <p:cNvSpPr txBox="1"/>
          <p:nvPr/>
        </p:nvSpPr>
        <p:spPr>
          <a:xfrm>
            <a:off x="7111999" y="2080600"/>
            <a:ext cx="2019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{"messages": [...]}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{"response":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2" name="Google Shape;892;p57"/>
          <p:cNvSpPr txBox="1"/>
          <p:nvPr/>
        </p:nvSpPr>
        <p:spPr>
          <a:xfrm>
            <a:off x="7132130" y="1634534"/>
            <a:ext cx="1737600" cy="49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LLM processes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messages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893" name="Google Shape;893;p57"/>
          <p:cNvSpPr txBox="1"/>
          <p:nvPr/>
        </p:nvSpPr>
        <p:spPr>
          <a:xfrm>
            <a:off x="7179380" y="1341700"/>
            <a:ext cx="17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Chat Model</a:t>
            </a:r>
            <a:endParaRPr b="1" sz="1200"/>
          </a:p>
        </p:txBody>
      </p:sp>
      <p:cxnSp>
        <p:nvCxnSpPr>
          <p:cNvPr id="894" name="Google Shape;894;p57"/>
          <p:cNvCxnSpPr/>
          <p:nvPr/>
        </p:nvCxnSpPr>
        <p:spPr>
          <a:xfrm>
            <a:off x="6542962" y="1911250"/>
            <a:ext cx="4284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5" name="Google Shape;895;p57"/>
          <p:cNvSpPr/>
          <p:nvPr/>
        </p:nvSpPr>
        <p:spPr>
          <a:xfrm>
            <a:off x="2093175" y="3050350"/>
            <a:ext cx="1737600" cy="135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6" name="Google Shape;896;p57"/>
          <p:cNvCxnSpPr/>
          <p:nvPr/>
        </p:nvCxnSpPr>
        <p:spPr>
          <a:xfrm>
            <a:off x="3998274" y="3619900"/>
            <a:ext cx="4284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57"/>
          <p:cNvSpPr txBox="1"/>
          <p:nvPr/>
        </p:nvSpPr>
        <p:spPr>
          <a:xfrm>
            <a:off x="2103225" y="3835400"/>
            <a:ext cx="191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{"response": "..."}</a:t>
            </a:r>
            <a:endParaRPr b="1" sz="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{"parsed_json": {...}}</a:t>
            </a:r>
            <a:endParaRPr b="1" sz="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8" name="Google Shape;898;p57"/>
          <p:cNvSpPr txBox="1"/>
          <p:nvPr/>
        </p:nvSpPr>
        <p:spPr>
          <a:xfrm>
            <a:off x="2086446" y="3343168"/>
            <a:ext cx="1737600" cy="49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Transforms to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structured JSON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899" name="Google Shape;899;p57"/>
          <p:cNvSpPr txBox="1"/>
          <p:nvPr/>
        </p:nvSpPr>
        <p:spPr>
          <a:xfrm>
            <a:off x="2150775" y="3034925"/>
            <a:ext cx="163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OutputParser</a:t>
            </a:r>
            <a:endParaRPr b="1" sz="1300"/>
          </a:p>
        </p:txBody>
      </p:sp>
      <p:sp>
        <p:nvSpPr>
          <p:cNvPr id="900" name="Google Shape;900;p57"/>
          <p:cNvSpPr/>
          <p:nvPr/>
        </p:nvSpPr>
        <p:spPr>
          <a:xfrm>
            <a:off x="4607688" y="3050350"/>
            <a:ext cx="1737600" cy="135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7"/>
          <p:cNvSpPr txBox="1"/>
          <p:nvPr/>
        </p:nvSpPr>
        <p:spPr>
          <a:xfrm>
            <a:off x="4587482" y="3789250"/>
            <a:ext cx="2019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{"parsed_json": {...}}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{"processed":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2" name="Google Shape;902;p57"/>
          <p:cNvSpPr txBox="1"/>
          <p:nvPr/>
        </p:nvSpPr>
        <p:spPr>
          <a:xfrm>
            <a:off x="4607613" y="3349894"/>
            <a:ext cx="1737600" cy="49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COnsumes structured data</a:t>
            </a:r>
            <a:endParaRPr sz="1000"/>
          </a:p>
        </p:txBody>
      </p:sp>
      <p:sp>
        <p:nvSpPr>
          <p:cNvPr id="903" name="Google Shape;903;p57"/>
          <p:cNvSpPr txBox="1"/>
          <p:nvPr/>
        </p:nvSpPr>
        <p:spPr>
          <a:xfrm>
            <a:off x="4645013" y="3050350"/>
            <a:ext cx="17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Next Chain</a:t>
            </a:r>
            <a:endParaRPr b="1" sz="1200"/>
          </a:p>
        </p:txBody>
      </p:sp>
      <p:sp>
        <p:nvSpPr>
          <p:cNvPr id="904" name="Google Shape;904;p57"/>
          <p:cNvSpPr/>
          <p:nvPr/>
        </p:nvSpPr>
        <p:spPr>
          <a:xfrm>
            <a:off x="7122155" y="3050350"/>
            <a:ext cx="1737600" cy="135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7"/>
          <p:cNvSpPr txBox="1"/>
          <p:nvPr/>
        </p:nvSpPr>
        <p:spPr>
          <a:xfrm>
            <a:off x="7122225" y="3712300"/>
            <a:ext cx="2019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{"processed":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{"answer": "..."}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6" name="Google Shape;906;p57"/>
          <p:cNvSpPr txBox="1"/>
          <p:nvPr/>
        </p:nvSpPr>
        <p:spPr>
          <a:xfrm>
            <a:off x="7122080" y="3343184"/>
            <a:ext cx="17376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Result delivered to user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907" name="Google Shape;907;p57"/>
          <p:cNvSpPr txBox="1"/>
          <p:nvPr/>
        </p:nvSpPr>
        <p:spPr>
          <a:xfrm>
            <a:off x="7169330" y="3050350"/>
            <a:ext cx="17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Final Answer</a:t>
            </a:r>
            <a:endParaRPr b="1" sz="1200"/>
          </a:p>
        </p:txBody>
      </p:sp>
      <p:cxnSp>
        <p:nvCxnSpPr>
          <p:cNvPr id="908" name="Google Shape;908;p57"/>
          <p:cNvCxnSpPr/>
          <p:nvPr/>
        </p:nvCxnSpPr>
        <p:spPr>
          <a:xfrm>
            <a:off x="6532912" y="3619900"/>
            <a:ext cx="4284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57"/>
          <p:cNvSpPr txBox="1"/>
          <p:nvPr/>
        </p:nvSpPr>
        <p:spPr>
          <a:xfrm>
            <a:off x="1472975" y="4789800"/>
            <a:ext cx="850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★"/>
            </a:pPr>
            <a:r>
              <a:rPr lang="en-US" sz="1500">
                <a:latin typeface="Poppins"/>
                <a:ea typeface="Poppins"/>
                <a:cs typeface="Poppins"/>
                <a:sym typeface="Poppins"/>
              </a:rPr>
              <a:t>Complete chain: from user input to structured response with variable mapping</a:t>
            </a:r>
            <a:br>
              <a:rPr lang="en-US" sz="1500">
                <a:latin typeface="Poppins"/>
                <a:ea typeface="Poppins"/>
                <a:cs typeface="Poppins"/>
                <a:sym typeface="Poppins"/>
              </a:rPr>
            </a:b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★"/>
            </a:pPr>
            <a:r>
              <a:rPr lang="en-US" sz="1500">
                <a:latin typeface="Poppins"/>
                <a:ea typeface="Poppins"/>
                <a:cs typeface="Poppins"/>
                <a:sym typeface="Poppins"/>
              </a:rPr>
              <a:t>OutputParser ensures consistent structure for downstream components</a:t>
            </a:r>
            <a:br>
              <a:rPr lang="en-US" sz="1500">
                <a:latin typeface="Poppins"/>
                <a:ea typeface="Poppins"/>
                <a:cs typeface="Poppins"/>
                <a:sym typeface="Poppins"/>
              </a:rPr>
            </a:b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★"/>
            </a:pPr>
            <a:r>
              <a:rPr lang="en-US" sz="1500">
                <a:latin typeface="Poppins"/>
                <a:ea typeface="Poppins"/>
                <a:cs typeface="Poppins"/>
                <a:sym typeface="Poppins"/>
              </a:rPr>
              <a:t>Multiple specialized components work together through defined interfaces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0" name="Google Shape;910;p57"/>
          <p:cNvSpPr txBox="1"/>
          <p:nvPr>
            <p:ph idx="12" type="sldNum"/>
          </p:nvPr>
        </p:nvSpPr>
        <p:spPr>
          <a:xfrm>
            <a:off x="11589950" y="6440825"/>
            <a:ext cx="42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8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Common Pitfalls 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Debugging Tips</a:t>
            </a:r>
            <a:endParaRPr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8"/>
          <p:cNvSpPr txBox="1"/>
          <p:nvPr/>
        </p:nvSpPr>
        <p:spPr>
          <a:xfrm>
            <a:off x="3122900" y="1979900"/>
            <a:ext cx="5674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Common Pitfalls: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★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Mismatched variable names between chain steps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★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Unparsed outputs causing downstream failures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★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Token limits exceeded in prompt templates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8" name="Google Shape;9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078" y="2109273"/>
            <a:ext cx="357500" cy="3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1425" y="3676373"/>
            <a:ext cx="4445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8"/>
          <p:cNvSpPr txBox="1"/>
          <p:nvPr/>
        </p:nvSpPr>
        <p:spPr>
          <a:xfrm>
            <a:off x="3122900" y="3616000"/>
            <a:ext cx="5674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Debugging Tips: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★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Attach callbacks/logging to inspect chain execution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★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Run in small steps to isolate failures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★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Assert expected keys exist in outputs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1" name="Google Shape;921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9"/>
          <p:cNvSpPr txBox="1"/>
          <p:nvPr/>
        </p:nvSpPr>
        <p:spPr>
          <a:xfrm>
            <a:off x="328250" y="433775"/>
            <a:ext cx="484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Resources 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7" name="Google Shape;927;p59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9"/>
          <p:cNvSpPr txBox="1"/>
          <p:nvPr/>
        </p:nvSpPr>
        <p:spPr>
          <a:xfrm>
            <a:off x="2066375" y="3957300"/>
            <a:ext cx="8367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Try This</a:t>
            </a:r>
            <a:endParaRPr b="1" sz="16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Build a two-step chain (summarize → question answer) using PromptTemplate + ChatPromptTemplate.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Practice combining these components into a cohesive workflow with proper input/output handling.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9" name="Google Shape;929;p59"/>
          <p:cNvSpPr txBox="1"/>
          <p:nvPr/>
        </p:nvSpPr>
        <p:spPr>
          <a:xfrm>
            <a:off x="1266375" y="1708300"/>
            <a:ext cx="442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Official Documentation</a:t>
            </a:r>
            <a:endParaRPr b="1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LangChain How-to Guides &amp; API Reference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Prompt Engineering Best Practices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Code Examples</a:t>
            </a:r>
            <a:endParaRPr b="1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LangChain GitHub Repository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Community Examples &amp; Templates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9"/>
          <p:cNvSpPr txBox="1"/>
          <p:nvPr/>
        </p:nvSpPr>
        <p:spPr>
          <a:xfrm>
            <a:off x="6829200" y="1816000"/>
            <a:ext cx="4021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Learning Resources</a:t>
            </a:r>
            <a:endParaRPr b="1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Tutorials &amp; Walkthroughs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Community</a:t>
            </a:r>
            <a:endParaRPr b="1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Discord Community &amp; Support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Twitter: LangChainAI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1" name="Google Shape;931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0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0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6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