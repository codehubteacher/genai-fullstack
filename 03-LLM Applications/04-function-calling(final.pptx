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IBM Plex Mono Light"/>
      <p:regular r:id="rId25"/>
      <p:bold r:id="rId26"/>
      <p:italic r:id="rId27"/>
      <p:boldItalic r:id="rId28"/>
    </p:embeddedFont>
    <p:embeddedFont>
      <p:font typeface="Poppins Light"/>
      <p:regular r:id="rId29"/>
      <p:bold r:id="rId30"/>
      <p:italic r:id="rId31"/>
      <p:boldItalic r:id="rId32"/>
    </p:embeddedFont>
    <p:embeddedFont>
      <p:font typeface="Poppins Medium"/>
      <p:regular r:id="rId33"/>
      <p:bold r:id="rId34"/>
      <p:italic r:id="rId35"/>
      <p:boldItalic r:id="rId36"/>
    </p:embeddedFont>
    <p:embeddedFont>
      <p:font typeface="Open Sans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font" Target="fonts/Poppins-bold.fntdata"/><Relationship Id="rId44" Type="http://schemas.openxmlformats.org/officeDocument/2006/relationships/font" Target="fonts/OpenSans-boldItalic.fntdata"/><Relationship Id="rId21" Type="http://schemas.openxmlformats.org/officeDocument/2006/relationships/font" Target="fonts/Poppins-regular.fntdata"/><Relationship Id="rId43" Type="http://schemas.openxmlformats.org/officeDocument/2006/relationships/font" Target="fonts/OpenSans-italic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Light-bold.fntdata"/><Relationship Id="rId25" Type="http://schemas.openxmlformats.org/officeDocument/2006/relationships/font" Target="fonts/IBMPlexMonoLight-regular.fntdata"/><Relationship Id="rId28" Type="http://schemas.openxmlformats.org/officeDocument/2006/relationships/font" Target="fonts/IBMPlexMonoLight-boldItalic.fntdata"/><Relationship Id="rId27" Type="http://schemas.openxmlformats.org/officeDocument/2006/relationships/font" Target="fonts/IBMPlexMon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italic.fntdata"/><Relationship Id="rId30" Type="http://schemas.openxmlformats.org/officeDocument/2006/relationships/font" Target="fonts/PoppinsLight-bold.fntdata"/><Relationship Id="rId11" Type="http://schemas.openxmlformats.org/officeDocument/2006/relationships/slide" Target="slides/slide6.xml"/><Relationship Id="rId33" Type="http://schemas.openxmlformats.org/officeDocument/2006/relationships/font" Target="fonts/Poppi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Poppins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PoppinsMedium-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.fntdata"/><Relationship Id="rId15" Type="http://schemas.openxmlformats.org/officeDocument/2006/relationships/slide" Target="slides/slide10.xml"/><Relationship Id="rId37" Type="http://schemas.openxmlformats.org/officeDocument/2006/relationships/font" Target="fonts/OpenSansLight-regular.fntdata"/><Relationship Id="rId14" Type="http://schemas.openxmlformats.org/officeDocument/2006/relationships/slide" Target="slides/slide9.xml"/><Relationship Id="rId36" Type="http://schemas.openxmlformats.org/officeDocument/2006/relationships/font" Target="fonts/Poppi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Light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81778fac8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81778fac87_0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68b569e17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68b569e17a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68b569e17a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68b569e17a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68b569e17a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68b569e17a_1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80e9a035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80e9a0359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68b569e17a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68b569e17a_1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84610f170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84610f1706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68b569e17a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68b569e17a_1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2732600" y="2336100"/>
            <a:ext cx="6461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Calling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with</a:t>
            </a:r>
            <a:endParaRPr sz="3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Gemini &amp; LangChain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"/>
          <p:cNvSpPr txBox="1"/>
          <p:nvPr/>
        </p:nvSpPr>
        <p:spPr>
          <a:xfrm>
            <a:off x="2079600" y="3098400"/>
            <a:ext cx="803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US" sz="1200">
                <a:latin typeface="Poppins Medium"/>
                <a:ea typeface="Poppins Medium"/>
                <a:cs typeface="Poppins Medium"/>
                <a:sym typeface="Poppins Medium"/>
              </a:rPr>
              <a:t>Learn how to connect Gemini LLM to external APIs using LangChain. 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●"/>
            </a:pPr>
            <a:r>
              <a:rPr lang="en-US" sz="1200">
                <a:latin typeface="Poppins Medium"/>
                <a:ea typeface="Poppins Medium"/>
                <a:cs typeface="Poppins Medium"/>
                <a:sym typeface="Poppins Medium"/>
              </a:rPr>
              <a:t>Build a Course Finder App that fetches real-time course data using Google Search or SerpAPI.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8" name="Google Shape;638;p40"/>
          <p:cNvSpPr txBox="1"/>
          <p:nvPr/>
        </p:nvSpPr>
        <p:spPr>
          <a:xfrm>
            <a:off x="3774000" y="2105425"/>
            <a:ext cx="46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Course Finder App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1"/>
          <p:cNvSpPr/>
          <p:nvPr/>
        </p:nvSpPr>
        <p:spPr>
          <a:xfrm>
            <a:off x="8267250" y="1231875"/>
            <a:ext cx="2361000" cy="150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1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Function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Calling?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1"/>
          <p:cNvSpPr txBox="1"/>
          <p:nvPr/>
        </p:nvSpPr>
        <p:spPr>
          <a:xfrm>
            <a:off x="772000" y="2250875"/>
            <a:ext cx="611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: 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Course Finder fetching live courses from multiple platforms.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1"/>
          <p:cNvSpPr txBox="1"/>
          <p:nvPr/>
        </p:nvSpPr>
        <p:spPr>
          <a:xfrm>
            <a:off x="1497900" y="3551263"/>
            <a:ext cx="428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Connects AI models to external services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9" name="Google Shape;649;p41"/>
          <p:cNvSpPr txBox="1"/>
          <p:nvPr/>
        </p:nvSpPr>
        <p:spPr>
          <a:xfrm>
            <a:off x="467625" y="1366575"/>
            <a:ext cx="664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Function calling lets LLMs execute external API calls for dynamic data. Moves LLMs from static text generation to real-time tasks.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41"/>
          <p:cNvSpPr txBox="1"/>
          <p:nvPr/>
        </p:nvSpPr>
        <p:spPr>
          <a:xfrm>
            <a:off x="1519200" y="4258738"/>
            <a:ext cx="43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Enables real-time data access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41"/>
          <p:cNvSpPr txBox="1"/>
          <p:nvPr/>
        </p:nvSpPr>
        <p:spPr>
          <a:xfrm>
            <a:off x="1497900" y="4966213"/>
            <a:ext cx="512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Extends LLM capabilities beyond static responses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2" name="Google Shape;6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725" y="3601150"/>
            <a:ext cx="381225" cy="3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100" y="4313063"/>
            <a:ext cx="322476" cy="3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1725" y="5114162"/>
            <a:ext cx="381225" cy="3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675" y="1347475"/>
            <a:ext cx="253475" cy="2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1"/>
          <p:cNvSpPr txBox="1"/>
          <p:nvPr/>
        </p:nvSpPr>
        <p:spPr>
          <a:xfrm>
            <a:off x="8860075" y="1258638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Gemini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7" name="Google Shape;657;p41"/>
          <p:cNvSpPr txBox="1"/>
          <p:nvPr/>
        </p:nvSpPr>
        <p:spPr>
          <a:xfrm>
            <a:off x="8313525" y="1629275"/>
            <a:ext cx="234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Understanding request..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41"/>
          <p:cNvSpPr/>
          <p:nvPr/>
        </p:nvSpPr>
        <p:spPr>
          <a:xfrm>
            <a:off x="8394175" y="2057800"/>
            <a:ext cx="21114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“I need to call an API to get the data”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8269363" y="3291650"/>
            <a:ext cx="2361000" cy="150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1"/>
          <p:cNvSpPr txBox="1"/>
          <p:nvPr/>
        </p:nvSpPr>
        <p:spPr>
          <a:xfrm>
            <a:off x="8883213" y="3322288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API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8453700" y="3817675"/>
            <a:ext cx="1988100" cy="204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662" name="Google Shape;662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4500" y="3408937"/>
            <a:ext cx="257825" cy="2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1"/>
          <p:cNvSpPr/>
          <p:nvPr/>
        </p:nvSpPr>
        <p:spPr>
          <a:xfrm>
            <a:off x="8453700" y="4148925"/>
            <a:ext cx="1988100" cy="204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8455825" y="4480175"/>
            <a:ext cx="1988100" cy="204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2"/>
          <p:cNvSpPr txBox="1"/>
          <p:nvPr/>
        </p:nvSpPr>
        <p:spPr>
          <a:xfrm>
            <a:off x="356875" y="350625"/>
            <a:ext cx="61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Level - </a:t>
            </a:r>
            <a:r>
              <a:rPr lang="en-US" sz="27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Flow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42"/>
          <p:cNvSpPr/>
          <p:nvPr/>
        </p:nvSpPr>
        <p:spPr>
          <a:xfrm>
            <a:off x="7794125" y="150785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2"/>
          <p:cNvSpPr/>
          <p:nvPr/>
        </p:nvSpPr>
        <p:spPr>
          <a:xfrm>
            <a:off x="7794125" y="272830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2"/>
          <p:cNvSpPr/>
          <p:nvPr/>
        </p:nvSpPr>
        <p:spPr>
          <a:xfrm>
            <a:off x="7761550" y="5281600"/>
            <a:ext cx="29250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5" name="Google Shape;675;p42"/>
          <p:cNvSpPr/>
          <p:nvPr/>
        </p:nvSpPr>
        <p:spPr>
          <a:xfrm>
            <a:off x="7794125" y="406115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6" name="Google Shape;6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5463" y="1215600"/>
            <a:ext cx="685775" cy="6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225" y="2962263"/>
            <a:ext cx="281750" cy="2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42"/>
          <p:cNvSpPr/>
          <p:nvPr/>
        </p:nvSpPr>
        <p:spPr>
          <a:xfrm>
            <a:off x="9248400" y="2454600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2"/>
          <p:cNvSpPr/>
          <p:nvPr/>
        </p:nvSpPr>
        <p:spPr>
          <a:xfrm>
            <a:off x="9198875" y="3721875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2"/>
          <p:cNvSpPr/>
          <p:nvPr/>
        </p:nvSpPr>
        <p:spPr>
          <a:xfrm>
            <a:off x="9172288" y="4977839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2"/>
          <p:cNvSpPr/>
          <p:nvPr/>
        </p:nvSpPr>
        <p:spPr>
          <a:xfrm>
            <a:off x="8016825" y="2018875"/>
            <a:ext cx="2504100" cy="204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“Python course under $200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8645975" y="2836250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Gemini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42"/>
          <p:cNvSpPr txBox="1"/>
          <p:nvPr/>
        </p:nvSpPr>
        <p:spPr>
          <a:xfrm>
            <a:off x="7643900" y="316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Interprets &amp; identifies filters</a:t>
            </a:r>
            <a:endParaRPr/>
          </a:p>
        </p:txBody>
      </p:sp>
      <p:pic>
        <p:nvPicPr>
          <p:cNvPr id="684" name="Google Shape;68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8863" y="4197025"/>
            <a:ext cx="372476" cy="3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2"/>
          <p:cNvSpPr txBox="1"/>
          <p:nvPr/>
        </p:nvSpPr>
        <p:spPr>
          <a:xfrm>
            <a:off x="8742350" y="4132338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SerpAPI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6" name="Google Shape;686;p42"/>
          <p:cNvSpPr txBox="1"/>
          <p:nvPr/>
        </p:nvSpPr>
        <p:spPr>
          <a:xfrm>
            <a:off x="7740275" y="456344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Interprets &amp; identifies filters</a:t>
            </a:r>
            <a:endParaRPr/>
          </a:p>
        </p:txBody>
      </p:sp>
      <p:sp>
        <p:nvSpPr>
          <p:cNvPr id="687" name="Google Shape;687;p42"/>
          <p:cNvSpPr txBox="1"/>
          <p:nvPr/>
        </p:nvSpPr>
        <p:spPr>
          <a:xfrm>
            <a:off x="8726125" y="5352788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Results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8" name="Google Shape;688;p42"/>
          <p:cNvSpPr txBox="1"/>
          <p:nvPr/>
        </p:nvSpPr>
        <p:spPr>
          <a:xfrm>
            <a:off x="7740275" y="5752175"/>
            <a:ext cx="29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Formatted course suggestions</a:t>
            </a:r>
            <a:endParaRPr/>
          </a:p>
        </p:txBody>
      </p:sp>
      <p:pic>
        <p:nvPicPr>
          <p:cNvPr id="689" name="Google Shape;68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8875" y="5382113"/>
            <a:ext cx="372475" cy="3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2"/>
          <p:cNvSpPr txBox="1"/>
          <p:nvPr/>
        </p:nvSpPr>
        <p:spPr>
          <a:xfrm>
            <a:off x="500800" y="1803925"/>
            <a:ext cx="6923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AutoNum type="arabicPeriod"/>
            </a:pP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User asks for a course (e.g., 'Python course under $200').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AutoNum type="arabicPeriod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Gemini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interprets the query and identifies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intent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+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filters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AutoNum type="arabicPeriod"/>
            </a:pP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If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real-time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data is needed → calls Google Search /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SerpAPI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AutoNum type="arabicPeriod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returns structured course data (JSON).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AutoNum type="arabicPeriod"/>
            </a:pP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Gemini formats results and presents to the user.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3"/>
          <p:cNvSpPr txBox="1"/>
          <p:nvPr/>
        </p:nvSpPr>
        <p:spPr>
          <a:xfrm>
            <a:off x="356875" y="350625"/>
            <a:ext cx="61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8" name="Google Shape;698;p43"/>
          <p:cNvSpPr/>
          <p:nvPr/>
        </p:nvSpPr>
        <p:spPr>
          <a:xfrm>
            <a:off x="7829900" y="115525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3"/>
          <p:cNvSpPr/>
          <p:nvPr/>
        </p:nvSpPr>
        <p:spPr>
          <a:xfrm>
            <a:off x="7829900" y="237570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3"/>
          <p:cNvSpPr/>
          <p:nvPr/>
        </p:nvSpPr>
        <p:spPr>
          <a:xfrm>
            <a:off x="7829900" y="3708550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1" name="Google Shape;7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1871" y="1083700"/>
            <a:ext cx="449750" cy="4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5875" y="2511038"/>
            <a:ext cx="281750" cy="2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3"/>
          <p:cNvSpPr/>
          <p:nvPr/>
        </p:nvSpPr>
        <p:spPr>
          <a:xfrm>
            <a:off x="9284175" y="2102000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3"/>
          <p:cNvSpPr/>
          <p:nvPr/>
        </p:nvSpPr>
        <p:spPr>
          <a:xfrm>
            <a:off x="9234650" y="3369275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3"/>
          <p:cNvSpPr txBox="1"/>
          <p:nvPr/>
        </p:nvSpPr>
        <p:spPr>
          <a:xfrm>
            <a:off x="8535050" y="2431900"/>
            <a:ext cx="21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Gemini LLM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43"/>
          <p:cNvSpPr txBox="1"/>
          <p:nvPr/>
        </p:nvSpPr>
        <p:spPr>
          <a:xfrm>
            <a:off x="7679825" y="27736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Natural language understanding via LangChain</a:t>
            </a:r>
            <a:endParaRPr sz="1200"/>
          </a:p>
        </p:txBody>
      </p:sp>
      <p:pic>
        <p:nvPicPr>
          <p:cNvPr id="707" name="Google Shape;7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2163" y="3770400"/>
            <a:ext cx="372476" cy="3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3"/>
          <p:cNvSpPr txBox="1"/>
          <p:nvPr/>
        </p:nvSpPr>
        <p:spPr>
          <a:xfrm>
            <a:off x="8471625" y="3721875"/>
            <a:ext cx="242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Function Layer / SerpAPI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43"/>
          <p:cNvSpPr txBox="1"/>
          <p:nvPr/>
        </p:nvSpPr>
        <p:spPr>
          <a:xfrm>
            <a:off x="8848925" y="5440413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Results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43"/>
          <p:cNvSpPr txBox="1"/>
          <p:nvPr/>
        </p:nvSpPr>
        <p:spPr>
          <a:xfrm>
            <a:off x="7863075" y="5839800"/>
            <a:ext cx="29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Formatted and returned to user</a:t>
            </a:r>
            <a:endParaRPr/>
          </a:p>
        </p:txBody>
      </p:sp>
      <p:pic>
        <p:nvPicPr>
          <p:cNvPr id="711" name="Google Shape;711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1675" y="5469738"/>
            <a:ext cx="372475" cy="3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3"/>
          <p:cNvSpPr txBox="1"/>
          <p:nvPr/>
        </p:nvSpPr>
        <p:spPr>
          <a:xfrm>
            <a:off x="500800" y="1803925"/>
            <a:ext cx="6923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Frontend: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Streamlit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or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Chainlit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UI for user input.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 Layer:</a:t>
            </a:r>
            <a:r>
              <a:rPr lang="en-US" sz="16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Gemini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via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LangChain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for natural language understanding.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Function Layer: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API functions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to search courses online.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Backend Flow: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User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Gemini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Function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SerpAPI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Gemini 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User</a:t>
            </a:r>
            <a: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13" name="Google Shape;713;p43"/>
          <p:cNvSpPr txBox="1"/>
          <p:nvPr/>
        </p:nvSpPr>
        <p:spPr>
          <a:xfrm>
            <a:off x="8553425" y="1155250"/>
            <a:ext cx="21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User Interface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43"/>
          <p:cNvSpPr txBox="1"/>
          <p:nvPr/>
        </p:nvSpPr>
        <p:spPr>
          <a:xfrm>
            <a:off x="7867525" y="1547900"/>
            <a:ext cx="27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User query input via Streamlit/Chainlit</a:t>
            </a:r>
            <a:endParaRPr sz="1200"/>
          </a:p>
        </p:txBody>
      </p:sp>
      <p:sp>
        <p:nvSpPr>
          <p:cNvPr id="715" name="Google Shape;715;p43"/>
          <p:cNvSpPr txBox="1"/>
          <p:nvPr/>
        </p:nvSpPr>
        <p:spPr>
          <a:xfrm>
            <a:off x="7752050" y="4199413"/>
            <a:ext cx="30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External API functions for course search</a:t>
            </a:r>
            <a:endParaRPr sz="1200"/>
          </a:p>
        </p:txBody>
      </p:sp>
      <p:sp>
        <p:nvSpPr>
          <p:cNvPr id="716" name="Google Shape;716;p43"/>
          <p:cNvSpPr/>
          <p:nvPr/>
        </p:nvSpPr>
        <p:spPr>
          <a:xfrm rot="10600933">
            <a:off x="9223000" y="4965478"/>
            <a:ext cx="82939" cy="21971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4"/>
          <p:cNvSpPr txBox="1"/>
          <p:nvPr/>
        </p:nvSpPr>
        <p:spPr>
          <a:xfrm>
            <a:off x="356875" y="350625"/>
            <a:ext cx="61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Information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Flow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2" name="Google Shape;722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4" name="Google Shape;724;p44"/>
          <p:cNvSpPr txBox="1"/>
          <p:nvPr/>
        </p:nvSpPr>
        <p:spPr>
          <a:xfrm>
            <a:off x="500800" y="1803925"/>
            <a:ext cx="6652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User Input: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Free-text query.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 Processing: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Gemini extracts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intent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and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filters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Function Schema: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Determines whether to fetch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static data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 call SerpAPI/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Google Search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API Response: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JSON with course titles, links, prices, durations.</a:t>
            </a:r>
            <a:b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 Consumption: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Converts JSON into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readable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summary for user.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25" name="Google Shape;725;p44"/>
          <p:cNvSpPr/>
          <p:nvPr/>
        </p:nvSpPr>
        <p:spPr>
          <a:xfrm>
            <a:off x="7641675" y="306775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4"/>
          <p:cNvSpPr/>
          <p:nvPr/>
        </p:nvSpPr>
        <p:spPr>
          <a:xfrm>
            <a:off x="7641675" y="1527225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4"/>
          <p:cNvSpPr/>
          <p:nvPr/>
        </p:nvSpPr>
        <p:spPr>
          <a:xfrm>
            <a:off x="7609100" y="4080525"/>
            <a:ext cx="29250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28" name="Google Shape;728;p44"/>
          <p:cNvSpPr/>
          <p:nvPr/>
        </p:nvSpPr>
        <p:spPr>
          <a:xfrm>
            <a:off x="7641675" y="2860075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9" name="Google Shape;72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788" y="1620638"/>
            <a:ext cx="281750" cy="2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4"/>
          <p:cNvSpPr/>
          <p:nvPr/>
        </p:nvSpPr>
        <p:spPr>
          <a:xfrm>
            <a:off x="9095950" y="1253525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4"/>
          <p:cNvSpPr/>
          <p:nvPr/>
        </p:nvSpPr>
        <p:spPr>
          <a:xfrm>
            <a:off x="9046425" y="2520800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4"/>
          <p:cNvSpPr/>
          <p:nvPr/>
        </p:nvSpPr>
        <p:spPr>
          <a:xfrm>
            <a:off x="9019838" y="3776764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4"/>
          <p:cNvSpPr txBox="1"/>
          <p:nvPr/>
        </p:nvSpPr>
        <p:spPr>
          <a:xfrm>
            <a:off x="8493525" y="1545975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Gemini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44"/>
          <p:cNvSpPr txBox="1"/>
          <p:nvPr/>
        </p:nvSpPr>
        <p:spPr>
          <a:xfrm>
            <a:off x="7512825" y="19024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Extracts intent: topic="Python", price="&lt;$200"</a:t>
            </a:r>
            <a:endParaRPr sz="1200"/>
          </a:p>
        </p:txBody>
      </p:sp>
      <p:pic>
        <p:nvPicPr>
          <p:cNvPr id="735" name="Google Shape;7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6413" y="2995950"/>
            <a:ext cx="372476" cy="3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4"/>
          <p:cNvSpPr txBox="1"/>
          <p:nvPr/>
        </p:nvSpPr>
        <p:spPr>
          <a:xfrm>
            <a:off x="8589900" y="2931263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SerpAPI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7" name="Google Shape;737;p44"/>
          <p:cNvSpPr txBox="1"/>
          <p:nvPr/>
        </p:nvSpPr>
        <p:spPr>
          <a:xfrm>
            <a:off x="7587825" y="3362372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Fetches real-time course data</a:t>
            </a:r>
            <a:endParaRPr sz="1200"/>
          </a:p>
        </p:txBody>
      </p:sp>
      <p:sp>
        <p:nvSpPr>
          <p:cNvPr id="738" name="Google Shape;738;p44"/>
          <p:cNvSpPr txBox="1"/>
          <p:nvPr/>
        </p:nvSpPr>
        <p:spPr>
          <a:xfrm>
            <a:off x="8573675" y="4151713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JSON Data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9" name="Google Shape;739;p44"/>
          <p:cNvSpPr txBox="1"/>
          <p:nvPr/>
        </p:nvSpPr>
        <p:spPr>
          <a:xfrm>
            <a:off x="7587825" y="4551100"/>
            <a:ext cx="29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Structured course information</a:t>
            </a:r>
            <a:endParaRPr sz="1200"/>
          </a:p>
        </p:txBody>
      </p:sp>
      <p:sp>
        <p:nvSpPr>
          <p:cNvPr id="740" name="Google Shape;740;p44"/>
          <p:cNvSpPr txBox="1"/>
          <p:nvPr/>
        </p:nvSpPr>
        <p:spPr>
          <a:xfrm>
            <a:off x="8669925" y="393150"/>
            <a:ext cx="14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Text Input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44"/>
          <p:cNvSpPr txBox="1"/>
          <p:nvPr/>
        </p:nvSpPr>
        <p:spPr>
          <a:xfrm>
            <a:off x="7637350" y="7435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"Find Python courses under $200"</a:t>
            </a:r>
            <a:endParaRPr sz="1300"/>
          </a:p>
        </p:txBody>
      </p:sp>
      <p:sp>
        <p:nvSpPr>
          <p:cNvPr id="742" name="Google Shape;742;p44"/>
          <p:cNvSpPr/>
          <p:nvPr/>
        </p:nvSpPr>
        <p:spPr>
          <a:xfrm>
            <a:off x="7635963" y="5436325"/>
            <a:ext cx="29250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3" name="Google Shape;743;p44"/>
          <p:cNvSpPr/>
          <p:nvPr/>
        </p:nvSpPr>
        <p:spPr>
          <a:xfrm>
            <a:off x="9046701" y="5132564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4"/>
          <p:cNvSpPr txBox="1"/>
          <p:nvPr/>
        </p:nvSpPr>
        <p:spPr>
          <a:xfrm>
            <a:off x="8600555" y="5507525"/>
            <a:ext cx="203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oppins"/>
                <a:ea typeface="Poppins"/>
                <a:cs typeface="Poppins"/>
                <a:sym typeface="Poppins"/>
              </a:rPr>
              <a:t>User Summary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7614688" y="5906900"/>
            <a:ext cx="29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Formatted results for user</a:t>
            </a:r>
            <a:endParaRPr sz="1200"/>
          </a:p>
        </p:txBody>
      </p:sp>
      <p:pic>
        <p:nvPicPr>
          <p:cNvPr id="746" name="Google Shape;74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3288" y="5536838"/>
            <a:ext cx="372475" cy="3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66437" y="4192925"/>
            <a:ext cx="372475" cy="3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37125" y="350625"/>
            <a:ext cx="431100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5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Prompt Filters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5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6" name="Google Shape;75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450" y="1653201"/>
            <a:ext cx="5540175" cy="3673231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5"/>
          <p:cNvSpPr txBox="1"/>
          <p:nvPr/>
        </p:nvSpPr>
        <p:spPr>
          <a:xfrm>
            <a:off x="966550" y="2275600"/>
            <a:ext cx="5103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Topic Filter →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AI, Data Science, Finance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Price Filter →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Free, Under $50, Under $100, Premium</a:t>
            </a:r>
            <a:b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Duration Filter →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&lt;10 hrs, 10–30 hrs, &gt;30 hrs</a:t>
            </a: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br>
              <a:rPr lang="en-US" sz="1600"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Platform Filter → </a:t>
            </a: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CodeHub AI, Udemy, etc.,</a:t>
            </a:r>
            <a:endParaRPr sz="1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58" name="Google Shape;758;p45"/>
          <p:cNvSpPr txBox="1"/>
          <p:nvPr/>
        </p:nvSpPr>
        <p:spPr>
          <a:xfrm>
            <a:off x="467625" y="1193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filters to refine results: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6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Function Schema</a:t>
            </a:r>
            <a:endParaRPr sz="2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6" name="Google Shape;766;p46"/>
          <p:cNvSpPr/>
          <p:nvPr/>
        </p:nvSpPr>
        <p:spPr>
          <a:xfrm>
            <a:off x="4363000" y="168900"/>
            <a:ext cx="6561600" cy="64389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FunctionDeclaration(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name='search_courses_online',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description='Search courses online using Google Search / SerpAPI',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parameters={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'topic': 'str',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'price_range': 'str',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'duration': 'str',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'platform': 'str',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'max_results': 'int'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output={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'courses': [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{'title': 'str', 'link': 'str', 'price': 'str', 'duration': 'str'}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When function is called, LLM provides arguments based on user intent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Example: search_courses_online(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		topic='python',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		price_range='under $100',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		platform='Udemy',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		duration='&lt;10 hrs',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		max_results=3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4747"/>
                </a:solidFill>
                <a:latin typeface="Courier New"/>
                <a:ea typeface="Courier New"/>
                <a:cs typeface="Courier New"/>
                <a:sym typeface="Courier New"/>
              </a:rPr>
              <a:t># )</a:t>
            </a:r>
            <a:endParaRPr b="1" sz="1300">
              <a:solidFill>
                <a:srgbClr val="4747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67" name="Google Shape;76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250" y="1562750"/>
            <a:ext cx="731700" cy="7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150" y="3393226"/>
            <a:ext cx="765900" cy="7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4150" y="5069375"/>
            <a:ext cx="731700" cy="7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6"/>
          <p:cNvSpPr/>
          <p:nvPr/>
        </p:nvSpPr>
        <p:spPr>
          <a:xfrm>
            <a:off x="2968600" y="2612950"/>
            <a:ext cx="111600" cy="37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6"/>
          <p:cNvSpPr/>
          <p:nvPr/>
        </p:nvSpPr>
        <p:spPr>
          <a:xfrm>
            <a:off x="2968600" y="4380200"/>
            <a:ext cx="111600" cy="37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6"/>
          <p:cNvSpPr txBox="1"/>
          <p:nvPr/>
        </p:nvSpPr>
        <p:spPr>
          <a:xfrm>
            <a:off x="1099500" y="5235125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JSON</a:t>
            </a:r>
            <a:endParaRPr b="1"/>
          </a:p>
        </p:txBody>
      </p:sp>
      <p:sp>
        <p:nvSpPr>
          <p:cNvPr id="773" name="Google Shape;773;p46"/>
          <p:cNvSpPr txBox="1"/>
          <p:nvPr/>
        </p:nvSpPr>
        <p:spPr>
          <a:xfrm>
            <a:off x="1099500" y="1728500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Gemini</a:t>
            </a:r>
            <a:endParaRPr b="1"/>
          </a:p>
        </p:txBody>
      </p:sp>
      <p:sp>
        <p:nvSpPr>
          <p:cNvPr id="774" name="Google Shape;774;p46"/>
          <p:cNvSpPr txBox="1"/>
          <p:nvPr/>
        </p:nvSpPr>
        <p:spPr>
          <a:xfrm>
            <a:off x="1099500" y="3604400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SerAPI</a:t>
            </a:r>
            <a:endParaRPr b="1"/>
          </a:p>
        </p:txBody>
      </p:sp>
      <p:sp>
        <p:nvSpPr>
          <p:cNvPr id="775" name="Google Shape;775;p46"/>
          <p:cNvSpPr txBox="1"/>
          <p:nvPr/>
        </p:nvSpPr>
        <p:spPr>
          <a:xfrm>
            <a:off x="152475" y="1116513"/>
            <a:ext cx="410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schema for real-time course search: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7"/>
          <p:cNvSpPr txBox="1"/>
          <p:nvPr/>
        </p:nvSpPr>
        <p:spPr>
          <a:xfrm>
            <a:off x="356875" y="350625"/>
            <a:ext cx="3888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LangChain +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Gemini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SerpAPI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Setup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3" name="Google Shape;783;p47"/>
          <p:cNvSpPr/>
          <p:nvPr/>
        </p:nvSpPr>
        <p:spPr>
          <a:xfrm>
            <a:off x="4363000" y="168900"/>
            <a:ext cx="6561600" cy="66039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langchain.schema import FunctionDeclaration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requests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Gemini LLM via LangChain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ChatGoogleGenerativeAI(model='gemini-pro')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Define function to search courses using SerpAPI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search_courses_online(topic, price_range, duration, platform, max_results=5):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params = {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'engine': 'google',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'q': f'{topic} courses {platform} {price_range} {duration}',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'api_key': 'YOUR_SERPAPI_KEY'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requests.get('https://serpapi.com/search', params=params).json()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courses = [{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'title': r['title'],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'link': r['link'],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'price': r.get('price','N/A'),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'duration': r.get('duration','N/A')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 for r in response['organic_results'][:max_results]]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{'courses': courses}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Create LangChain function declaration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course_search_function = FunctionDeclaration(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name='search_courses_online',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description='Search courses online with filters using SerpAPI',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parameters={'topic': 'str', 'price_range': 'str', ...}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3027500" y="2980875"/>
            <a:ext cx="111600" cy="37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7"/>
          <p:cNvSpPr/>
          <p:nvPr/>
        </p:nvSpPr>
        <p:spPr>
          <a:xfrm>
            <a:off x="3024800" y="4651025"/>
            <a:ext cx="111600" cy="37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263" y="1892350"/>
            <a:ext cx="701875" cy="7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350" y="5243801"/>
            <a:ext cx="765900" cy="7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3709" y="3739300"/>
            <a:ext cx="525000" cy="5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212200" y="2043200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LangChain</a:t>
            </a:r>
            <a:endParaRPr b="1"/>
          </a:p>
        </p:txBody>
      </p:sp>
      <p:sp>
        <p:nvSpPr>
          <p:cNvPr id="790" name="Google Shape;790;p47"/>
          <p:cNvSpPr txBox="1"/>
          <p:nvPr/>
        </p:nvSpPr>
        <p:spPr>
          <a:xfrm>
            <a:off x="1321925" y="3836225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Gemini</a:t>
            </a:r>
            <a:endParaRPr b="1"/>
          </a:p>
        </p:txBody>
      </p:sp>
      <p:sp>
        <p:nvSpPr>
          <p:cNvPr id="791" name="Google Shape;791;p47"/>
          <p:cNvSpPr txBox="1"/>
          <p:nvPr/>
        </p:nvSpPr>
        <p:spPr>
          <a:xfrm>
            <a:off x="1388925" y="5354800"/>
            <a:ext cx="11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SerAPI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8"/>
          <p:cNvSpPr txBox="1"/>
          <p:nvPr/>
        </p:nvSpPr>
        <p:spPr>
          <a:xfrm>
            <a:off x="356875" y="350625"/>
            <a:ext cx="295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Example Run</a:t>
            </a:r>
            <a:endParaRPr sz="19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8"/>
          <p:cNvSpPr/>
          <p:nvPr/>
        </p:nvSpPr>
        <p:spPr>
          <a:xfrm>
            <a:off x="5124000" y="812575"/>
            <a:ext cx="55401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"Find a beginner AI course under $350 on CodeHub AI."</a:t>
            </a:r>
            <a:endParaRPr/>
          </a:p>
        </p:txBody>
      </p:sp>
      <p:sp>
        <p:nvSpPr>
          <p:cNvPr id="799" name="Google Shape;799;p48"/>
          <p:cNvSpPr txBox="1"/>
          <p:nvPr>
            <p:ph idx="12" type="sldNum"/>
          </p:nvPr>
        </p:nvSpPr>
        <p:spPr>
          <a:xfrm>
            <a:off x="10969595" y="56065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0" name="Google Shape;800;p48"/>
          <p:cNvSpPr txBox="1"/>
          <p:nvPr/>
        </p:nvSpPr>
        <p:spPr>
          <a:xfrm>
            <a:off x="5047750" y="412375"/>
            <a:ext cx="29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User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1" name="Google Shape;801;p48"/>
          <p:cNvSpPr/>
          <p:nvPr/>
        </p:nvSpPr>
        <p:spPr>
          <a:xfrm>
            <a:off x="5124000" y="2876475"/>
            <a:ext cx="5560500" cy="2045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"courses": [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{"title": "AI For Everyone", "price": "$150", "platform":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"codehubai"},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{"title": "Intro to Machine Learning", "price": "$200", "platform":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"codehubai"},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{"title": "Neural Networks Basics", "price": "$300", "platform":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"codehubai"}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2" name="Google Shape;802;p48"/>
          <p:cNvSpPr txBox="1"/>
          <p:nvPr/>
        </p:nvSpPr>
        <p:spPr>
          <a:xfrm>
            <a:off x="5047750" y="2486750"/>
            <a:ext cx="8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SerAPI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48"/>
          <p:cNvSpPr/>
          <p:nvPr/>
        </p:nvSpPr>
        <p:spPr>
          <a:xfrm>
            <a:off x="5124000" y="5454650"/>
            <a:ext cx="5560500" cy="102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"Here are 3 beginner AI courses under $350 on CodeHubAI: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Char char="●"/>
            </a:pPr>
            <a:r>
              <a:rPr lang="en-US" sz="1200">
                <a:solidFill>
                  <a:srgbClr val="0000FF"/>
                </a:solidFill>
              </a:rPr>
              <a:t>AI For Everyone ($150)</a:t>
            </a:r>
            <a:endParaRPr sz="1200">
              <a:solidFill>
                <a:srgbClr val="00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Char char="●"/>
            </a:pPr>
            <a:r>
              <a:rPr lang="en-US" sz="1200">
                <a:solidFill>
                  <a:srgbClr val="0000FF"/>
                </a:solidFill>
              </a:rPr>
              <a:t>Intro to Machine Learning ($200)</a:t>
            </a:r>
            <a:endParaRPr sz="1200">
              <a:solidFill>
                <a:srgbClr val="00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Char char="●"/>
            </a:pPr>
            <a:r>
              <a:rPr lang="en-US" sz="1200">
                <a:solidFill>
                  <a:srgbClr val="0000FF"/>
                </a:solidFill>
              </a:rPr>
              <a:t>Neural Networks Basics ($300)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804" name="Google Shape;804;p48"/>
          <p:cNvSpPr txBox="1"/>
          <p:nvPr/>
        </p:nvSpPr>
        <p:spPr>
          <a:xfrm>
            <a:off x="5047750" y="5054450"/>
            <a:ext cx="10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Gemini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5" name="Google Shape;805;p48"/>
          <p:cNvSpPr/>
          <p:nvPr/>
        </p:nvSpPr>
        <p:spPr>
          <a:xfrm>
            <a:off x="5124000" y="1872100"/>
            <a:ext cx="5540100" cy="52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search_courses_online(topic='AI', price_range='&lt;350',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platform='Codehubai')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6" name="Google Shape;806;p48"/>
          <p:cNvSpPr txBox="1"/>
          <p:nvPr/>
        </p:nvSpPr>
        <p:spPr>
          <a:xfrm>
            <a:off x="5047750" y="1471900"/>
            <a:ext cx="10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Gemini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48"/>
          <p:cNvSpPr txBox="1"/>
          <p:nvPr/>
        </p:nvSpPr>
        <p:spPr>
          <a:xfrm>
            <a:off x="5846150" y="1502275"/>
            <a:ext cx="47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 need to search for AI courses with specific parameters.</a:t>
            </a:r>
            <a:endParaRPr sz="1100"/>
          </a:p>
        </p:txBody>
      </p:sp>
      <p:sp>
        <p:nvSpPr>
          <p:cNvPr id="808" name="Google Shape;808;p48"/>
          <p:cNvSpPr txBox="1"/>
          <p:nvPr/>
        </p:nvSpPr>
        <p:spPr>
          <a:xfrm>
            <a:off x="356875" y="1037400"/>
            <a:ext cx="39345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Let's walk through a complete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User Query:</a:t>
            </a:r>
            <a:r>
              <a:rPr lang="en-US"/>
              <a:t> "Find a beginner AI course under $350 on CodeHub AI."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Intent Detection</a:t>
            </a:r>
            <a:r>
              <a:rPr lang="en-US"/>
              <a:t>: Gemini identifies this as a course search with specific filters.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Function Call:</a:t>
            </a:r>
            <a:r>
              <a:rPr lang="en-US"/>
              <a:t> Gemini calls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search_courses_online() </a:t>
            </a:r>
            <a:r>
              <a:rPr lang="en-US"/>
              <a:t>with extracted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API Response:</a:t>
            </a:r>
            <a:r>
              <a:rPr lang="en-US"/>
              <a:t> SerpAPI returns structured JSON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Formatting: </a:t>
            </a:r>
            <a:r>
              <a:rPr lang="en-US"/>
              <a:t>Gemini processes JSON and presents user- friendly results.</a:t>
            </a:r>
            <a:endParaRPr/>
          </a:p>
        </p:txBody>
      </p:sp>
      <p:pic>
        <p:nvPicPr>
          <p:cNvPr id="809" name="Google Shape;8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725" y="5139713"/>
            <a:ext cx="281750" cy="2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725" y="1502263"/>
            <a:ext cx="281750" cy="2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1363" y="2605197"/>
            <a:ext cx="281750" cy="28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994" y="582894"/>
            <a:ext cx="372475" cy="3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9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Summary &amp; Applications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8" name="Google Shape;818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9"/>
          <p:cNvSpPr txBox="1"/>
          <p:nvPr/>
        </p:nvSpPr>
        <p:spPr>
          <a:xfrm>
            <a:off x="706625" y="1505500"/>
            <a:ext cx="527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Example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: 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Course Finder fetching live courses from multiple platforms.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49"/>
          <p:cNvSpPr txBox="1"/>
          <p:nvPr/>
        </p:nvSpPr>
        <p:spPr>
          <a:xfrm>
            <a:off x="1562875" y="2575913"/>
            <a:ext cx="428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Course Finder (education)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1" name="Google Shape;821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2" name="Google Shape;822;p49"/>
          <p:cNvSpPr txBox="1"/>
          <p:nvPr/>
        </p:nvSpPr>
        <p:spPr>
          <a:xfrm>
            <a:off x="516400" y="904725"/>
            <a:ext cx="664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Function calling enables dynamic, actionable LLM applications: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49"/>
          <p:cNvSpPr txBox="1"/>
          <p:nvPr/>
        </p:nvSpPr>
        <p:spPr>
          <a:xfrm>
            <a:off x="1584175" y="3283388"/>
            <a:ext cx="43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Travel Planner (real-time itineraries)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49"/>
          <p:cNvSpPr txBox="1"/>
          <p:nvPr/>
        </p:nvSpPr>
        <p:spPr>
          <a:xfrm>
            <a:off x="1562875" y="3990875"/>
            <a:ext cx="436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Stock Market Query (financial data)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49"/>
          <p:cNvSpPr txBox="1"/>
          <p:nvPr/>
        </p:nvSpPr>
        <p:spPr>
          <a:xfrm>
            <a:off x="1562875" y="4863825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Recipe Finder (cooking apps)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6" name="Google Shape;8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375" y="1271588"/>
            <a:ext cx="4286250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49"/>
          <p:cNvSpPr/>
          <p:nvPr/>
        </p:nvSpPr>
        <p:spPr>
          <a:xfrm>
            <a:off x="10507150" y="5318750"/>
            <a:ext cx="1232100" cy="3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</a:t>
            </a:r>
            <a:endParaRPr/>
          </a:p>
        </p:txBody>
      </p:sp>
      <p:pic>
        <p:nvPicPr>
          <p:cNvPr id="828" name="Google Shape;82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825" y="4848675"/>
            <a:ext cx="4311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7325" y="3367950"/>
            <a:ext cx="381225" cy="3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7450" y="2682875"/>
            <a:ext cx="4311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49"/>
          <p:cNvSpPr txBox="1"/>
          <p:nvPr/>
        </p:nvSpPr>
        <p:spPr>
          <a:xfrm>
            <a:off x="2274925" y="5736775"/>
            <a:ext cx="790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Takeaway: </a:t>
            </a:r>
            <a:r>
              <a:rPr lang="en-US"/>
              <a:t>Function calling + SerpAPI extends LLMs beyond static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 → real-time, user-tailored results.</a:t>
            </a:r>
            <a:endParaRPr/>
          </a:p>
        </p:txBody>
      </p:sp>
      <p:pic>
        <p:nvPicPr>
          <p:cNvPr id="832" name="Google Shape;83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7450" y="4003150"/>
            <a:ext cx="431100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0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0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