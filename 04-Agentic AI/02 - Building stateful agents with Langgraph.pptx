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IBM Plex Mono Light"/>
      <p:regular r:id="rId35"/>
      <p:bold r:id="rId36"/>
      <p:italic r:id="rId37"/>
      <p:boldItalic r:id="rId38"/>
    </p:embeddedFont>
    <p:embeddedFont>
      <p:font typeface="Open Sans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bold.fntdata"/><Relationship Id="rId20" Type="http://schemas.openxmlformats.org/officeDocument/2006/relationships/slide" Target="slides/slide15.xml"/><Relationship Id="rId42" Type="http://schemas.openxmlformats.org/officeDocument/2006/relationships/font" Target="fonts/OpenSansLight-boldItalic.fntdata"/><Relationship Id="rId41" Type="http://schemas.openxmlformats.org/officeDocument/2006/relationships/font" Target="fonts/OpenSansLight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IBMPlexMonoLight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IBMPlexMonoLight-italic.fntdata"/><Relationship Id="rId14" Type="http://schemas.openxmlformats.org/officeDocument/2006/relationships/slide" Target="slides/slide9.xml"/><Relationship Id="rId36" Type="http://schemas.openxmlformats.org/officeDocument/2006/relationships/font" Target="fonts/IBMPlexMonoLight-bold.fntdata"/><Relationship Id="rId17" Type="http://schemas.openxmlformats.org/officeDocument/2006/relationships/slide" Target="slides/slide12.xml"/><Relationship Id="rId39" Type="http://schemas.openxmlformats.org/officeDocument/2006/relationships/font" Target="fonts/OpenSansLight-regular.fntdata"/><Relationship Id="rId16" Type="http://schemas.openxmlformats.org/officeDocument/2006/relationships/slide" Target="slides/slide11.xml"/><Relationship Id="rId38" Type="http://schemas.openxmlformats.org/officeDocument/2006/relationships/font" Target="fonts/IBMPlexMono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9f489be59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9f489be59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9f489be59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9f489be59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9f489be5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9f489be591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9f489be59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9f489be591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f489be59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9f489be591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9f489be59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9f489be591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9f489be59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9f489be591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9f489be59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9f489be591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9f489be59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9f489be591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9f489be5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9f489be591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9f489be59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9f489be591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9f489be59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9f489be591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f489be59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9f489be591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9f489be59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9f489be591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9f489be59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39f489be591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9f489be59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9f489be591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9f489be59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9f489be591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9cfc63e274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9cfc63e274_0_9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5" y="2469824"/>
            <a:ext cx="7362900" cy="892801"/>
            <a:chOff x="800250" y="1467172"/>
            <a:chExt cx="7362900" cy="8928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0" y="1467173"/>
              <a:ext cx="73629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D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Agentic AI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1181100" y="2055050"/>
            <a:ext cx="9720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LangGraph: 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Building Advanced Stateful Agent Workflows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619250" y="4466575"/>
            <a:ext cx="895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Building reliable, stateful, and complex agentic systems with graph-based control.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1160092" y="1566825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LangGraph?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1160092" y="2005900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LangGraph?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160092" y="2444975"/>
            <a:ext cx="43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Component: The Graph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105042" y="2884050"/>
            <a:ext cx="448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Components: 	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Graph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Edges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2" name="Google Shape;6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17295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1686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594513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750" y="30393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200" y="1703425"/>
            <a:ext cx="105600" cy="1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0"/>
          <p:cNvSpPr txBox="1"/>
          <p:nvPr/>
        </p:nvSpPr>
        <p:spPr>
          <a:xfrm>
            <a:off x="6302742" y="1566825"/>
            <a:ext cx="448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LangGraph Features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	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 Calling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Message Filtering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6343625" y="2490675"/>
            <a:ext cx="42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2 -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"Reflecting" Bot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9" name="Google Shape;6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200" y="2653425"/>
            <a:ext cx="105600" cy="1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 txBox="1"/>
          <p:nvPr/>
        </p:nvSpPr>
        <p:spPr>
          <a:xfrm>
            <a:off x="1253237" y="4091375"/>
            <a:ext cx="369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Compiling &amp; Running the Graph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40"/>
          <p:cNvSpPr txBox="1"/>
          <p:nvPr/>
        </p:nvSpPr>
        <p:spPr>
          <a:xfrm>
            <a:off x="1253238" y="4504025"/>
            <a:ext cx="42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1 - A Simple "Echo" Bot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2" name="Google Shape;6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13" y="42531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13" y="4666775"/>
            <a:ext cx="105600" cy="1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0"/>
          <p:cNvSpPr txBox="1"/>
          <p:nvPr/>
        </p:nvSpPr>
        <p:spPr>
          <a:xfrm>
            <a:off x="6343625" y="3144975"/>
            <a:ext cx="42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Other Key Concepts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5" name="Google Shape;6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200" y="3307725"/>
            <a:ext cx="105600" cy="1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0"/>
          <p:cNvSpPr txBox="1"/>
          <p:nvPr/>
        </p:nvSpPr>
        <p:spPr>
          <a:xfrm>
            <a:off x="6343625" y="3718150"/>
            <a:ext cx="42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Summary &amp; Key Takeaways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7" name="Google Shape;6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200" y="3880900"/>
            <a:ext cx="105600" cy="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1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"Why" - 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Problem Does </a:t>
            </a:r>
            <a:r>
              <a:rPr lang="en-US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LangGraph 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Solve?</a:t>
            </a:r>
            <a:endParaRPr sz="1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" name="Google Shape;665;p41"/>
          <p:cNvSpPr txBox="1"/>
          <p:nvPr/>
        </p:nvSpPr>
        <p:spPr>
          <a:xfrm>
            <a:off x="1018925" y="1222625"/>
            <a:ext cx="844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When you move from a simple 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prompt-in, response-out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(like a basic Chain)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to a true "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," things get complex.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2197425" y="2314950"/>
            <a:ext cx="7459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Typical Agent Needs: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Cycles: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"If a tool call fails, try again. If the answer isn't good, reflect and retry."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State: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"I need to remember the conversation history, what tools I've used, and the user's ultimate goal."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Complex Logic: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"Call tool A, then based on its output, either call tool B, tool C, or ask the user for clarification."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Human-in-the-Loop: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"Before executing a dangerous action, I must pause and get human approval."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41"/>
          <p:cNvSpPr txBox="1"/>
          <p:nvPr/>
        </p:nvSpPr>
        <p:spPr>
          <a:xfrm>
            <a:off x="1008750" y="5329100"/>
            <a:ext cx="101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Trying to code this with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if/else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statements and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loops becomes a "state management nightmare."</a:t>
            </a:r>
            <a:endParaRPr/>
          </a:p>
        </p:txBody>
      </p:sp>
      <p:pic>
        <p:nvPicPr>
          <p:cNvPr id="668" name="Google Shape;6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825" y="2866925"/>
            <a:ext cx="256451" cy="25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4401" y="3300776"/>
            <a:ext cx="281875" cy="2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825" y="3974552"/>
            <a:ext cx="256451" cy="25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5098" y="4624850"/>
            <a:ext cx="256451" cy="25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2"/>
          <p:cNvSpPr txBox="1"/>
          <p:nvPr/>
        </p:nvSpPr>
        <p:spPr>
          <a:xfrm>
            <a:off x="351775" y="412375"/>
            <a:ext cx="507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LangGraph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467625" y="1395250"/>
            <a:ext cx="920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LangGraph is a library for building stateful, multi-actor applications with LLMs.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extends the LangChain expression language ( LCEL ) with the ability to coordinate multiple chains (or actors) across multiple steps of computation in a cyclic, graph-based way.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0" name="Google Shape;680;p42"/>
          <p:cNvSpPr txBox="1"/>
          <p:nvPr/>
        </p:nvSpPr>
        <p:spPr>
          <a:xfrm>
            <a:off x="516775" y="3686450"/>
            <a:ext cx="7459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Core Idea: Define your agent's workflow as a graph.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Nodes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These are the "workers" (functions or chains).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Edges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These are the "paths" that direct the flow from one node to another.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 central object that holds all the information and is passed around, getting updated by each node.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1" name="Google Shape;6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38" y="3252173"/>
            <a:ext cx="2285289" cy="3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3025" y="3366388"/>
            <a:ext cx="3910626" cy="2605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3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Component: The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Graph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8" name="Google Shape;688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0" name="Google Shape;690;p43"/>
          <p:cNvSpPr txBox="1"/>
          <p:nvPr/>
        </p:nvSpPr>
        <p:spPr>
          <a:xfrm>
            <a:off x="1024025" y="1120400"/>
            <a:ext cx="8449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In LangGraph, you create a </a:t>
            </a:r>
            <a:r>
              <a:rPr b="1" lang="en-US" sz="16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StatefulGraph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. 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graph is the "blueprint" of your agent's logic.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1" name="Google Shape;691;p43"/>
          <p:cNvSpPr txBox="1"/>
          <p:nvPr/>
        </p:nvSpPr>
        <p:spPr>
          <a:xfrm>
            <a:off x="2314950" y="3756050"/>
            <a:ext cx="7459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You will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Define a "State" object: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What information needs to be tracked?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Add "Nodes":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What are the steps/functions?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Add "Edges":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How do the steps connect?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Compile: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Turn the blueprint into a runnable machine.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2647800" y="2496675"/>
            <a:ext cx="5034000" cy="10398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 import StateGraph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The graph object is the "machine"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StateGraph(StateObject)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93" name="Google Shape;6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925" y="2243138"/>
            <a:ext cx="203835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4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1" name="Google Shape;701;p44"/>
          <p:cNvSpPr txBox="1"/>
          <p:nvPr/>
        </p:nvSpPr>
        <p:spPr>
          <a:xfrm>
            <a:off x="385225" y="1158538"/>
            <a:ext cx="84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State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is the most critical concept. It's the memory of your agent.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.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44"/>
          <p:cNvSpPr txBox="1"/>
          <p:nvPr/>
        </p:nvSpPr>
        <p:spPr>
          <a:xfrm>
            <a:off x="640750" y="1800488"/>
            <a:ext cx="7459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It's a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TypedDict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(a Python dictionary with defined types).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It's passed to every node.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Each node updates the state by returning a dictionary with the keys it wants to change.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LangGraph automatically merges these updates.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44"/>
          <p:cNvSpPr/>
          <p:nvPr/>
        </p:nvSpPr>
        <p:spPr>
          <a:xfrm>
            <a:off x="822825" y="3884150"/>
            <a:ext cx="7490400" cy="2413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TypedDict, List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langgraph.graph.message import add_messages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AgentState(TypedDict):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'add_messages' is a special helper to append to the list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instead of overwriting it.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We can also just track simple values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files_processed: List[str]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current_task: str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04" name="Google Shape;7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1500" y="2045800"/>
            <a:ext cx="3801059" cy="17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Nodes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2" name="Google Shape;712;p45"/>
          <p:cNvSpPr txBox="1"/>
          <p:nvPr/>
        </p:nvSpPr>
        <p:spPr>
          <a:xfrm>
            <a:off x="412725" y="1152100"/>
            <a:ext cx="1003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Node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is a "step" in your graph. It's just a Python function or a LangChain runnable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(like an LLM chain).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45"/>
          <p:cNvSpPr txBox="1"/>
          <p:nvPr/>
        </p:nvSpPr>
        <p:spPr>
          <a:xfrm>
            <a:off x="2064600" y="1802375"/>
            <a:ext cx="7459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What it does: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It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receives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current State as its only input.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It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performs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some logic (e.g., call an LLM, run a tool, update a database).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 It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returns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 dictionary of the values it wants to update in the State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45"/>
          <p:cNvSpPr/>
          <p:nvPr/>
        </p:nvSpPr>
        <p:spPr>
          <a:xfrm>
            <a:off x="2100400" y="4011875"/>
            <a:ext cx="6585900" cy="2111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my_node(state: AgentState):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print("---EXECUTING MY NODE---")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current_messages = state['messages']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... call an LLM or a tool ...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new_message = ("ai", "This is my response!")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We only return what we want to CHANGE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 "messages": [new_message] 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5" name="Google Shape;715;p45"/>
          <p:cNvSpPr txBox="1"/>
          <p:nvPr/>
        </p:nvSpPr>
        <p:spPr>
          <a:xfrm>
            <a:off x="1037375" y="3530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Example Node: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6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Adding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Nodes 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the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Graph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46"/>
          <p:cNvSpPr txBox="1"/>
          <p:nvPr/>
        </p:nvSpPr>
        <p:spPr>
          <a:xfrm>
            <a:off x="412725" y="1152100"/>
            <a:ext cx="100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Once you have your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State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and your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 function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, you add it to the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graph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46"/>
          <p:cNvSpPr txBox="1"/>
          <p:nvPr/>
        </p:nvSpPr>
        <p:spPr>
          <a:xfrm>
            <a:off x="2330325" y="5246325"/>
            <a:ext cx="745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You also must define an Entry Point. This is the first node to run.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46"/>
          <p:cNvSpPr/>
          <p:nvPr/>
        </p:nvSpPr>
        <p:spPr>
          <a:xfrm>
            <a:off x="2482375" y="1748000"/>
            <a:ext cx="6893700" cy="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1. Define the state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AgentState(TypedDict):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6" name="Google Shape;726;p46"/>
          <p:cNvSpPr/>
          <p:nvPr/>
        </p:nvSpPr>
        <p:spPr>
          <a:xfrm>
            <a:off x="2482375" y="2646500"/>
            <a:ext cx="6893700" cy="1038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2. Define the node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call_model(state: AgentState):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llm.invoke(state['messages'])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{"messages": [response]}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7" name="Google Shape;727;p46"/>
          <p:cNvSpPr/>
          <p:nvPr/>
        </p:nvSpPr>
        <p:spPr>
          <a:xfrm>
            <a:off x="2461025" y="3958950"/>
            <a:ext cx="6893700" cy="1038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3. Create graph and add the node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StateGraph(AgentState)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workflow.add_node("model_caller", call_model)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8" name="Google Shape;728;p46"/>
          <p:cNvSpPr/>
          <p:nvPr/>
        </p:nvSpPr>
        <p:spPr>
          <a:xfrm>
            <a:off x="2430350" y="5800475"/>
            <a:ext cx="6893700" cy="4854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workflow.set_entry_point("model_caller")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29" name="Google Shape;7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75" y="1849250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6475" y="2904050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5375" y="4180125"/>
            <a:ext cx="485400" cy="4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7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Edges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47"/>
          <p:cNvSpPr txBox="1"/>
          <p:nvPr/>
        </p:nvSpPr>
        <p:spPr>
          <a:xfrm>
            <a:off x="806200" y="1504725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b="1" lang="en-US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Edge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connects two nodes. It defines the path of execution.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0" name="Google Shape;740;p47"/>
          <p:cNvSpPr txBox="1"/>
          <p:nvPr/>
        </p:nvSpPr>
        <p:spPr>
          <a:xfrm>
            <a:off x="2458075" y="2155000"/>
            <a:ext cx="7459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There are two types of edges: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Normal Edges: Always go from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 A -&gt; Node B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47"/>
          <p:cNvSpPr txBox="1"/>
          <p:nvPr/>
        </p:nvSpPr>
        <p:spPr>
          <a:xfrm>
            <a:off x="2502875" y="4307075"/>
            <a:ext cx="66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Conditional Edges: Go from Node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-&gt; (Node B or Node C or ...)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742" name="Google Shape;742;p47"/>
          <p:cNvSpPr/>
          <p:nvPr/>
        </p:nvSpPr>
        <p:spPr>
          <a:xfrm>
            <a:off x="2681650" y="3055925"/>
            <a:ext cx="6888600" cy="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After 'model_caller' finishes, always go to 'human_input'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workflow.add_edge("model_caller", "human_input")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3" name="Google Shape;743;p47"/>
          <p:cNvSpPr txBox="1"/>
          <p:nvPr/>
        </p:nvSpPr>
        <p:spPr>
          <a:xfrm>
            <a:off x="2795325" y="4609475"/>
            <a:ext cx="67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uses a </a:t>
            </a:r>
            <a:r>
              <a:rPr b="1" i="1" lang="en-US">
                <a:solidFill>
                  <a:schemeClr val="accent1"/>
                </a:solidFill>
              </a:rPr>
              <a:t>function </a:t>
            </a:r>
            <a:r>
              <a:rPr lang="en-US"/>
              <a:t>to check the </a:t>
            </a:r>
            <a:r>
              <a:rPr b="1" i="1" lang="en-US">
                <a:solidFill>
                  <a:schemeClr val="accent1"/>
                </a:solidFill>
              </a:rPr>
              <a:t>State </a:t>
            </a:r>
            <a:r>
              <a:rPr lang="en-US"/>
              <a:t>and decide which </a:t>
            </a:r>
            <a:r>
              <a:rPr b="1" i="1" lang="en-US">
                <a:solidFill>
                  <a:schemeClr val="accent1"/>
                </a:solidFill>
              </a:rPr>
              <a:t>node </a:t>
            </a:r>
            <a:r>
              <a:rPr lang="en-US"/>
              <a:t>to go to next.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8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Conditional Edges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1" name="Google Shape;751;p48"/>
          <p:cNvSpPr txBox="1"/>
          <p:nvPr/>
        </p:nvSpPr>
        <p:spPr>
          <a:xfrm>
            <a:off x="1003575" y="1238975"/>
            <a:ext cx="84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conditional edge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uses a function that: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2" name="Google Shape;752;p48"/>
          <p:cNvSpPr txBox="1"/>
          <p:nvPr/>
        </p:nvSpPr>
        <p:spPr>
          <a:xfrm>
            <a:off x="2095275" y="1670075"/>
            <a:ext cx="745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Receives the current State 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Returns a string: the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name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of the next node to run.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p48"/>
          <p:cNvSpPr/>
          <p:nvPr/>
        </p:nvSpPr>
        <p:spPr>
          <a:xfrm>
            <a:off x="797325" y="2562825"/>
            <a:ext cx="10055700" cy="36783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should_we_use_tools(state: AgentState):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last_message = state['messages'][-1]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last_message.tool_calls: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"tool_node" # Go to the tool-calling node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"__end__" # END is a special name to stop the graph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Now, we add this logic to the graph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"model_caller", 			# The node this decision follows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should_we_use_tools, 		# The function that makes the decision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"tool_node": "tool_node", 	# If fn returns "tool_node", go to "tool_node"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"__end__": "__end__" 			# If fn returns "__end__", stop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Compiling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Running the Graph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49"/>
          <p:cNvSpPr txBox="1"/>
          <p:nvPr/>
        </p:nvSpPr>
        <p:spPr>
          <a:xfrm>
            <a:off x="412725" y="1152100"/>
            <a:ext cx="100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Once your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edges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are defined, you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compile()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it into a runnable object.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2482375" y="1748000"/>
            <a:ext cx="6893700" cy="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4. Set an entry point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workflow.set_entry_point("model_caller")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2469675" y="2759450"/>
            <a:ext cx="6893700" cy="780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5. Compile the graph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app = workflow.compile()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2461025" y="3958950"/>
            <a:ext cx="8560800" cy="18978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'invoke' runs the graph from start to finish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final_state = app.invoke({"messages": [("user", "Hello!")]})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You can also 'stream' it to see each step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 step in app.stream({"messages": [("user", "What's the weather?")]}):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print(step)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65" name="Google Shape;76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675" y="1855450"/>
            <a:ext cx="485400" cy="4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675" y="2907200"/>
            <a:ext cx="485400" cy="4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8075" y="4246950"/>
            <a:ext cx="460000" cy="4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0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1 -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 Simple "Echo" Bot</a:t>
            </a:r>
            <a:endParaRPr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3" name="Google Shape;773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50"/>
          <p:cNvSpPr txBox="1"/>
          <p:nvPr/>
        </p:nvSpPr>
        <p:spPr>
          <a:xfrm>
            <a:off x="988275" y="1110200"/>
            <a:ext cx="84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Build a simple graph that: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6" name="Google Shape;776;p50"/>
          <p:cNvSpPr txBox="1"/>
          <p:nvPr/>
        </p:nvSpPr>
        <p:spPr>
          <a:xfrm>
            <a:off x="1462725" y="1541300"/>
            <a:ext cx="95805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Takes a user's message.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"Echoes" it back by adding "AI: You said: " to the message.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 Stops.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You will need to: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Define a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(it just needs messages 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Define a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node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function ( echo_node ) that gets the last message and returns a new AI message.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 Create a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StateGraph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4. Add your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echo_node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5. Set the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entry_point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to your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echo_node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6. Add a normal edge from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echo_node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__end__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7.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compile()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invoke()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it!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1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1 - Solution (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Part 1: Setup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4" name="Google Shape;784;p51"/>
          <p:cNvSpPr/>
          <p:nvPr/>
        </p:nvSpPr>
        <p:spPr>
          <a:xfrm>
            <a:off x="797325" y="1242100"/>
            <a:ext cx="10055700" cy="49989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os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TypedDict, Annotated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 import StateGraph, 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langgraph.graph.message import add_messages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Set up any necessary API keys (if you were calling an LLM)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os.environ["OPENAI_API_KEY"] = "sk-..."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1. Define the State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EchoState(TypedDict):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2. Define the Node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echo_node(state: EchoState):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print("---ECHO NODE---")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last_message = state['messages'][-1]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Our "logic" is just echoing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response_text = f"You said: {last_message.content}"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{"messages": [("ai", response_text)]}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2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1 - Solution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(Part 2: Graph)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0" name="Google Shape;790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2" name="Google Shape;792;p52"/>
          <p:cNvSpPr/>
          <p:nvPr/>
        </p:nvSpPr>
        <p:spPr>
          <a:xfrm>
            <a:off x="613350" y="1277875"/>
            <a:ext cx="6769800" cy="49314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3. Create the graph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StateGraph(EchoState)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4. Add the node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workflow.add_node("echo", echo_node)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5. Set the entry point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workflow.set_entry_point("echo")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6. Add the edge to stop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After the 'echo' node runs, always go to the 'END' state.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workflow.add_edge("echo", END)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7. Compile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app = workflow.compile()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--- Run it! ---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print("Running graph...")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final_state = app.invoke({"messages": [("user", "Hello LangGraph!")]})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print("\nFinal State:")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print(final_state['messages'][-1].content)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3" name="Google Shape;793;p52"/>
          <p:cNvSpPr/>
          <p:nvPr/>
        </p:nvSpPr>
        <p:spPr>
          <a:xfrm>
            <a:off x="7719400" y="2115975"/>
            <a:ext cx="3851700" cy="2278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Expected Output: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Running graph...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---ECHO NODE---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Final State: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You said: Hello LangGraph!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3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Calling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1" name="Google Shape;801;p53"/>
          <p:cNvSpPr txBox="1"/>
          <p:nvPr/>
        </p:nvSpPr>
        <p:spPr>
          <a:xfrm>
            <a:off x="1024025" y="1513875"/>
            <a:ext cx="84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This is where LangGraph shines. Tool calling is almost always a cycle.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2" name="Google Shape;802;p53"/>
          <p:cNvSpPr txBox="1"/>
          <p:nvPr/>
        </p:nvSpPr>
        <p:spPr>
          <a:xfrm>
            <a:off x="1609725" y="2238275"/>
            <a:ext cx="9411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The Flow: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LLM is called. It decides to use a tool.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Node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 node parses the LLM's request and executes your Python tool function.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 Update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tool's output is added to the messages list (as a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ToolMessage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4.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Loop Back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graph routes back to the Model node.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LLM now sees its own tool call and the tool's result, so it can formulate a final answer.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4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Message Filtering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8" name="Google Shape;808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0" name="Google Shape;810;p54"/>
          <p:cNvSpPr txBox="1"/>
          <p:nvPr/>
        </p:nvSpPr>
        <p:spPr>
          <a:xfrm>
            <a:off x="802425" y="1270163"/>
            <a:ext cx="957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What if your agent has a very long history, but you only want to send the 5 most recent messages to the LLM to save tokens?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54"/>
          <p:cNvSpPr txBox="1"/>
          <p:nvPr/>
        </p:nvSpPr>
        <p:spPr>
          <a:xfrm>
            <a:off x="2100375" y="1880138"/>
            <a:ext cx="745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You can "filter" the state that a specific node sees.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When compiling, you can "check-in" and "check-out" keys.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54"/>
          <p:cNvSpPr/>
          <p:nvPr/>
        </p:nvSpPr>
        <p:spPr>
          <a:xfrm>
            <a:off x="833100" y="2969375"/>
            <a:ext cx="10055700" cy="32001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filter_messages(state: AgentState):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Only keep the last 5 messages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state['messages'][-5:]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app = workflow.compile(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'checkpointer' is for saving state (persistence)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'check_in' modifies the state *before* it's passed to a node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check_in="model_caller", </a:t>
            </a: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Only apply this to the 'model_caller' node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'mapper' defines the modification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mapper=filter_messages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5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2 -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 "Reflecting" Bot</a:t>
            </a:r>
            <a:endParaRPr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8" name="Google Shape;818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0" name="Google Shape;820;p55"/>
          <p:cNvSpPr txBox="1"/>
          <p:nvPr/>
        </p:nvSpPr>
        <p:spPr>
          <a:xfrm>
            <a:off x="926875" y="1442350"/>
            <a:ext cx="84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Build a bot that "reflects" on its own answer.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1" name="Google Shape;821;p55"/>
          <p:cNvSpPr txBox="1"/>
          <p:nvPr/>
        </p:nvSpPr>
        <p:spPr>
          <a:xfrm>
            <a:off x="1462725" y="2239125"/>
            <a:ext cx="9580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 1 (Generate)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: Takes user input, generates an answer.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 2 (Reflect)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: Looks at the generated answer and "grades" it (e.g., "good" or "bad"). For this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exercise, we'll just randomly choose.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Conditional Edge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If the grade is "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good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", END the graph.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If the grade is "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bad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", loop back to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 1 (Generate)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to try again.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55"/>
          <p:cNvSpPr txBox="1"/>
          <p:nvPr/>
        </p:nvSpPr>
        <p:spPr>
          <a:xfrm>
            <a:off x="2551125" y="5038750"/>
            <a:ext cx="740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Hint: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You'll need to add a grade field to your State 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6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2 - Solution (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Part 1: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 &amp; Nodes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p56"/>
          <p:cNvSpPr/>
          <p:nvPr/>
        </p:nvSpPr>
        <p:spPr>
          <a:xfrm>
            <a:off x="797325" y="1073450"/>
            <a:ext cx="10055700" cy="54888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TypedDict, Annotated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 import StateGraph, 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langgraph.graph.message import add_messages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1. </a:t>
            </a: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Define the State (with a new 'grade' field)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ReflectState(TypedDict):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grade: str # Our new field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2. </a:t>
            </a: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Define Nodes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generate_node(state: ReflectState):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print("---GENERATE NODE---")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In a real app, you'd call an LLM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Here, we'll just make a simple response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response_text = f"I'm answering: {state['messages'][-1].content}"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{"messages": [("ai", response_text)]}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reflect_node(state: ReflectState):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print("---REFLECT NODE---")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Randomly "grade" the last AI message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grade = random.choice(["good", "bad"])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print(f"My grade is: {grade}")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{"grade": grade}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7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2 - Solution (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Part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2: Graph &amp; Logic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6" name="Google Shape;836;p5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8" name="Google Shape;838;p57"/>
          <p:cNvSpPr/>
          <p:nvPr/>
        </p:nvSpPr>
        <p:spPr>
          <a:xfrm>
            <a:off x="490700" y="1191125"/>
            <a:ext cx="5860200" cy="5142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3. Define the conditional logic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reflection_router(state: ReflectState):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print("---CHECKING GRADE---")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state['grade'] == "good":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"__end__"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"generate" # Loop back to the 'generate' node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4. Create and build the graph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StateGraph(ReflectState)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workflow.add_node("generate", generate_node)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workflow.add_node("reflect", reflect_node)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workflow.set_entry_point("generate")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After generating, always reflect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workflow.add_edge("generate", "reflect")</a:t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After reflecting, use our conditional logic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"reflect",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reflection_router,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"__end__": END,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"generate": "generate"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9" name="Google Shape;839;p57"/>
          <p:cNvSpPr/>
          <p:nvPr/>
        </p:nvSpPr>
        <p:spPr>
          <a:xfrm>
            <a:off x="6570625" y="2115975"/>
            <a:ext cx="5350500" cy="2278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# 5. Compile and run</a:t>
            </a:r>
            <a:endParaRPr b="1" sz="11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app = workflow.compile()</a:t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print("---Running Reflective Bot (it might loop!)---")</a:t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 step in app.stream({"messages": [("user", "Tell me a fact.")]}):</a:t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print(step)</a:t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print("----")</a:t>
            </a:r>
            <a:endParaRPr b="1"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8"/>
          <p:cNvSpPr txBox="1"/>
          <p:nvPr/>
        </p:nvSpPr>
        <p:spPr>
          <a:xfrm>
            <a:off x="351775" y="412375"/>
            <a:ext cx="902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Other Key Concepts</a:t>
            </a:r>
            <a:endParaRPr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5" name="Google Shape;845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7" name="Google Shape;847;p58"/>
          <p:cNvSpPr txBox="1"/>
          <p:nvPr/>
        </p:nvSpPr>
        <p:spPr>
          <a:xfrm>
            <a:off x="1012700" y="1427025"/>
            <a:ext cx="888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Persistence (Checkpointers):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LangGraph can automatically save the State to a database (like SQLite, Postgres, Redis) after every step. This lets you "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pause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" and "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resume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" agent runs, which is essential for </a:t>
            </a:r>
            <a:r>
              <a:rPr b="1" lang="en-US" sz="16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Human-in-the-Loop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8" name="Google Shape;848;p58"/>
          <p:cNvSpPr txBox="1"/>
          <p:nvPr/>
        </p:nvSpPr>
        <p:spPr>
          <a:xfrm>
            <a:off x="1395175" y="3088150"/>
            <a:ext cx="9921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Agent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runs until it hits a pause_node 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State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is saved (using a checkpointer).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Your UI shows the user: "</a:t>
            </a:r>
            <a:r>
              <a:rPr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The agent wants to do X. Approve?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"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When the user clicks "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Approve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," you load the graph from that saved state and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invoke()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it again.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p58"/>
          <p:cNvSpPr txBox="1"/>
          <p:nvPr/>
        </p:nvSpPr>
        <p:spPr>
          <a:xfrm>
            <a:off x="1033150" y="2636600"/>
            <a:ext cx="888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Human-in-the-Loop: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build a graph that explicitly stops at a node.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9"/>
          <p:cNvSpPr txBox="1"/>
          <p:nvPr/>
        </p:nvSpPr>
        <p:spPr>
          <a:xfrm>
            <a:off x="331950" y="41237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Summary &amp; Next Steps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5" name="Google Shape;855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p59"/>
          <p:cNvSpPr txBox="1"/>
          <p:nvPr/>
        </p:nvSpPr>
        <p:spPr>
          <a:xfrm>
            <a:off x="863700" y="1555075"/>
            <a:ext cx="11098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1.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Don't use LangGraph for simple chains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 Use LCEL.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Use LangGraph for cycles, state, and complex logic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 It's for building </a:t>
            </a:r>
            <a:r>
              <a:rPr b="1" i="1" lang="en-US">
                <a:latin typeface="Poppins"/>
                <a:ea typeface="Poppins"/>
                <a:cs typeface="Poppins"/>
                <a:sym typeface="Poppins"/>
              </a:rPr>
              <a:t>agents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i="1" lang="en-US">
                <a:latin typeface="Poppins"/>
                <a:ea typeface="Poppins"/>
                <a:cs typeface="Poppins"/>
                <a:sym typeface="Poppins"/>
              </a:rPr>
              <a:t>workflows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, not just prompts.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State is Everything: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Your State object is the </a:t>
            </a:r>
            <a:r>
              <a:rPr b="1" i="1" lang="en-US">
                <a:latin typeface="Poppins"/>
                <a:ea typeface="Poppins"/>
                <a:cs typeface="Poppins"/>
                <a:sym typeface="Poppins"/>
              </a:rPr>
              <a:t>"memory"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1" i="1" lang="en-US">
                <a:latin typeface="Poppins"/>
                <a:ea typeface="Poppins"/>
                <a:cs typeface="Poppins"/>
                <a:sym typeface="Poppins"/>
              </a:rPr>
              <a:t>"blood"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of your agent. Define it carefully.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Nodes do the work: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They are simple functions that receive the state and return updates.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Conditional Edges provide the logic: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This is how you create loops, branches, and tool-calling abilities.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60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0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