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6858000" cx="12192000"/>
  <p:notesSz cx="6858000" cy="9144000"/>
  <p:embeddedFontLst>
    <p:embeddedFont>
      <p:font typeface="Poppins"/>
      <p:regular r:id="rId32"/>
      <p:bold r:id="rId33"/>
      <p:italic r:id="rId34"/>
      <p:boldItalic r:id="rId35"/>
    </p:embeddedFont>
    <p:embeddedFont>
      <p:font typeface="IBM Plex Mono Light"/>
      <p:regular r:id="rId36"/>
      <p:bold r:id="rId37"/>
      <p:italic r:id="rId38"/>
      <p:boldItalic r:id="rId39"/>
    </p:embeddedFont>
    <p:embeddedFont>
      <p:font typeface="Poppins SemiBold"/>
      <p:regular r:id="rId40"/>
      <p:bold r:id="rId41"/>
      <p:italic r:id="rId42"/>
      <p:boldItalic r:id="rId43"/>
    </p:embeddedFont>
    <p:embeddedFont>
      <p:font typeface="Open Sans Light"/>
      <p:regular r:id="rId44"/>
      <p:bold r:id="rId45"/>
      <p:italic r:id="rId46"/>
      <p:boldItalic r:id="rId47"/>
    </p:embeddedFont>
    <p:embeddedFont>
      <p:font typeface="Open Sans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134">
          <p15:clr>
            <a:srgbClr val="A4A3A4"/>
          </p15:clr>
        </p15:guide>
        <p15:guide id="2" pos="74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27ABE63-9672-44F3-8944-E4397E3A7A1E}">
  <a:tblStyle styleId="{827ABE63-9672-44F3-8944-E4397E3A7A1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134" orient="horz"/>
        <p:guide pos="74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SemiBold-regular.fntdata"/><Relationship Id="rId42" Type="http://schemas.openxmlformats.org/officeDocument/2006/relationships/font" Target="fonts/PoppinsSemiBold-italic.fntdata"/><Relationship Id="rId41" Type="http://schemas.openxmlformats.org/officeDocument/2006/relationships/font" Target="fonts/PoppinsSemiBold-bold.fntdata"/><Relationship Id="rId44" Type="http://schemas.openxmlformats.org/officeDocument/2006/relationships/font" Target="fonts/OpenSansLight-regular.fntdata"/><Relationship Id="rId43" Type="http://schemas.openxmlformats.org/officeDocument/2006/relationships/font" Target="fonts/PoppinsSemiBold-boldItalic.fntdata"/><Relationship Id="rId46" Type="http://schemas.openxmlformats.org/officeDocument/2006/relationships/font" Target="fonts/OpenSansLight-italic.fntdata"/><Relationship Id="rId45" Type="http://schemas.openxmlformats.org/officeDocument/2006/relationships/font" Target="fonts/OpenSansLigh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OpenSans-regular.fntdata"/><Relationship Id="rId47" Type="http://schemas.openxmlformats.org/officeDocument/2006/relationships/font" Target="fonts/OpenSansLight-boldItalic.fntdata"/><Relationship Id="rId49" Type="http://schemas.openxmlformats.org/officeDocument/2006/relationships/font" Target="fonts/Open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font" Target="fonts/Poppins-bold.fntdata"/><Relationship Id="rId32" Type="http://schemas.openxmlformats.org/officeDocument/2006/relationships/font" Target="fonts/Poppins-regular.fntdata"/><Relationship Id="rId35" Type="http://schemas.openxmlformats.org/officeDocument/2006/relationships/font" Target="fonts/Poppins-boldItalic.fntdata"/><Relationship Id="rId34" Type="http://schemas.openxmlformats.org/officeDocument/2006/relationships/font" Target="fonts/Poppins-italic.fntdata"/><Relationship Id="rId37" Type="http://schemas.openxmlformats.org/officeDocument/2006/relationships/font" Target="fonts/IBMPlexMonoLight-bold.fntdata"/><Relationship Id="rId36" Type="http://schemas.openxmlformats.org/officeDocument/2006/relationships/font" Target="fonts/IBMPlexMonoLight-regular.fntdata"/><Relationship Id="rId39" Type="http://schemas.openxmlformats.org/officeDocument/2006/relationships/font" Target="fonts/IBMPlexMonoLight-boldItalic.fntdata"/><Relationship Id="rId38" Type="http://schemas.openxmlformats.org/officeDocument/2006/relationships/font" Target="fonts/IBMPlexMonoLight-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OpenSans-boldItalic.fntdata"/><Relationship Id="rId50" Type="http://schemas.openxmlformats.org/officeDocument/2006/relationships/font" Target="fonts/Open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7271c6c3d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g37271c6c3d9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3ad1dca89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g33ad1dca898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77a497b5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g377a497b51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9cfc63e274_0_4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39cfc63e274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9cfc63e274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g39cfc63e274_0_5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90dc0bf12d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390dc0bf12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80e9a0359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g380e9a03596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81778fac87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g381778fac87_0_1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9cfc63e274_0_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g39cfc63e274_0_6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90dc0bf12d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g390dc0bf12d_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90dc0bf12d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g390dc0bf12d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90dc0bf12d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g390dc0bf12d_0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90dc0bf12d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g390dc0bf12d_0_1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90dc0bf12d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g390dc0bf12d_0_1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390dc0bf12d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g390dc0bf12d_0_1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390dc0bf12d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g390dc0bf12d_0_1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90dc0bf12d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g390dc0bf12d_0_2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390dc0bf12d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g390dc0bf12d_0_2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90dc0bf12d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g390dc0bf12d_0_2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90dc0bf12d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g390dc0bf12d_0_2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90dc0bf12d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g390dc0bf12d_0_2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9cfc63e274_0_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g39cfc63e274_0_9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72a7ed5a81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6" name="Google Shape;866;g372a7ed5a8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48c93a3e68_1_3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3" name="Google Shape;873;g348c93a3e68_1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>
            <p:ph idx="2" type="pic"/>
          </p:nvPr>
        </p:nvSpPr>
        <p:spPr>
          <a:xfrm>
            <a:off x="1068777" y="837967"/>
            <a:ext cx="2873830" cy="518206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grpSp>
        <p:nvGrpSpPr>
          <p:cNvPr id="10" name="Google Shape;10;p2"/>
          <p:cNvGrpSpPr/>
          <p:nvPr/>
        </p:nvGrpSpPr>
        <p:grpSpPr>
          <a:xfrm>
            <a:off x="-693530" y="-764219"/>
            <a:ext cx="2003055" cy="3742456"/>
            <a:chOff x="-367748" y="-573164"/>
            <a:chExt cx="1502291" cy="2806842"/>
          </a:xfrm>
        </p:grpSpPr>
        <p:grpSp>
          <p:nvGrpSpPr>
            <p:cNvPr id="11" name="Google Shape;11;p2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5882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" name="Google Shape;15;p2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196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196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" name="Google Shape;17;p2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" name="Google Shape;21;p2"/>
          <p:cNvGrpSpPr/>
          <p:nvPr/>
        </p:nvGrpSpPr>
        <p:grpSpPr>
          <a:xfrm>
            <a:off x="10058981" y="-228028"/>
            <a:ext cx="4669343" cy="7413455"/>
            <a:chOff x="7392021" y="-171025"/>
            <a:chExt cx="3502095" cy="5560230"/>
          </a:xfrm>
        </p:grpSpPr>
        <p:grpSp>
          <p:nvGrpSpPr>
            <p:cNvPr id="22" name="Google Shape;22;p2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23" name="Google Shape;23;p2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" name="Google Shape;25;p2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" name="Google Shape;26;p2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27" name="Google Shape;27;p2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8" name="Google Shape;28;p2"/>
              <p:cNvGrpSpPr/>
              <p:nvPr/>
            </p:nvGrpSpPr>
            <p:grpSpPr>
              <a:xfrm>
                <a:off x="8192875" y="4736396"/>
                <a:ext cx="134004" cy="134004"/>
                <a:chOff x="8356813" y="1074288"/>
                <a:chExt cx="351900" cy="3519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5568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" name="Google Shape;31;p2"/>
              <p:cNvGrpSpPr/>
              <p:nvPr/>
            </p:nvGrpSpPr>
            <p:grpSpPr>
              <a:xfrm>
                <a:off x="8788200" y="3794721"/>
                <a:ext cx="134004" cy="134004"/>
                <a:chOff x="8356813" y="1074288"/>
                <a:chExt cx="351900" cy="351900"/>
              </a:xfrm>
            </p:grpSpPr>
            <p:sp>
              <p:nvSpPr>
                <p:cNvPr id="32" name="Google Shape;32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" name="Google Shape;33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27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4" name="Google Shape;34;p2"/>
              <p:cNvGrpSpPr/>
              <p:nvPr/>
            </p:nvGrpSpPr>
            <p:grpSpPr>
              <a:xfrm>
                <a:off x="8654175" y="2424671"/>
                <a:ext cx="134004" cy="134004"/>
                <a:chOff x="8356813" y="1074288"/>
                <a:chExt cx="351900" cy="351900"/>
              </a:xfrm>
            </p:grpSpPr>
            <p:sp>
              <p:nvSpPr>
                <p:cNvPr id="35" name="Google Shape;35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" name="Google Shape;36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2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pic>
        <p:nvPicPr>
          <p:cNvPr id="37" name="Google Shape;37;p2"/>
          <p:cNvPicPr preferRelativeResize="0"/>
          <p:nvPr/>
        </p:nvPicPr>
        <p:blipFill rotWithShape="1">
          <a:blip r:embed="rId2">
            <a:alphaModFix/>
          </a:blip>
          <a:srcRect b="26177" l="16960" r="7121" t="24718"/>
          <a:stretch/>
        </p:blipFill>
        <p:spPr>
          <a:xfrm>
            <a:off x="9819959" y="-1595786"/>
            <a:ext cx="4977375" cy="379883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3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42" name="Google Shape;42;p3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43" name="Google Shape;43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" name="Google Shape;45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46" name="Google Shape;46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" name="Google Shape;48;p3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49" name="Google Shape;49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0" name="Google Shape;50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1" name="Google Shape;51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52" name="Google Shape;52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" name="Google Shape;53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" name="Google Shape;54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" name="Google Shape;55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" name="Google Shape;56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57" name="Google Shape;57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59" name="Google Shape;59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1" name="Google Shape;61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62" name="Google Shape;62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" name="Google Shape;63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" name="Google Shape;64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5" name="Google Shape;65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6" name="Google Shape;66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67" name="Google Shape;67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" name="Google Shape;68;p3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69" name="Google Shape;69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0" name="Google Shape;70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1" name="Google Shape;71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2" name="Google Shape;72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" name="Google Shape;73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" name="Google Shape;74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" name="Google Shape;75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" name="Google Shape;76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77" name="Google Shape;77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" name="Google Shape;78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79" name="Google Shape;79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2" name="Google Shape;82;p3"/>
          <p:cNvSpPr txBox="1"/>
          <p:nvPr/>
        </p:nvSpPr>
        <p:spPr>
          <a:xfrm>
            <a:off x="7489150" y="2225275"/>
            <a:ext cx="1952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84" name="Google Shape;84;p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4"/>
          <p:cNvGrpSpPr/>
          <p:nvPr/>
        </p:nvGrpSpPr>
        <p:grpSpPr>
          <a:xfrm>
            <a:off x="-528423" y="-2138180"/>
            <a:ext cx="5862778" cy="5562070"/>
            <a:chOff x="-494405" y="-1584824"/>
            <a:chExt cx="4397194" cy="4171657"/>
          </a:xfrm>
        </p:grpSpPr>
        <p:grpSp>
          <p:nvGrpSpPr>
            <p:cNvPr id="87" name="Google Shape;87;p4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88" name="Google Shape;88;p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" name="Google Shape;90;p4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91" name="Google Shape;91;p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3" name="Google Shape;93;p4"/>
            <p:cNvGrpSpPr/>
            <p:nvPr/>
          </p:nvGrpSpPr>
          <p:grpSpPr>
            <a:xfrm>
              <a:off x="441575" y="-36652"/>
              <a:ext cx="699940" cy="478601"/>
              <a:chOff x="39723" y="4349022"/>
              <a:chExt cx="1061963" cy="726143"/>
            </a:xfrm>
          </p:grpSpPr>
          <p:grpSp>
            <p:nvGrpSpPr>
              <p:cNvPr id="94" name="Google Shape;94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95" name="Google Shape;95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6" name="Google Shape;96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97" name="Google Shape;97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" name="Google Shape;98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" name="Google Shape;99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0" name="Google Shape;100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1" name="Google Shape;101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02" name="Google Shape;102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3" name="Google Shape;103;p4"/>
            <p:cNvGrpSpPr/>
            <p:nvPr/>
          </p:nvGrpSpPr>
          <p:grpSpPr>
            <a:xfrm>
              <a:off x="955673" y="14"/>
              <a:ext cx="592576" cy="405260"/>
              <a:chOff x="39723" y="4349022"/>
              <a:chExt cx="1061963" cy="726143"/>
            </a:xfrm>
          </p:grpSpPr>
          <p:grpSp>
            <p:nvGrpSpPr>
              <p:cNvPr id="104" name="Google Shape;104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5" name="Google Shape;105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6" name="Google Shape;106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07" name="Google Shape;107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" name="Google Shape;108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" name="Google Shape;109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0" name="Google Shape;110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" name="Google Shape;111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12" name="Google Shape;112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3" name="Google Shape;113;p4"/>
            <p:cNvGrpSpPr/>
            <p:nvPr/>
          </p:nvGrpSpPr>
          <p:grpSpPr>
            <a:xfrm>
              <a:off x="0" y="621223"/>
              <a:ext cx="699940" cy="478601"/>
              <a:chOff x="39723" y="4349022"/>
              <a:chExt cx="1061963" cy="726143"/>
            </a:xfrm>
          </p:grpSpPr>
          <p:grpSp>
            <p:nvGrpSpPr>
              <p:cNvPr id="114" name="Google Shape;114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5" name="Google Shape;115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6" name="Google Shape;116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17" name="Google Shape;117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" name="Google Shape;118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" name="Google Shape;119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0" name="Google Shape;120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1" name="Google Shape;121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22" name="Google Shape;122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3" name="Google Shape;123;p4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24" name="Google Shape;124;p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27" name="Google Shape;127;p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129" name="Google Shape;129;p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5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5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134" name="Google Shape;134;p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139" name="Google Shape;139;p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" name="Google Shape;142;p7"/>
          <p:cNvGrpSpPr/>
          <p:nvPr/>
        </p:nvGrpSpPr>
        <p:grpSpPr>
          <a:xfrm>
            <a:off x="-1607561" y="-3646040"/>
            <a:ext cx="10823409" cy="7799545"/>
            <a:chOff x="-1180406" y="-2565680"/>
            <a:chExt cx="8117556" cy="5849659"/>
          </a:xfrm>
        </p:grpSpPr>
        <p:sp>
          <p:nvSpPr>
            <p:cNvPr id="143" name="Google Shape;143;p7"/>
            <p:cNvSpPr/>
            <p:nvPr/>
          </p:nvSpPr>
          <p:spPr>
            <a:xfrm rot="10221728">
              <a:off x="-981122" y="-549008"/>
              <a:ext cx="3045481" cy="263739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7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7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7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9" name="Google Shape;149;p7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50" name="Google Shape;150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2" name="Google Shape;152;p7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153" name="Google Shape;153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5" name="Google Shape;155;p7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156" name="Google Shape;156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8" name="Google Shape;158;p7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159" name="Google Shape;159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" name="Google Shape;161;p7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162" name="Google Shape;162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64" name="Google Shape;164;p7"/>
          <p:cNvSpPr/>
          <p:nvPr/>
        </p:nvSpPr>
        <p:spPr>
          <a:xfrm rot="10800000">
            <a:off x="10148865" y="4183810"/>
            <a:ext cx="1309035" cy="3077055"/>
          </a:xfrm>
          <a:custGeom>
            <a:rect b="b" l="l" r="r" t="t"/>
            <a:pathLst>
              <a:path extrusionOk="0" h="56267" w="23937">
                <a:moveTo>
                  <a:pt x="12997" y="1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64"/>
                  <a:pt x="23632" y="11321"/>
                  <a:pt x="23632" y="11808"/>
                </a:cubicBezTo>
                <a:cubicBezTo>
                  <a:pt x="23632" y="12311"/>
                  <a:pt x="23434" y="12768"/>
                  <a:pt x="23098" y="13104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5"/>
                </a:lnTo>
                <a:cubicBezTo>
                  <a:pt x="16547" y="11489"/>
                  <a:pt x="16029" y="11260"/>
                  <a:pt x="15435" y="11260"/>
                </a:cubicBezTo>
                <a:cubicBezTo>
                  <a:pt x="14841" y="11260"/>
                  <a:pt x="14307" y="11489"/>
                  <a:pt x="13911" y="11885"/>
                </a:cubicBezTo>
                <a:lnTo>
                  <a:pt x="12525" y="13271"/>
                </a:lnTo>
                <a:cubicBezTo>
                  <a:pt x="12129" y="13698"/>
                  <a:pt x="11900" y="14231"/>
                  <a:pt x="11900" y="14795"/>
                </a:cubicBezTo>
                <a:cubicBezTo>
                  <a:pt x="11900" y="15374"/>
                  <a:pt x="12129" y="15922"/>
                  <a:pt x="12525" y="16318"/>
                </a:cubicBezTo>
                <a:cubicBezTo>
                  <a:pt x="12860" y="16669"/>
                  <a:pt x="13058" y="17126"/>
                  <a:pt x="13058" y="17629"/>
                </a:cubicBezTo>
                <a:cubicBezTo>
                  <a:pt x="13058" y="18116"/>
                  <a:pt x="12860" y="18573"/>
                  <a:pt x="12525" y="18924"/>
                </a:cubicBezTo>
                <a:lnTo>
                  <a:pt x="11489" y="19944"/>
                </a:lnTo>
                <a:cubicBezTo>
                  <a:pt x="11154" y="20295"/>
                  <a:pt x="10696" y="20478"/>
                  <a:pt x="10209" y="20478"/>
                </a:cubicBezTo>
                <a:lnTo>
                  <a:pt x="9569" y="20478"/>
                </a:lnTo>
                <a:cubicBezTo>
                  <a:pt x="8990" y="20478"/>
                  <a:pt x="8457" y="20706"/>
                  <a:pt x="8045" y="21102"/>
                </a:cubicBezTo>
                <a:lnTo>
                  <a:pt x="3353" y="25810"/>
                </a:lnTo>
                <a:cubicBezTo>
                  <a:pt x="2515" y="26648"/>
                  <a:pt x="2515" y="28004"/>
                  <a:pt x="3353" y="28842"/>
                </a:cubicBezTo>
                <a:lnTo>
                  <a:pt x="10529" y="36018"/>
                </a:lnTo>
                <a:cubicBezTo>
                  <a:pt x="10864" y="36369"/>
                  <a:pt x="11062" y="36826"/>
                  <a:pt x="11062" y="37313"/>
                </a:cubicBezTo>
                <a:cubicBezTo>
                  <a:pt x="11062" y="37801"/>
                  <a:pt x="10864" y="38273"/>
                  <a:pt x="10529" y="38608"/>
                </a:cubicBezTo>
                <a:lnTo>
                  <a:pt x="8198" y="40940"/>
                </a:lnTo>
                <a:cubicBezTo>
                  <a:pt x="7802" y="41351"/>
                  <a:pt x="7573" y="41884"/>
                  <a:pt x="7573" y="42463"/>
                </a:cubicBezTo>
                <a:lnTo>
                  <a:pt x="7573" y="47720"/>
                </a:lnTo>
                <a:cubicBezTo>
                  <a:pt x="7573" y="48207"/>
                  <a:pt x="7390" y="48664"/>
                  <a:pt x="7040" y="49015"/>
                </a:cubicBezTo>
                <a:lnTo>
                  <a:pt x="1" y="56054"/>
                </a:lnTo>
                <a:lnTo>
                  <a:pt x="199" y="56267"/>
                </a:lnTo>
                <a:lnTo>
                  <a:pt x="7268" y="49274"/>
                </a:lnTo>
                <a:cubicBezTo>
                  <a:pt x="7664" y="48862"/>
                  <a:pt x="7893" y="48329"/>
                  <a:pt x="7893" y="47750"/>
                </a:cubicBezTo>
                <a:lnTo>
                  <a:pt x="7893" y="42494"/>
                </a:lnTo>
                <a:cubicBezTo>
                  <a:pt x="7893" y="42006"/>
                  <a:pt x="8091" y="41549"/>
                  <a:pt x="8426" y="41199"/>
                </a:cubicBezTo>
                <a:lnTo>
                  <a:pt x="10757" y="38883"/>
                </a:lnTo>
                <a:cubicBezTo>
                  <a:pt x="11154" y="38456"/>
                  <a:pt x="11382" y="37923"/>
                  <a:pt x="11382" y="37359"/>
                </a:cubicBezTo>
                <a:cubicBezTo>
                  <a:pt x="11382" y="36765"/>
                  <a:pt x="11154" y="36232"/>
                  <a:pt x="10757" y="35835"/>
                </a:cubicBezTo>
                <a:lnTo>
                  <a:pt x="3581" y="28644"/>
                </a:lnTo>
                <a:cubicBezTo>
                  <a:pt x="2850" y="27943"/>
                  <a:pt x="2850" y="26785"/>
                  <a:pt x="3581" y="26054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67"/>
                </a:lnTo>
                <a:cubicBezTo>
                  <a:pt x="13149" y="18741"/>
                  <a:pt x="13378" y="18208"/>
                  <a:pt x="13378" y="17644"/>
                </a:cubicBezTo>
                <a:cubicBezTo>
                  <a:pt x="13378" y="17050"/>
                  <a:pt x="13149" y="16516"/>
                  <a:pt x="12753" y="16120"/>
                </a:cubicBezTo>
                <a:cubicBezTo>
                  <a:pt x="12418" y="15770"/>
                  <a:pt x="12220" y="15313"/>
                  <a:pt x="12220" y="14825"/>
                </a:cubicBezTo>
                <a:cubicBezTo>
                  <a:pt x="12220" y="14322"/>
                  <a:pt x="12418" y="13865"/>
                  <a:pt x="12753" y="13530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8" y="11595"/>
                  <a:pt x="16395" y="11793"/>
                  <a:pt x="16730" y="12128"/>
                </a:cubicBezTo>
                <a:lnTo>
                  <a:pt x="19107" y="14520"/>
                </a:lnTo>
                <a:cubicBezTo>
                  <a:pt x="19526" y="14939"/>
                  <a:pt x="20074" y="15149"/>
                  <a:pt x="20623" y="15149"/>
                </a:cubicBezTo>
                <a:cubicBezTo>
                  <a:pt x="21171" y="15149"/>
                  <a:pt x="21720" y="14939"/>
                  <a:pt x="22139" y="14520"/>
                </a:cubicBezTo>
                <a:lnTo>
                  <a:pt x="23297" y="13347"/>
                </a:lnTo>
                <a:cubicBezTo>
                  <a:pt x="23708" y="12936"/>
                  <a:pt x="23936" y="12403"/>
                  <a:pt x="23936" y="11824"/>
                </a:cubicBezTo>
                <a:cubicBezTo>
                  <a:pt x="23936" y="11260"/>
                  <a:pt x="23708" y="10711"/>
                  <a:pt x="23297" y="10300"/>
                </a:cubicBezTo>
                <a:lnTo>
                  <a:pt x="12997" y="1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392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 rot="10800000">
            <a:off x="10361327" y="4184630"/>
            <a:ext cx="1309035" cy="3077055"/>
          </a:xfrm>
          <a:custGeom>
            <a:rect b="b" l="l" r="r" t="t"/>
            <a:pathLst>
              <a:path extrusionOk="0" h="56267" w="23937">
                <a:moveTo>
                  <a:pt x="12997" y="0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48"/>
                  <a:pt x="23632" y="11305"/>
                  <a:pt x="23632" y="11808"/>
                </a:cubicBezTo>
                <a:cubicBezTo>
                  <a:pt x="23632" y="12296"/>
                  <a:pt x="23434" y="12753"/>
                  <a:pt x="23098" y="13103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4"/>
                </a:lnTo>
                <a:cubicBezTo>
                  <a:pt x="16547" y="11488"/>
                  <a:pt x="16029" y="11260"/>
                  <a:pt x="15435" y="11260"/>
                </a:cubicBezTo>
                <a:cubicBezTo>
                  <a:pt x="14840" y="11260"/>
                  <a:pt x="14307" y="11488"/>
                  <a:pt x="13911" y="11884"/>
                </a:cubicBezTo>
                <a:lnTo>
                  <a:pt x="12525" y="13271"/>
                </a:lnTo>
                <a:cubicBezTo>
                  <a:pt x="11687" y="14109"/>
                  <a:pt x="11687" y="15465"/>
                  <a:pt x="12525" y="16303"/>
                </a:cubicBezTo>
                <a:cubicBezTo>
                  <a:pt x="12860" y="16638"/>
                  <a:pt x="13058" y="17095"/>
                  <a:pt x="13058" y="17598"/>
                </a:cubicBezTo>
                <a:cubicBezTo>
                  <a:pt x="13058" y="18085"/>
                  <a:pt x="12860" y="18543"/>
                  <a:pt x="12525" y="18893"/>
                </a:cubicBezTo>
                <a:lnTo>
                  <a:pt x="11489" y="19914"/>
                </a:lnTo>
                <a:cubicBezTo>
                  <a:pt x="11153" y="20264"/>
                  <a:pt x="10696" y="20447"/>
                  <a:pt x="10193" y="20447"/>
                </a:cubicBezTo>
                <a:lnTo>
                  <a:pt x="9569" y="20447"/>
                </a:lnTo>
                <a:cubicBezTo>
                  <a:pt x="8975" y="20447"/>
                  <a:pt x="8441" y="20676"/>
                  <a:pt x="8045" y="21087"/>
                </a:cubicBezTo>
                <a:lnTo>
                  <a:pt x="3337" y="25780"/>
                </a:lnTo>
                <a:cubicBezTo>
                  <a:pt x="2941" y="26206"/>
                  <a:pt x="2713" y="26739"/>
                  <a:pt x="2713" y="27303"/>
                </a:cubicBezTo>
                <a:cubicBezTo>
                  <a:pt x="2713" y="27897"/>
                  <a:pt x="2941" y="28431"/>
                  <a:pt x="3337" y="28827"/>
                </a:cubicBezTo>
                <a:lnTo>
                  <a:pt x="10529" y="36018"/>
                </a:lnTo>
                <a:cubicBezTo>
                  <a:pt x="11245" y="36719"/>
                  <a:pt x="11245" y="37877"/>
                  <a:pt x="10529" y="38608"/>
                </a:cubicBezTo>
                <a:lnTo>
                  <a:pt x="8198" y="40924"/>
                </a:lnTo>
                <a:cubicBezTo>
                  <a:pt x="7801" y="41351"/>
                  <a:pt x="7573" y="41884"/>
                  <a:pt x="7573" y="42448"/>
                </a:cubicBezTo>
                <a:lnTo>
                  <a:pt x="7573" y="47704"/>
                </a:lnTo>
                <a:cubicBezTo>
                  <a:pt x="7573" y="48207"/>
                  <a:pt x="7375" y="48664"/>
                  <a:pt x="7040" y="48999"/>
                </a:cubicBezTo>
                <a:lnTo>
                  <a:pt x="1" y="56053"/>
                </a:lnTo>
                <a:lnTo>
                  <a:pt x="199" y="56267"/>
                </a:lnTo>
                <a:lnTo>
                  <a:pt x="7268" y="49212"/>
                </a:lnTo>
                <a:cubicBezTo>
                  <a:pt x="7664" y="48801"/>
                  <a:pt x="7893" y="48268"/>
                  <a:pt x="7893" y="47689"/>
                </a:cubicBezTo>
                <a:lnTo>
                  <a:pt x="7893" y="42432"/>
                </a:lnTo>
                <a:cubicBezTo>
                  <a:pt x="7893" y="41945"/>
                  <a:pt x="8091" y="41473"/>
                  <a:pt x="8426" y="41137"/>
                </a:cubicBezTo>
                <a:lnTo>
                  <a:pt x="10757" y="38806"/>
                </a:lnTo>
                <a:cubicBezTo>
                  <a:pt x="11595" y="37984"/>
                  <a:pt x="11595" y="36628"/>
                  <a:pt x="10757" y="35790"/>
                </a:cubicBezTo>
                <a:lnTo>
                  <a:pt x="3581" y="28598"/>
                </a:lnTo>
                <a:cubicBezTo>
                  <a:pt x="3231" y="28263"/>
                  <a:pt x="3048" y="27806"/>
                  <a:pt x="3048" y="27318"/>
                </a:cubicBezTo>
                <a:cubicBezTo>
                  <a:pt x="3048" y="26816"/>
                  <a:pt x="3231" y="26359"/>
                  <a:pt x="3581" y="26023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52"/>
                </a:lnTo>
                <a:cubicBezTo>
                  <a:pt x="13149" y="18741"/>
                  <a:pt x="13378" y="18207"/>
                  <a:pt x="13378" y="17628"/>
                </a:cubicBezTo>
                <a:cubicBezTo>
                  <a:pt x="13378" y="17049"/>
                  <a:pt x="13149" y="16516"/>
                  <a:pt x="12753" y="16105"/>
                </a:cubicBezTo>
                <a:cubicBezTo>
                  <a:pt x="12037" y="15404"/>
                  <a:pt x="12037" y="14246"/>
                  <a:pt x="12753" y="13515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7" y="11595"/>
                  <a:pt x="16395" y="11793"/>
                  <a:pt x="16730" y="12128"/>
                </a:cubicBezTo>
                <a:lnTo>
                  <a:pt x="19106" y="14505"/>
                </a:lnTo>
                <a:cubicBezTo>
                  <a:pt x="19525" y="14924"/>
                  <a:pt x="20074" y="15133"/>
                  <a:pt x="20622" y="15133"/>
                </a:cubicBezTo>
                <a:cubicBezTo>
                  <a:pt x="21171" y="15133"/>
                  <a:pt x="21719" y="14924"/>
                  <a:pt x="22138" y="14505"/>
                </a:cubicBezTo>
                <a:lnTo>
                  <a:pt x="23296" y="13347"/>
                </a:lnTo>
                <a:cubicBezTo>
                  <a:pt x="23708" y="12936"/>
                  <a:pt x="23936" y="12402"/>
                  <a:pt x="23936" y="11823"/>
                </a:cubicBezTo>
                <a:cubicBezTo>
                  <a:pt x="23936" y="11229"/>
                  <a:pt x="23708" y="10696"/>
                  <a:pt x="23296" y="10300"/>
                </a:cubicBezTo>
                <a:lnTo>
                  <a:pt x="12997" y="0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392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7"/>
          <p:cNvGrpSpPr/>
          <p:nvPr/>
        </p:nvGrpSpPr>
        <p:grpSpPr>
          <a:xfrm>
            <a:off x="9808800" y="5221734"/>
            <a:ext cx="776067" cy="776567"/>
            <a:chOff x="959750" y="3039275"/>
            <a:chExt cx="582050" cy="582425"/>
          </a:xfrm>
        </p:grpSpPr>
        <p:sp>
          <p:nvSpPr>
            <p:cNvPr id="167" name="Google Shape;167;p7"/>
            <p:cNvSpPr/>
            <p:nvPr/>
          </p:nvSpPr>
          <p:spPr>
            <a:xfrm>
              <a:off x="959750" y="3498275"/>
              <a:ext cx="123450" cy="123425"/>
            </a:xfrm>
            <a:custGeom>
              <a:rect b="b" l="l" r="r" t="t"/>
              <a:pathLst>
                <a:path extrusionOk="0" h="4937" w="4938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7"/>
            <p:cNvSpPr/>
            <p:nvPr/>
          </p:nvSpPr>
          <p:spPr>
            <a:xfrm>
              <a:off x="1035950" y="3421700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7"/>
            <p:cNvSpPr/>
            <p:nvPr/>
          </p:nvSpPr>
          <p:spPr>
            <a:xfrm>
              <a:off x="1112500" y="3345525"/>
              <a:ext cx="123825" cy="123450"/>
            </a:xfrm>
            <a:custGeom>
              <a:rect b="b" l="l" r="r" t="t"/>
              <a:pathLst>
                <a:path extrusionOk="0" h="4938" w="4953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1188675" y="3268975"/>
              <a:ext cx="123825" cy="123425"/>
            </a:xfrm>
            <a:custGeom>
              <a:rect b="b" l="l" r="r" t="t"/>
              <a:pathLst>
                <a:path extrusionOk="0" h="4937" w="4953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1265625" y="3192800"/>
              <a:ext cx="123425" cy="123425"/>
            </a:xfrm>
            <a:custGeom>
              <a:rect b="b" l="l" r="r" t="t"/>
              <a:pathLst>
                <a:path extrusionOk="0" h="4937" w="4937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1341800" y="3116225"/>
              <a:ext cx="123450" cy="123450"/>
            </a:xfrm>
            <a:custGeom>
              <a:rect b="b" l="l" r="r" t="t"/>
              <a:pathLst>
                <a:path extrusionOk="0" h="4938" w="4938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7"/>
            <p:cNvSpPr/>
            <p:nvPr/>
          </p:nvSpPr>
          <p:spPr>
            <a:xfrm>
              <a:off x="1418375" y="3039275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p7"/>
          <p:cNvSpPr/>
          <p:nvPr/>
        </p:nvSpPr>
        <p:spPr>
          <a:xfrm>
            <a:off x="11342634" y="4052934"/>
            <a:ext cx="641191" cy="634437"/>
          </a:xfrm>
          <a:custGeom>
            <a:rect b="b" l="l" r="r" t="t"/>
            <a:pathLst>
              <a:path extrusionOk="0" h="35790" w="36171">
                <a:moveTo>
                  <a:pt x="34030" y="1"/>
                </a:moveTo>
                <a:cubicBezTo>
                  <a:pt x="33531" y="1"/>
                  <a:pt x="33032" y="191"/>
                  <a:pt x="32651" y="572"/>
                </a:cubicBezTo>
                <a:cubicBezTo>
                  <a:pt x="31890" y="1334"/>
                  <a:pt x="31890" y="2568"/>
                  <a:pt x="32651" y="3330"/>
                </a:cubicBezTo>
                <a:cubicBezTo>
                  <a:pt x="33032" y="3711"/>
                  <a:pt x="33531" y="3901"/>
                  <a:pt x="34030" y="3901"/>
                </a:cubicBezTo>
                <a:cubicBezTo>
                  <a:pt x="34529" y="3901"/>
                  <a:pt x="35028" y="3711"/>
                  <a:pt x="35409" y="3330"/>
                </a:cubicBezTo>
                <a:cubicBezTo>
                  <a:pt x="36171" y="2568"/>
                  <a:pt x="36171" y="1334"/>
                  <a:pt x="35409" y="572"/>
                </a:cubicBezTo>
                <a:cubicBezTo>
                  <a:pt x="35028" y="191"/>
                  <a:pt x="34529" y="1"/>
                  <a:pt x="34030" y="1"/>
                </a:cubicBezTo>
                <a:close/>
                <a:moveTo>
                  <a:pt x="27662" y="6385"/>
                </a:moveTo>
                <a:cubicBezTo>
                  <a:pt x="27163" y="6385"/>
                  <a:pt x="26664" y="6575"/>
                  <a:pt x="26283" y="6956"/>
                </a:cubicBezTo>
                <a:cubicBezTo>
                  <a:pt x="25521" y="7718"/>
                  <a:pt x="25521" y="8952"/>
                  <a:pt x="26283" y="9714"/>
                </a:cubicBezTo>
                <a:cubicBezTo>
                  <a:pt x="26664" y="10095"/>
                  <a:pt x="27163" y="10285"/>
                  <a:pt x="27662" y="10285"/>
                </a:cubicBezTo>
                <a:cubicBezTo>
                  <a:pt x="28161" y="10285"/>
                  <a:pt x="28660" y="10095"/>
                  <a:pt x="29040" y="9714"/>
                </a:cubicBezTo>
                <a:cubicBezTo>
                  <a:pt x="29802" y="8952"/>
                  <a:pt x="29802" y="7718"/>
                  <a:pt x="29040" y="6956"/>
                </a:cubicBezTo>
                <a:cubicBezTo>
                  <a:pt x="28660" y="6575"/>
                  <a:pt x="28161" y="6385"/>
                  <a:pt x="27662" y="6385"/>
                </a:cubicBezTo>
                <a:close/>
                <a:moveTo>
                  <a:pt x="21285" y="12753"/>
                </a:moveTo>
                <a:cubicBezTo>
                  <a:pt x="20783" y="12753"/>
                  <a:pt x="20280" y="12944"/>
                  <a:pt x="19899" y="13325"/>
                </a:cubicBezTo>
                <a:cubicBezTo>
                  <a:pt x="19137" y="14086"/>
                  <a:pt x="19137" y="15336"/>
                  <a:pt x="19899" y="16097"/>
                </a:cubicBezTo>
                <a:cubicBezTo>
                  <a:pt x="20280" y="16478"/>
                  <a:pt x="20783" y="16669"/>
                  <a:pt x="21285" y="16669"/>
                </a:cubicBezTo>
                <a:cubicBezTo>
                  <a:pt x="21788" y="16669"/>
                  <a:pt x="22291" y="16478"/>
                  <a:pt x="22672" y="16097"/>
                </a:cubicBezTo>
                <a:cubicBezTo>
                  <a:pt x="23434" y="15336"/>
                  <a:pt x="23434" y="14086"/>
                  <a:pt x="22672" y="13325"/>
                </a:cubicBezTo>
                <a:cubicBezTo>
                  <a:pt x="22291" y="12944"/>
                  <a:pt x="21788" y="12753"/>
                  <a:pt x="21285" y="12753"/>
                </a:cubicBezTo>
                <a:close/>
                <a:moveTo>
                  <a:pt x="14917" y="19128"/>
                </a:moveTo>
                <a:cubicBezTo>
                  <a:pt x="14415" y="19128"/>
                  <a:pt x="13913" y="19318"/>
                  <a:pt x="13530" y="19693"/>
                </a:cubicBezTo>
                <a:cubicBezTo>
                  <a:pt x="12768" y="20455"/>
                  <a:pt x="12768" y="21689"/>
                  <a:pt x="13530" y="22451"/>
                </a:cubicBezTo>
                <a:cubicBezTo>
                  <a:pt x="13911" y="22832"/>
                  <a:pt x="14410" y="23022"/>
                  <a:pt x="14909" y="23022"/>
                </a:cubicBezTo>
                <a:cubicBezTo>
                  <a:pt x="15408" y="23022"/>
                  <a:pt x="15907" y="22832"/>
                  <a:pt x="16288" y="22451"/>
                </a:cubicBezTo>
                <a:cubicBezTo>
                  <a:pt x="17050" y="21689"/>
                  <a:pt x="17050" y="20455"/>
                  <a:pt x="16288" y="19693"/>
                </a:cubicBezTo>
                <a:cubicBezTo>
                  <a:pt x="15909" y="19314"/>
                  <a:pt x="15413" y="19128"/>
                  <a:pt x="14917" y="19128"/>
                </a:cubicBezTo>
                <a:close/>
                <a:moveTo>
                  <a:pt x="8525" y="25506"/>
                </a:moveTo>
                <a:cubicBezTo>
                  <a:pt x="8026" y="25506"/>
                  <a:pt x="7527" y="25696"/>
                  <a:pt x="7146" y="26077"/>
                </a:cubicBezTo>
                <a:cubicBezTo>
                  <a:pt x="6385" y="26839"/>
                  <a:pt x="6385" y="28073"/>
                  <a:pt x="7146" y="28835"/>
                </a:cubicBezTo>
                <a:cubicBezTo>
                  <a:pt x="7527" y="29216"/>
                  <a:pt x="8026" y="29406"/>
                  <a:pt x="8525" y="29406"/>
                </a:cubicBezTo>
                <a:cubicBezTo>
                  <a:pt x="9024" y="29406"/>
                  <a:pt x="9523" y="29216"/>
                  <a:pt x="9904" y="28835"/>
                </a:cubicBezTo>
                <a:cubicBezTo>
                  <a:pt x="10666" y="28073"/>
                  <a:pt x="10666" y="26839"/>
                  <a:pt x="9904" y="26077"/>
                </a:cubicBezTo>
                <a:cubicBezTo>
                  <a:pt x="9523" y="25696"/>
                  <a:pt x="9024" y="25506"/>
                  <a:pt x="8525" y="25506"/>
                </a:cubicBezTo>
                <a:close/>
                <a:moveTo>
                  <a:pt x="2141" y="31874"/>
                </a:moveTo>
                <a:cubicBezTo>
                  <a:pt x="1642" y="31874"/>
                  <a:pt x="1143" y="32065"/>
                  <a:pt x="763" y="32446"/>
                </a:cubicBezTo>
                <a:cubicBezTo>
                  <a:pt x="1" y="33207"/>
                  <a:pt x="1" y="34457"/>
                  <a:pt x="763" y="35219"/>
                </a:cubicBezTo>
                <a:cubicBezTo>
                  <a:pt x="1143" y="35599"/>
                  <a:pt x="1642" y="35790"/>
                  <a:pt x="2141" y="35790"/>
                </a:cubicBezTo>
                <a:cubicBezTo>
                  <a:pt x="2640" y="35790"/>
                  <a:pt x="3139" y="35599"/>
                  <a:pt x="3520" y="35219"/>
                </a:cubicBezTo>
                <a:cubicBezTo>
                  <a:pt x="4282" y="34457"/>
                  <a:pt x="4282" y="33207"/>
                  <a:pt x="3520" y="32446"/>
                </a:cubicBezTo>
                <a:cubicBezTo>
                  <a:pt x="3139" y="32065"/>
                  <a:pt x="2640" y="31874"/>
                  <a:pt x="2141" y="31874"/>
                </a:cubicBezTo>
                <a:close/>
              </a:path>
            </a:pathLst>
          </a:custGeom>
          <a:gradFill>
            <a:gsLst>
              <a:gs pos="0">
                <a:srgbClr val="EB9109">
                  <a:alpha val="46666"/>
                </a:srgbClr>
              </a:gs>
              <a:gs pos="78000">
                <a:srgbClr val="F5F8FF">
                  <a:alpha val="46666"/>
                </a:srgbClr>
              </a:gs>
              <a:gs pos="100000">
                <a:srgbClr val="F5F8FF">
                  <a:alpha val="46666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" name="Google Shape;175;p7"/>
          <p:cNvGrpSpPr/>
          <p:nvPr/>
        </p:nvGrpSpPr>
        <p:grpSpPr>
          <a:xfrm>
            <a:off x="11218683" y="4918944"/>
            <a:ext cx="933237" cy="2201365"/>
            <a:chOff x="8337812" y="3492483"/>
            <a:chExt cx="699928" cy="1651024"/>
          </a:xfrm>
        </p:grpSpPr>
        <p:sp>
          <p:nvSpPr>
            <p:cNvPr id="176" name="Google Shape;176;p7"/>
            <p:cNvSpPr/>
            <p:nvPr/>
          </p:nvSpPr>
          <p:spPr>
            <a:xfrm>
              <a:off x="8337812" y="3492483"/>
              <a:ext cx="483116" cy="1013645"/>
            </a:xfrm>
            <a:custGeom>
              <a:rect b="b" l="l" r="r" t="t"/>
              <a:pathLst>
                <a:path extrusionOk="0" h="24714" w="11779">
                  <a:moveTo>
                    <a:pt x="6735" y="1"/>
                  </a:moveTo>
                  <a:lnTo>
                    <a:pt x="1" y="6750"/>
                  </a:lnTo>
                  <a:lnTo>
                    <a:pt x="229" y="6964"/>
                  </a:lnTo>
                  <a:lnTo>
                    <a:pt x="6415" y="763"/>
                  </a:lnTo>
                  <a:lnTo>
                    <a:pt x="6415" y="13165"/>
                  </a:lnTo>
                  <a:lnTo>
                    <a:pt x="11458" y="13165"/>
                  </a:lnTo>
                  <a:lnTo>
                    <a:pt x="11458" y="24713"/>
                  </a:lnTo>
                  <a:lnTo>
                    <a:pt x="11778" y="24713"/>
                  </a:lnTo>
                  <a:lnTo>
                    <a:pt x="11778" y="12860"/>
                  </a:lnTo>
                  <a:lnTo>
                    <a:pt x="6735" y="12860"/>
                  </a:lnTo>
                  <a:lnTo>
                    <a:pt x="6735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7"/>
            <p:cNvSpPr/>
            <p:nvPr/>
          </p:nvSpPr>
          <p:spPr>
            <a:xfrm>
              <a:off x="8698380" y="3916789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6"/>
                  </a:lnTo>
                  <a:lnTo>
                    <a:pt x="5699" y="306"/>
                  </a:lnTo>
                  <a:lnTo>
                    <a:pt x="5699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7"/>
            <p:cNvSpPr/>
            <p:nvPr/>
          </p:nvSpPr>
          <p:spPr>
            <a:xfrm>
              <a:off x="8790871" y="3823684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5"/>
                  </a:lnTo>
                  <a:lnTo>
                    <a:pt x="5714" y="305"/>
                  </a:lnTo>
                  <a:lnTo>
                    <a:pt x="5714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" name="Google Shape;179;p7"/>
          <p:cNvGrpSpPr/>
          <p:nvPr/>
        </p:nvGrpSpPr>
        <p:grpSpPr>
          <a:xfrm>
            <a:off x="10695234" y="5998301"/>
            <a:ext cx="1206221" cy="968161"/>
            <a:chOff x="7945225" y="4302000"/>
            <a:chExt cx="904666" cy="726121"/>
          </a:xfrm>
        </p:grpSpPr>
        <p:sp>
          <p:nvSpPr>
            <p:cNvPr id="180" name="Google Shape;180;p7"/>
            <p:cNvSpPr/>
            <p:nvPr/>
          </p:nvSpPr>
          <p:spPr>
            <a:xfrm>
              <a:off x="8176775" y="4445200"/>
              <a:ext cx="673116" cy="582921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8164350" y="43020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7945225" y="44452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" name="Google Shape;183;p7"/>
          <p:cNvGrpSpPr/>
          <p:nvPr/>
        </p:nvGrpSpPr>
        <p:grpSpPr>
          <a:xfrm>
            <a:off x="-413180" y="4823208"/>
            <a:ext cx="1931765" cy="2985073"/>
            <a:chOff x="-309885" y="3617406"/>
            <a:chExt cx="1448824" cy="2238805"/>
          </a:xfrm>
        </p:grpSpPr>
        <p:grpSp>
          <p:nvGrpSpPr>
            <p:cNvPr id="184" name="Google Shape;184;p7"/>
            <p:cNvGrpSpPr/>
            <p:nvPr/>
          </p:nvGrpSpPr>
          <p:grpSpPr>
            <a:xfrm>
              <a:off x="-277007" y="3870159"/>
              <a:ext cx="981772" cy="1986052"/>
              <a:chOff x="-293545" y="3454371"/>
              <a:chExt cx="981772" cy="1986052"/>
            </a:xfrm>
          </p:grpSpPr>
          <p:sp>
            <p:nvSpPr>
              <p:cNvPr id="185" name="Google Shape;185;p7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7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7" name="Google Shape;187;p7"/>
            <p:cNvGrpSpPr/>
            <p:nvPr/>
          </p:nvGrpSpPr>
          <p:grpSpPr>
            <a:xfrm>
              <a:off x="363249" y="4906873"/>
              <a:ext cx="699940" cy="478601"/>
              <a:chOff x="39723" y="4349021"/>
              <a:chExt cx="1061964" cy="726143"/>
            </a:xfrm>
          </p:grpSpPr>
          <p:grpSp>
            <p:nvGrpSpPr>
              <p:cNvPr id="188" name="Google Shape;188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89" name="Google Shape;189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90" name="Google Shape;190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91" name="Google Shape;191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2" name="Google Shape;192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3" name="Google Shape;193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4" name="Google Shape;194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5" name="Google Shape;195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96" name="Google Shape;196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7" name="Google Shape;197;p7"/>
            <p:cNvGrpSpPr/>
            <p:nvPr/>
          </p:nvGrpSpPr>
          <p:grpSpPr>
            <a:xfrm rot="-5400000">
              <a:off x="-461872" y="3769394"/>
              <a:ext cx="1351491" cy="1047516"/>
              <a:chOff x="-2460210" y="2758494"/>
              <a:chExt cx="1351491" cy="1047516"/>
            </a:xfrm>
          </p:grpSpPr>
          <p:sp>
            <p:nvSpPr>
              <p:cNvPr id="198" name="Google Shape;198;p7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7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7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7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2" name="Google Shape;202;p7"/>
            <p:cNvGrpSpPr/>
            <p:nvPr/>
          </p:nvGrpSpPr>
          <p:grpSpPr>
            <a:xfrm>
              <a:off x="438999" y="4567398"/>
              <a:ext cx="699940" cy="478601"/>
              <a:chOff x="39723" y="4349021"/>
              <a:chExt cx="1061964" cy="726143"/>
            </a:xfrm>
          </p:grpSpPr>
          <p:grpSp>
            <p:nvGrpSpPr>
              <p:cNvPr id="203" name="Google Shape;203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04" name="Google Shape;204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5" name="Google Shape;205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06" name="Google Shape;206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7" name="Google Shape;207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8" name="Google Shape;208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9" name="Google Shape;209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0" name="Google Shape;210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11" name="Google Shape;211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2" name="Google Shape;212;p7"/>
            <p:cNvGrpSpPr/>
            <p:nvPr/>
          </p:nvGrpSpPr>
          <p:grpSpPr>
            <a:xfrm>
              <a:off x="-65076" y="4623886"/>
              <a:ext cx="699940" cy="478601"/>
              <a:chOff x="39723" y="4349021"/>
              <a:chExt cx="1061964" cy="726143"/>
            </a:xfrm>
          </p:grpSpPr>
          <p:grpSp>
            <p:nvGrpSpPr>
              <p:cNvPr id="213" name="Google Shape;213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14" name="Google Shape;214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15" name="Google Shape;215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16" name="Google Shape;216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7" name="Google Shape;217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8" name="Google Shape;218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9" name="Google Shape;219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0" name="Google Shape;220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21" name="Google Shape;221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22" name="Google Shape;222;p7"/>
          <p:cNvPicPr preferRelativeResize="0"/>
          <p:nvPr/>
        </p:nvPicPr>
        <p:blipFill rotWithShape="1">
          <a:blip r:embed="rId3">
            <a:alphaModFix/>
          </a:blip>
          <a:srcRect b="17662" l="0" r="0" t="17657"/>
          <a:stretch/>
        </p:blipFill>
        <p:spPr>
          <a:xfrm rot="-7778255">
            <a:off x="-3534446" y="-1919228"/>
            <a:ext cx="7140905" cy="5450109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/>
          <p:cNvSpPr/>
          <p:nvPr>
            <p:ph idx="2" type="pic"/>
          </p:nvPr>
        </p:nvSpPr>
        <p:spPr>
          <a:xfrm>
            <a:off x="5841479" y="953468"/>
            <a:ext cx="4868084" cy="495106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26" name="Google Shape;22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" name="Google Shape;227;p8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228" name="Google Shape;228;p8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229" name="Google Shape;229;p8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8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1" name="Google Shape;231;p8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232" name="Google Shape;232;p8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8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4" name="Google Shape;234;p8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235" name="Google Shape;235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36" name="Google Shape;236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37" name="Google Shape;237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38" name="Google Shape;238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9" name="Google Shape;239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0" name="Google Shape;240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1" name="Google Shape;241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2" name="Google Shape;242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43" name="Google Shape;243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4" name="Google Shape;244;p8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245" name="Google Shape;245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46" name="Google Shape;246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47" name="Google Shape;247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48" name="Google Shape;248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9" name="Google Shape;249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0" name="Google Shape;250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1" name="Google Shape;251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2" name="Google Shape;252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53" name="Google Shape;253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4" name="Google Shape;254;p8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255" name="Google Shape;255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56" name="Google Shape;256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57" name="Google Shape;257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58" name="Google Shape;258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9" name="Google Shape;259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0" name="Google Shape;260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1" name="Google Shape;261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2" name="Google Shape;262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63" name="Google Shape;263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4" name="Google Shape;264;p8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265" name="Google Shape;265;p8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8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8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8" name="Google Shape;268;p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"/>
          <p:cNvSpPr/>
          <p:nvPr>
            <p:ph idx="2" type="pic"/>
          </p:nvPr>
        </p:nvSpPr>
        <p:spPr>
          <a:xfrm>
            <a:off x="4310745" y="2238827"/>
            <a:ext cx="4920335" cy="32982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71" name="Google Shape;27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2" name="Google Shape;272;p9"/>
          <p:cNvGrpSpPr/>
          <p:nvPr/>
        </p:nvGrpSpPr>
        <p:grpSpPr>
          <a:xfrm>
            <a:off x="-1607561" y="-3646040"/>
            <a:ext cx="10823409" cy="7799545"/>
            <a:chOff x="-1180406" y="-2565680"/>
            <a:chExt cx="8117556" cy="5849659"/>
          </a:xfrm>
        </p:grpSpPr>
        <p:sp>
          <p:nvSpPr>
            <p:cNvPr id="273" name="Google Shape;273;p9"/>
            <p:cNvSpPr/>
            <p:nvPr/>
          </p:nvSpPr>
          <p:spPr>
            <a:xfrm rot="10221728">
              <a:off x="-981122" y="-549008"/>
              <a:ext cx="3045481" cy="263739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9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9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9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9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9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9" name="Google Shape;279;p9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280" name="Google Shape;280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2" name="Google Shape;282;p9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83" name="Google Shape;283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5" name="Google Shape;285;p9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86" name="Google Shape;286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8" name="Google Shape;288;p9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9" name="Google Shape;289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1" name="Google Shape;291;p9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292" name="Google Shape;292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94" name="Google Shape;294;p9"/>
          <p:cNvPicPr preferRelativeResize="0"/>
          <p:nvPr/>
        </p:nvPicPr>
        <p:blipFill rotWithShape="1">
          <a:blip r:embed="rId3">
            <a:alphaModFix/>
          </a:blip>
          <a:srcRect b="17662" l="0" r="0" t="17657"/>
          <a:stretch/>
        </p:blipFill>
        <p:spPr>
          <a:xfrm rot="-7778255">
            <a:off x="-3534446" y="-1919228"/>
            <a:ext cx="7140905" cy="5450109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0"/>
          <p:cNvSpPr/>
          <p:nvPr>
            <p:ph idx="2" type="pic"/>
          </p:nvPr>
        </p:nvSpPr>
        <p:spPr>
          <a:xfrm>
            <a:off x="610699" y="0"/>
            <a:ext cx="3680335" cy="398246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98" name="Google Shape;298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" name="Google Shape;299;p10"/>
          <p:cNvGrpSpPr/>
          <p:nvPr/>
        </p:nvGrpSpPr>
        <p:grpSpPr>
          <a:xfrm>
            <a:off x="-693530" y="-764219"/>
            <a:ext cx="2003055" cy="3742456"/>
            <a:chOff x="-367748" y="-573164"/>
            <a:chExt cx="1502291" cy="2806842"/>
          </a:xfrm>
        </p:grpSpPr>
        <p:grpSp>
          <p:nvGrpSpPr>
            <p:cNvPr id="300" name="Google Shape;300;p10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301" name="Google Shape;301;p1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5882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1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1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4" name="Google Shape;304;p10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196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0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196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6" name="Google Shape;306;p10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307" name="Google Shape;307;p10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10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10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10" name="Google Shape;310;p1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"/>
          <p:cNvSpPr/>
          <p:nvPr>
            <p:ph idx="2" type="pic"/>
          </p:nvPr>
        </p:nvSpPr>
        <p:spPr>
          <a:xfrm>
            <a:off x="727217" y="622898"/>
            <a:ext cx="8333385" cy="287014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13" name="Google Shape;31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12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318" name="Google Shape;318;p12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319" name="Google Shape;319;p12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12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1" name="Google Shape;321;p12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322" name="Google Shape;322;p12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12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4" name="Google Shape;324;p12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325" name="Google Shape;325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26" name="Google Shape;326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27" name="Google Shape;327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28" name="Google Shape;328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9" name="Google Shape;329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0" name="Google Shape;330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1" name="Google Shape;331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2" name="Google Shape;332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33" name="Google Shape;333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4" name="Google Shape;334;p12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335" name="Google Shape;335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36" name="Google Shape;336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37" name="Google Shape;337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38" name="Google Shape;338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9" name="Google Shape;339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0" name="Google Shape;340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1" name="Google Shape;341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2" name="Google Shape;342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43" name="Google Shape;343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4" name="Google Shape;344;p12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345" name="Google Shape;345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46" name="Google Shape;346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47" name="Google Shape;347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48" name="Google Shape;348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9" name="Google Shape;349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0" name="Google Shape;350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1" name="Google Shape;351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2" name="Google Shape;352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53" name="Google Shape;353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4" name="Google Shape;354;p12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355" name="Google Shape;355;p12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12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12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8" name="Google Shape;358;p1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3"/>
          <p:cNvSpPr/>
          <p:nvPr>
            <p:ph idx="2" type="pic"/>
          </p:nvPr>
        </p:nvSpPr>
        <p:spPr>
          <a:xfrm>
            <a:off x="0" y="3061252"/>
            <a:ext cx="2969753" cy="37967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61" name="Google Shape;361;p13"/>
          <p:cNvSpPr/>
          <p:nvPr>
            <p:ph idx="3" type="pic"/>
          </p:nvPr>
        </p:nvSpPr>
        <p:spPr>
          <a:xfrm>
            <a:off x="6870763" y="-3517"/>
            <a:ext cx="3838800" cy="31629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62" name="Google Shape;36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"/>
          <p:cNvSpPr/>
          <p:nvPr>
            <p:ph idx="2" type="pic"/>
          </p:nvPr>
        </p:nvSpPr>
        <p:spPr>
          <a:xfrm>
            <a:off x="6524779" y="742950"/>
            <a:ext cx="3488597" cy="43092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66" name="Google Shape;36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7" name="Google Shape;367;p14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368" name="Google Shape;368;p14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369" name="Google Shape;369;p1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1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1" name="Google Shape;371;p14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372" name="Google Shape;372;p1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1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4" name="Google Shape;374;p14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375" name="Google Shape;375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76" name="Google Shape;376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77" name="Google Shape;377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78" name="Google Shape;378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9" name="Google Shape;379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0" name="Google Shape;380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1" name="Google Shape;381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2" name="Google Shape;382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83" name="Google Shape;383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4" name="Google Shape;384;p14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385" name="Google Shape;385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86" name="Google Shape;386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7" name="Google Shape;387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88" name="Google Shape;388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9" name="Google Shape;389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0" name="Google Shape;390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1" name="Google Shape;391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2" name="Google Shape;392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93" name="Google Shape;393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4" name="Google Shape;394;p14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395" name="Google Shape;395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96" name="Google Shape;396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97" name="Google Shape;397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98" name="Google Shape;398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9" name="Google Shape;399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0" name="Google Shape;400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1" name="Google Shape;401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2" name="Google Shape;402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03" name="Google Shape;403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4" name="Google Shape;404;p14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405" name="Google Shape;405;p1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1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1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8" name="Google Shape;408;p1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5"/>
          <p:cNvSpPr/>
          <p:nvPr>
            <p:ph idx="2" type="pic"/>
          </p:nvPr>
        </p:nvSpPr>
        <p:spPr>
          <a:xfrm>
            <a:off x="-1" y="622897"/>
            <a:ext cx="9337882" cy="219703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11" name="Google Shape;41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"/>
          <p:cNvSpPr/>
          <p:nvPr>
            <p:ph idx="2" type="pic"/>
          </p:nvPr>
        </p:nvSpPr>
        <p:spPr>
          <a:xfrm>
            <a:off x="1481266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5" name="Google Shape;415;p16"/>
          <p:cNvSpPr/>
          <p:nvPr>
            <p:ph idx="3" type="pic"/>
          </p:nvPr>
        </p:nvSpPr>
        <p:spPr>
          <a:xfrm>
            <a:off x="4169396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6" name="Google Shape;416;p16"/>
          <p:cNvSpPr/>
          <p:nvPr>
            <p:ph idx="4" type="pic"/>
          </p:nvPr>
        </p:nvSpPr>
        <p:spPr>
          <a:xfrm>
            <a:off x="6857527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17" name="Google Shape;41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Custom Layout">
  <p:cSld name="14_Custom Layout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7"/>
          <p:cNvSpPr/>
          <p:nvPr>
            <p:ph idx="2" type="pic"/>
          </p:nvPr>
        </p:nvSpPr>
        <p:spPr>
          <a:xfrm>
            <a:off x="5653560" y="672033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1" name="Google Shape;421;p17"/>
          <p:cNvSpPr/>
          <p:nvPr>
            <p:ph idx="3" type="pic"/>
          </p:nvPr>
        </p:nvSpPr>
        <p:spPr>
          <a:xfrm>
            <a:off x="5653560" y="2583602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2" name="Google Shape;422;p17"/>
          <p:cNvSpPr/>
          <p:nvPr>
            <p:ph idx="4" type="pic"/>
          </p:nvPr>
        </p:nvSpPr>
        <p:spPr>
          <a:xfrm>
            <a:off x="5653560" y="4495171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23" name="Google Shape;42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ustom Layout">
  <p:cSld name="15_Custom Layout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8"/>
          <p:cNvSpPr/>
          <p:nvPr>
            <p:ph idx="2" type="pic"/>
          </p:nvPr>
        </p:nvSpPr>
        <p:spPr>
          <a:xfrm>
            <a:off x="8231618" y="728382"/>
            <a:ext cx="2099690" cy="20996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7" name="Google Shape;427;p18"/>
          <p:cNvSpPr/>
          <p:nvPr>
            <p:ph idx="3" type="pic"/>
          </p:nvPr>
        </p:nvSpPr>
        <p:spPr>
          <a:xfrm>
            <a:off x="5935846" y="728382"/>
            <a:ext cx="2099690" cy="20996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8" name="Google Shape;428;p18"/>
          <p:cNvSpPr/>
          <p:nvPr>
            <p:ph idx="4" type="pic"/>
          </p:nvPr>
        </p:nvSpPr>
        <p:spPr>
          <a:xfrm>
            <a:off x="-1" y="3366773"/>
            <a:ext cx="4525530" cy="243547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29" name="Google Shape;42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Custom Layout">
  <p:cSld name="16_Custom Layout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9"/>
          <p:cNvSpPr/>
          <p:nvPr>
            <p:ph idx="2" type="pic"/>
          </p:nvPr>
        </p:nvSpPr>
        <p:spPr>
          <a:xfrm>
            <a:off x="889964" y="1372128"/>
            <a:ext cx="2137654" cy="41137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33" name="Google Shape;433;p19"/>
          <p:cNvSpPr/>
          <p:nvPr>
            <p:ph idx="3" type="pic"/>
          </p:nvPr>
        </p:nvSpPr>
        <p:spPr>
          <a:xfrm>
            <a:off x="3210142" y="1372128"/>
            <a:ext cx="2137654" cy="41137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34" name="Google Shape;434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1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Custom Layout">
  <p:cSld name="17_Custom Layout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0"/>
          <p:cNvSpPr/>
          <p:nvPr>
            <p:ph idx="2" type="pic"/>
          </p:nvPr>
        </p:nvSpPr>
        <p:spPr>
          <a:xfrm>
            <a:off x="6896192" y="1655804"/>
            <a:ext cx="2800470" cy="52021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38" name="Google Shape;43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1"/>
          <p:cNvSpPr/>
          <p:nvPr>
            <p:ph idx="2" type="pic"/>
          </p:nvPr>
        </p:nvSpPr>
        <p:spPr>
          <a:xfrm>
            <a:off x="1179006" y="1014481"/>
            <a:ext cx="2768300" cy="412251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42" name="Google Shape;44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Custom Layout">
  <p:cSld name="19_Custom Layout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2"/>
          <p:cNvSpPr/>
          <p:nvPr>
            <p:ph idx="2" type="pic"/>
          </p:nvPr>
        </p:nvSpPr>
        <p:spPr>
          <a:xfrm>
            <a:off x="4930282" y="1031838"/>
            <a:ext cx="5779279" cy="293482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46" name="Google Shape;446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Custom Layout">
  <p:cSld name="20_Custom Layout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3"/>
          <p:cNvSpPr/>
          <p:nvPr>
            <p:ph idx="2" type="pic"/>
          </p:nvPr>
        </p:nvSpPr>
        <p:spPr>
          <a:xfrm>
            <a:off x="3220234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0" name="Google Shape;450;p23"/>
          <p:cNvSpPr/>
          <p:nvPr>
            <p:ph idx="3" type="pic"/>
          </p:nvPr>
        </p:nvSpPr>
        <p:spPr>
          <a:xfrm>
            <a:off x="5712651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1" name="Google Shape;451;p23"/>
          <p:cNvSpPr/>
          <p:nvPr>
            <p:ph idx="4" type="pic"/>
          </p:nvPr>
        </p:nvSpPr>
        <p:spPr>
          <a:xfrm>
            <a:off x="8205068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52" name="Google Shape;45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3" name="Google Shape;453;p23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454" name="Google Shape;454;p23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455" name="Google Shape;455;p2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2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7" name="Google Shape;457;p2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458" name="Google Shape;458;p2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2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0" name="Google Shape;460;p23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461" name="Google Shape;461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62" name="Google Shape;462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63" name="Google Shape;463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64" name="Google Shape;464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5" name="Google Shape;465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6" name="Google Shape;466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7" name="Google Shape;46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8" name="Google Shape;468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69" name="Google Shape;469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0" name="Google Shape;470;p23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471" name="Google Shape;471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72" name="Google Shape;472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73" name="Google Shape;473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74" name="Google Shape;474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" name="Google Shape;475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6" name="Google Shape;476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7" name="Google Shape;47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8" name="Google Shape;478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79" name="Google Shape;479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0" name="Google Shape;480;p23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481" name="Google Shape;481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82" name="Google Shape;482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83" name="Google Shape;483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84" name="Google Shape;484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5" name="Google Shape;485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6" name="Google Shape;486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7" name="Google Shape;48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8" name="Google Shape;488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89" name="Google Shape;489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0" name="Google Shape;490;p2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491" name="Google Shape;491;p2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2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2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94" name="Google Shape;494;p2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Custom Layout">
  <p:cSld name="21_Custom Layout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4"/>
          <p:cNvSpPr/>
          <p:nvPr>
            <p:ph idx="2" type="pic"/>
          </p:nvPr>
        </p:nvSpPr>
        <p:spPr>
          <a:xfrm>
            <a:off x="1" y="833261"/>
            <a:ext cx="4270431" cy="25043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97" name="Google Shape;497;p24"/>
          <p:cNvSpPr/>
          <p:nvPr>
            <p:ph idx="3" type="pic"/>
          </p:nvPr>
        </p:nvSpPr>
        <p:spPr>
          <a:xfrm>
            <a:off x="1" y="3520340"/>
            <a:ext cx="4270431" cy="25043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98" name="Google Shape;49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2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Custom Layout">
  <p:cSld name="22_Custom Layout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5"/>
          <p:cNvSpPr/>
          <p:nvPr>
            <p:ph idx="2" type="pic"/>
          </p:nvPr>
        </p:nvSpPr>
        <p:spPr>
          <a:xfrm>
            <a:off x="7405685" y="757036"/>
            <a:ext cx="3303874" cy="2235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2" name="Google Shape;502;p25"/>
          <p:cNvSpPr/>
          <p:nvPr>
            <p:ph idx="3" type="pic"/>
          </p:nvPr>
        </p:nvSpPr>
        <p:spPr>
          <a:xfrm>
            <a:off x="4975112" y="757036"/>
            <a:ext cx="2235200" cy="2235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3" name="Google Shape;503;p25"/>
          <p:cNvSpPr/>
          <p:nvPr>
            <p:ph idx="4" type="pic"/>
          </p:nvPr>
        </p:nvSpPr>
        <p:spPr>
          <a:xfrm>
            <a:off x="1372980" y="3265714"/>
            <a:ext cx="2430322" cy="359228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04" name="Google Shape;504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2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Custom Layout">
  <p:cSld name="23_Custom Layout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6"/>
          <p:cNvSpPr/>
          <p:nvPr>
            <p:ph idx="2" type="pic"/>
          </p:nvPr>
        </p:nvSpPr>
        <p:spPr>
          <a:xfrm>
            <a:off x="945565" y="4375786"/>
            <a:ext cx="1642576" cy="16425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8" name="Google Shape;508;p26"/>
          <p:cNvSpPr/>
          <p:nvPr>
            <p:ph idx="3" type="pic"/>
          </p:nvPr>
        </p:nvSpPr>
        <p:spPr>
          <a:xfrm>
            <a:off x="6786169" y="839634"/>
            <a:ext cx="2952916" cy="517872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09" name="Google Shape;509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2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Custom Layout">
  <p:cSld name="24_Custom Layout"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7"/>
          <p:cNvSpPr/>
          <p:nvPr>
            <p:ph idx="2" type="pic"/>
          </p:nvPr>
        </p:nvSpPr>
        <p:spPr>
          <a:xfrm>
            <a:off x="6231818" y="3918532"/>
            <a:ext cx="4477745" cy="20461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3" name="Google Shape;513;p27"/>
          <p:cNvSpPr/>
          <p:nvPr>
            <p:ph idx="3" type="pic"/>
          </p:nvPr>
        </p:nvSpPr>
        <p:spPr>
          <a:xfrm>
            <a:off x="1" y="512772"/>
            <a:ext cx="5393169" cy="26934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14" name="Google Shape;514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2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Custom Layout">
  <p:cSld name="25_Custom Layout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8"/>
          <p:cNvSpPr/>
          <p:nvPr>
            <p:ph idx="2" type="pic"/>
          </p:nvPr>
        </p:nvSpPr>
        <p:spPr>
          <a:xfrm>
            <a:off x="5370288" y="616476"/>
            <a:ext cx="2965624" cy="562504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8" name="Google Shape;518;p28"/>
          <p:cNvSpPr/>
          <p:nvPr>
            <p:ph idx="3" type="pic"/>
          </p:nvPr>
        </p:nvSpPr>
        <p:spPr>
          <a:xfrm>
            <a:off x="8505736" y="616474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9" name="Google Shape;519;p28"/>
          <p:cNvSpPr/>
          <p:nvPr>
            <p:ph idx="4" type="pic"/>
          </p:nvPr>
        </p:nvSpPr>
        <p:spPr>
          <a:xfrm>
            <a:off x="8505736" y="2539633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0" name="Google Shape;520;p28"/>
          <p:cNvSpPr/>
          <p:nvPr>
            <p:ph idx="5" type="pic"/>
          </p:nvPr>
        </p:nvSpPr>
        <p:spPr>
          <a:xfrm>
            <a:off x="8505736" y="4462792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21" name="Google Shape;521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2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Custom Layout">
  <p:cSld name="26_Custom Layout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9"/>
          <p:cNvSpPr/>
          <p:nvPr>
            <p:ph idx="2" type="pic"/>
          </p:nvPr>
        </p:nvSpPr>
        <p:spPr>
          <a:xfrm>
            <a:off x="1323522" y="1123950"/>
            <a:ext cx="2120149" cy="457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5" name="Google Shape;525;p29"/>
          <p:cNvSpPr/>
          <p:nvPr>
            <p:ph idx="3" type="pic"/>
          </p:nvPr>
        </p:nvSpPr>
        <p:spPr>
          <a:xfrm>
            <a:off x="7849986" y="0"/>
            <a:ext cx="2120149" cy="297070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26" name="Google Shape;52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2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Custom Layout">
  <p:cSld name="27_Custom Layout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0"/>
          <p:cNvSpPr/>
          <p:nvPr>
            <p:ph idx="2" type="pic"/>
          </p:nvPr>
        </p:nvSpPr>
        <p:spPr>
          <a:xfrm>
            <a:off x="1451036" y="3571877"/>
            <a:ext cx="3685820" cy="233362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30" name="Google Shape;530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3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Custom Layout">
  <p:cSld name="28_Custom Layout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1"/>
          <p:cNvSpPr/>
          <p:nvPr>
            <p:ph idx="2" type="pic"/>
          </p:nvPr>
        </p:nvSpPr>
        <p:spPr>
          <a:xfrm>
            <a:off x="0" y="4094373"/>
            <a:ext cx="3536627" cy="215658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34" name="Google Shape;534;p31"/>
          <p:cNvSpPr/>
          <p:nvPr>
            <p:ph idx="3" type="pic"/>
          </p:nvPr>
        </p:nvSpPr>
        <p:spPr>
          <a:xfrm>
            <a:off x="7199085" y="1"/>
            <a:ext cx="2577954" cy="331671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35" name="Google Shape;535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2"/>
          <p:cNvSpPr txBox="1"/>
          <p:nvPr>
            <p:ph type="title"/>
          </p:nvPr>
        </p:nvSpPr>
        <p:spPr>
          <a:xfrm>
            <a:off x="960000" y="2772433"/>
            <a:ext cx="746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pic>
        <p:nvPicPr>
          <p:cNvPr id="539" name="Google Shape;539;p32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32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541" name="Google Shape;541;p3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5" name="Google Shape;545;p3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33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547" name="Google Shape;547;p3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1" name="Google Shape;551;p3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34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553" name="Google Shape;553;p3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5"/>
          <p:cNvSpPr txBox="1"/>
          <p:nvPr>
            <p:ph type="title"/>
          </p:nvPr>
        </p:nvSpPr>
        <p:spPr>
          <a:xfrm>
            <a:off x="960000" y="2772433"/>
            <a:ext cx="746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sp>
        <p:nvSpPr>
          <p:cNvPr id="556" name="Google Shape;556;p35"/>
          <p:cNvSpPr txBox="1"/>
          <p:nvPr>
            <p:ph hasCustomPrompt="1" idx="2" type="title"/>
          </p:nvPr>
        </p:nvSpPr>
        <p:spPr>
          <a:xfrm>
            <a:off x="960000" y="1367634"/>
            <a:ext cx="227010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3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9pPr>
          </a:lstStyle>
          <a:p>
            <a:r>
              <a:t>xx%</a:t>
            </a:r>
          </a:p>
        </p:txBody>
      </p:sp>
      <p:sp>
        <p:nvSpPr>
          <p:cNvPr id="557" name="Google Shape;557;p35"/>
          <p:cNvSpPr txBox="1"/>
          <p:nvPr>
            <p:ph idx="1" type="subTitle"/>
          </p:nvPr>
        </p:nvSpPr>
        <p:spPr>
          <a:xfrm>
            <a:off x="960000" y="4336500"/>
            <a:ext cx="74640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/>
        </p:txBody>
      </p:sp>
      <p:grpSp>
        <p:nvGrpSpPr>
          <p:cNvPr id="558" name="Google Shape;558;p35"/>
          <p:cNvGrpSpPr/>
          <p:nvPr/>
        </p:nvGrpSpPr>
        <p:grpSpPr>
          <a:xfrm>
            <a:off x="-718924" y="-2290580"/>
            <a:ext cx="5862778" cy="5562070"/>
            <a:chOff x="-494406" y="-1584825"/>
            <a:chExt cx="4397193" cy="4171657"/>
          </a:xfrm>
        </p:grpSpPr>
        <p:grpSp>
          <p:nvGrpSpPr>
            <p:cNvPr id="559" name="Google Shape;559;p35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560" name="Google Shape;560;p35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35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2" name="Google Shape;562;p35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563" name="Google Shape;563;p35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35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5" name="Google Shape;565;p35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566" name="Google Shape;566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67" name="Google Shape;567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68" name="Google Shape;568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69" name="Google Shape;569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0" name="Google Shape;570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1" name="Google Shape;571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2" name="Google Shape;572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3" name="Google Shape;573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74" name="Google Shape;574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75" name="Google Shape;575;p35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576" name="Google Shape;576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77" name="Google Shape;577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78" name="Google Shape;578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79" name="Google Shape;579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0" name="Google Shape;580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1" name="Google Shape;581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2" name="Google Shape;582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3" name="Google Shape;583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84" name="Google Shape;584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5" name="Google Shape;585;p35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586" name="Google Shape;586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88" name="Google Shape;588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89" name="Google Shape;589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0" name="Google Shape;590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1" name="Google Shape;591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2" name="Google Shape;592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3" name="Google Shape;593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94" name="Google Shape;594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5" name="Google Shape;595;p35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596" name="Google Shape;596;p35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35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35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99" name="Google Shape;599;p3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 1">
  <p:cSld name="4_Custom Layout_1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6"/>
          <p:cNvSpPr/>
          <p:nvPr>
            <p:ph idx="2" type="pic"/>
          </p:nvPr>
        </p:nvSpPr>
        <p:spPr>
          <a:xfrm>
            <a:off x="0" y="2670629"/>
            <a:ext cx="9243000" cy="4187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602" name="Google Shape;602;p3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3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36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605" name="Google Shape;605;p3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/>
        </p:nvSpPr>
        <p:spPr>
          <a:xfrm>
            <a:off x="205350" y="6441875"/>
            <a:ext cx="40533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4747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© </a:t>
            </a:r>
            <a:r>
              <a:rPr lang="en-US" sz="1000">
                <a:solidFill>
                  <a:srgbClr val="26262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CodeHub AI, </a:t>
            </a:r>
            <a:r>
              <a:rPr lang="en-US" sz="1000">
                <a:solidFill>
                  <a:srgbClr val="26262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all rights reserved</a:t>
            </a:r>
            <a:endParaRPr sz="1000">
              <a:solidFill>
                <a:srgbClr val="262626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" name="Google Shape;61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1323" y="760452"/>
            <a:ext cx="3742753" cy="3742753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37"/>
          <p:cNvSpPr txBox="1"/>
          <p:nvPr/>
        </p:nvSpPr>
        <p:spPr>
          <a:xfrm>
            <a:off x="3954538" y="3682248"/>
            <a:ext cx="50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rPr>
              <a:t>Generative AI </a:t>
            </a:r>
            <a:endParaRPr/>
          </a:p>
        </p:txBody>
      </p:sp>
      <p:sp>
        <p:nvSpPr>
          <p:cNvPr id="612" name="Google Shape;612;p37"/>
          <p:cNvSpPr txBox="1"/>
          <p:nvPr/>
        </p:nvSpPr>
        <p:spPr>
          <a:xfrm>
            <a:off x="4044650" y="4418675"/>
            <a:ext cx="8187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Full Stack Developer</a:t>
            </a:r>
            <a:endParaRPr sz="4800">
              <a:solidFill>
                <a:srgbClr val="7F7F7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3" name="Google Shape;613;p37"/>
          <p:cNvSpPr/>
          <p:nvPr/>
        </p:nvSpPr>
        <p:spPr>
          <a:xfrm>
            <a:off x="4080325" y="3723225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4" name="Google Shape;61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7275" y="3026375"/>
            <a:ext cx="2811375" cy="2168575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3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0" name="Google Shape;620;p38"/>
          <p:cNvGrpSpPr/>
          <p:nvPr/>
        </p:nvGrpSpPr>
        <p:grpSpPr>
          <a:xfrm>
            <a:off x="868425" y="2469824"/>
            <a:ext cx="7362900" cy="892801"/>
            <a:chOff x="800250" y="1467172"/>
            <a:chExt cx="7362900" cy="892801"/>
          </a:xfrm>
        </p:grpSpPr>
        <p:sp>
          <p:nvSpPr>
            <p:cNvPr id="621" name="Google Shape;621;p38"/>
            <p:cNvSpPr txBox="1"/>
            <p:nvPr/>
          </p:nvSpPr>
          <p:spPr>
            <a:xfrm>
              <a:off x="800250" y="1467173"/>
              <a:ext cx="7362900" cy="89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200">
                  <a:solidFill>
                    <a:schemeClr val="accent1"/>
                  </a:solidFill>
                  <a:latin typeface="Poppins"/>
                  <a:ea typeface="Poppins"/>
                  <a:cs typeface="Poppins"/>
                  <a:sym typeface="Poppins"/>
                </a:rPr>
                <a:t>Course D</a:t>
              </a:r>
              <a:r>
                <a:rPr b="1" lang="en-US" sz="5200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 : </a:t>
              </a:r>
              <a:r>
                <a:rPr b="1" lang="en-US" sz="4800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Agentic AI</a:t>
              </a:r>
              <a:endParaRPr b="1" sz="4800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22" name="Google Shape;622;p38"/>
            <p:cNvSpPr/>
            <p:nvPr/>
          </p:nvSpPr>
          <p:spPr>
            <a:xfrm>
              <a:off x="937845" y="1467172"/>
              <a:ext cx="995100" cy="105600"/>
            </a:xfrm>
            <a:prstGeom prst="roundRect">
              <a:avLst>
                <a:gd fmla="val 50000" name="adj"/>
              </a:avLst>
            </a:prstGeom>
            <a:solidFill>
              <a:srgbClr val="06B3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6B3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3" name="Google Shape;623;p38"/>
          <p:cNvSpPr txBox="1"/>
          <p:nvPr>
            <p:ph idx="12" type="sldNum"/>
          </p:nvPr>
        </p:nvSpPr>
        <p:spPr>
          <a:xfrm>
            <a:off x="11674248" y="6428527"/>
            <a:ext cx="4665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9"/>
          <p:cNvSpPr txBox="1"/>
          <p:nvPr/>
        </p:nvSpPr>
        <p:spPr>
          <a:xfrm>
            <a:off x="1121150" y="2336100"/>
            <a:ext cx="97206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b="1" sz="34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Model Context Protocol (MCP)</a:t>
            </a:r>
            <a:endParaRPr b="1" sz="3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9" name="Google Shape;629;p39"/>
          <p:cNvSpPr txBox="1"/>
          <p:nvPr>
            <p:ph idx="12" type="sldNum"/>
          </p:nvPr>
        </p:nvSpPr>
        <p:spPr>
          <a:xfrm>
            <a:off x="11676048" y="6415126"/>
            <a:ext cx="464700" cy="4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0" name="Google Shape;630;p39"/>
          <p:cNvSpPr txBox="1"/>
          <p:nvPr/>
        </p:nvSpPr>
        <p:spPr>
          <a:xfrm>
            <a:off x="1504700" y="3475200"/>
            <a:ext cx="8953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Poppins SemiBold"/>
                <a:ea typeface="Poppins SemiBold"/>
                <a:cs typeface="Poppins SemiBold"/>
                <a:sym typeface="Poppins SemiBold"/>
              </a:rPr>
              <a:t>Connecting AI to the Real World </a:t>
            </a:r>
            <a:endParaRPr sz="1800"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Standardizing the Missing Layer Between AI and Action</a:t>
            </a:r>
            <a:endParaRPr sz="180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31" name="Google Shape;631;p3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40"/>
          <p:cNvSpPr txBox="1"/>
          <p:nvPr/>
        </p:nvSpPr>
        <p:spPr>
          <a:xfrm>
            <a:off x="356875" y="350625"/>
            <a:ext cx="656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Challenge: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AI in Isolation</a:t>
            </a:r>
            <a:endParaRPr b="1" sz="2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7" name="Google Shape;637;p40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4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9" name="Google Shape;639;p40"/>
          <p:cNvSpPr txBox="1"/>
          <p:nvPr/>
        </p:nvSpPr>
        <p:spPr>
          <a:xfrm>
            <a:off x="421625" y="1843450"/>
            <a:ext cx="54234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The "Brilliant AI Assistant" Dilemma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Imagine a brilliant AI assistant that can code, analyze data, and support customers.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The Isolation Chamber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But it is locked in a room! It has no direct access to your tools, files, or databases.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Manual Handover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The AI must manually hand over everything. This is the reality for most LLMs today.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40" name="Google Shape;640;p40" title="robo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0349" y="1327627"/>
            <a:ext cx="4522700" cy="4202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4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6" name="Google Shape;646;p41"/>
          <p:cNvSpPr txBox="1"/>
          <p:nvPr/>
        </p:nvSpPr>
        <p:spPr>
          <a:xfrm>
            <a:off x="356875" y="350625"/>
            <a:ext cx="630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Pain Points of Integration: </a:t>
            </a:r>
            <a:r>
              <a:rPr b="1" lang="en-US" sz="1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Fragmentation</a:t>
            </a:r>
            <a:endParaRPr b="1" sz="18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7" name="Google Shape;647;p41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8" name="Google Shape;64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150" y="1214700"/>
            <a:ext cx="11887198" cy="4709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42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4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5" name="Google Shape;655;p42"/>
          <p:cNvSpPr/>
          <p:nvPr/>
        </p:nvSpPr>
        <p:spPr>
          <a:xfrm>
            <a:off x="1234175" y="1998300"/>
            <a:ext cx="4288500" cy="139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Bespoke Development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Techniques like RAG and agent frameworks exist, but every integration is </a:t>
            </a:r>
            <a:r>
              <a:rPr b="1" lang="en-US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bespoke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—it requires custom code.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42"/>
          <p:cNvSpPr txBox="1"/>
          <p:nvPr/>
        </p:nvSpPr>
        <p:spPr>
          <a:xfrm>
            <a:off x="408800" y="412375"/>
            <a:ext cx="519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Pain Points of Integration: </a:t>
            </a:r>
            <a:r>
              <a:rPr lang="en-US" sz="1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Fragmentation</a:t>
            </a:r>
            <a:endParaRPr/>
          </a:p>
        </p:txBody>
      </p:sp>
      <p:sp>
        <p:nvSpPr>
          <p:cNvPr id="657" name="Google Shape;657;p42"/>
          <p:cNvSpPr/>
          <p:nvPr/>
        </p:nvSpPr>
        <p:spPr>
          <a:xfrm>
            <a:off x="6271975" y="1998300"/>
            <a:ext cx="4288500" cy="139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Custom Needs Per App</a:t>
            </a:r>
            <a:br>
              <a:rPr lang="en-US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This results in repeated effort for: custom prompt logic, custom tool calls, and custom data access.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42"/>
          <p:cNvSpPr/>
          <p:nvPr/>
        </p:nvSpPr>
        <p:spPr>
          <a:xfrm>
            <a:off x="1234175" y="4087500"/>
            <a:ext cx="4288500" cy="139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Redundant Work</a:t>
            </a:r>
            <a:br>
              <a:rPr lang="en-US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Every application creates its </a:t>
            </a:r>
            <a:r>
              <a:rPr b="1" lang="en-US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own custom wrappers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 for APIs, tools, and memory.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2"/>
          <p:cNvSpPr/>
          <p:nvPr/>
        </p:nvSpPr>
        <p:spPr>
          <a:xfrm>
            <a:off x="6271975" y="4087500"/>
            <a:ext cx="4288500" cy="139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Required Extras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This fragmented approach requires special prompts, tool-specific connectors, and redundant safety checks.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4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5" name="Google Shape;665;p43"/>
          <p:cNvSpPr txBox="1"/>
          <p:nvPr/>
        </p:nvSpPr>
        <p:spPr>
          <a:xfrm>
            <a:off x="356875" y="350625"/>
            <a:ext cx="630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Model Context Protocol : </a:t>
            </a:r>
            <a:r>
              <a:rPr b="1" lang="en-US" sz="2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MCP</a:t>
            </a:r>
            <a:endParaRPr b="1" sz="24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6" name="Google Shape;666;p43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7" name="Google Shape;66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0399" y="940200"/>
            <a:ext cx="9813552" cy="5520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44"/>
          <p:cNvSpPr txBox="1"/>
          <p:nvPr/>
        </p:nvSpPr>
        <p:spPr>
          <a:xfrm>
            <a:off x="356874" y="350625"/>
            <a:ext cx="987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What is the Model Context Protocol (</a:t>
            </a:r>
            <a:r>
              <a:rPr b="1" lang="en-US" sz="2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MCP</a:t>
            </a:r>
            <a:r>
              <a:rPr b="1" lang="en-US" sz="24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)?</a:t>
            </a:r>
            <a:endParaRPr sz="24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3" name="Google Shape;673;p44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4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5" name="Google Shape;675;p44"/>
          <p:cNvSpPr txBox="1"/>
          <p:nvPr/>
        </p:nvSpPr>
        <p:spPr>
          <a:xfrm>
            <a:off x="1070650" y="1359325"/>
            <a:ext cx="97110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MCP is an 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open protocol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that standardizes how your LLM applications connect to and work with your tools and data sources.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The goal is to create a 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common way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for AI applications to use tools, memory, and agents.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MCP unifies access to 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resources and actions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across various services and data sources.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MCP is neither a framework nor a tool—it's a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 protocol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, similar to HTTP for the web or SMTP for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email.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6" name="Google Shape;676;p44"/>
          <p:cNvSpPr txBox="1"/>
          <p:nvPr/>
        </p:nvSpPr>
        <p:spPr>
          <a:xfrm>
            <a:off x="2642100" y="5094975"/>
            <a:ext cx="690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/>
              <a:t>MCP </a:t>
            </a:r>
            <a:r>
              <a:rPr i="1" lang="en-US"/>
              <a:t>is a new standard redefining how LLMs interact with tools, memory, and agents.</a:t>
            </a:r>
            <a:endParaRPr i="1"/>
          </a:p>
        </p:txBody>
      </p:sp>
      <p:pic>
        <p:nvPicPr>
          <p:cNvPr id="677" name="Google Shape;67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575" y="1488600"/>
            <a:ext cx="305425" cy="30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575" y="2470300"/>
            <a:ext cx="305425" cy="30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575" y="3188500"/>
            <a:ext cx="305425" cy="30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0" name="Google Shape;68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575" y="3906700"/>
            <a:ext cx="305425" cy="30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5122" y="4891409"/>
            <a:ext cx="807325" cy="80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45"/>
          <p:cNvSpPr txBox="1"/>
          <p:nvPr/>
        </p:nvSpPr>
        <p:spPr>
          <a:xfrm>
            <a:off x="356875" y="350625"/>
            <a:ext cx="7287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MCP: The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Standardized Connection</a:t>
            </a:r>
            <a:endParaRPr b="1" sz="28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7" name="Google Shape;687;p45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4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9" name="Google Shape;689;p45"/>
          <p:cNvSpPr txBox="1"/>
          <p:nvPr/>
        </p:nvSpPr>
        <p:spPr>
          <a:xfrm>
            <a:off x="356875" y="1727275"/>
            <a:ext cx="60288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USB-C for AI</a:t>
            </a:r>
            <a:br>
              <a:rPr lang="en-US" sz="1600">
                <a:latin typeface="Poppins"/>
                <a:ea typeface="Poppins"/>
                <a:cs typeface="Poppins"/>
                <a:sym typeface="Poppins"/>
              </a:rPr>
            </a:b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MCP is like a </a:t>
            </a: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USB-C port for AI applications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. Just as USB-C provides a standard way to connect various devices (phones, laptops) to peripherals (chargers, monitors), MCP provides a standard protocol for AI models to connect to various data sources and tools.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0" name="Google Shape;690;p45"/>
          <p:cNvSpPr txBox="1"/>
          <p:nvPr/>
        </p:nvSpPr>
        <p:spPr>
          <a:xfrm>
            <a:off x="356875" y="4059450"/>
            <a:ext cx="60288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HTTP for Agents</a:t>
            </a:r>
            <a:br>
              <a:rPr lang="en-US" sz="1600">
                <a:latin typeface="Poppins"/>
                <a:ea typeface="Poppins"/>
                <a:cs typeface="Poppins"/>
                <a:sym typeface="Poppins"/>
              </a:rPr>
            </a:b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Just as HTTP enables any browser to communicate with any website, </a:t>
            </a: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MCP allows any AI agent to interact with any tool or service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 (e.g., GitHub, Slack, Databases, Web APIs).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91" name="Google Shape;69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8925" y="1082425"/>
            <a:ext cx="3711875" cy="481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6"/>
          <p:cNvSpPr txBox="1"/>
          <p:nvPr/>
        </p:nvSpPr>
        <p:spPr>
          <a:xfrm>
            <a:off x="356875" y="350625"/>
            <a:ext cx="4706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MCP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vs</a:t>
            </a: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. Traditional APIs</a:t>
            </a:r>
            <a:endParaRPr sz="2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7" name="Google Shape;697;p46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4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9" name="Google Shape;699;p46"/>
          <p:cNvSpPr txBox="1"/>
          <p:nvPr/>
        </p:nvSpPr>
        <p:spPr>
          <a:xfrm>
            <a:off x="935325" y="1503413"/>
            <a:ext cx="227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1"/>
                </a:solidFill>
              </a:rPr>
              <a:t>A Quick Comparison</a:t>
            </a:r>
            <a:endParaRPr sz="1600"/>
          </a:p>
        </p:txBody>
      </p:sp>
      <p:graphicFrame>
        <p:nvGraphicFramePr>
          <p:cNvPr id="700" name="Google Shape;700;p46"/>
          <p:cNvGraphicFramePr/>
          <p:nvPr/>
        </p:nvGraphicFramePr>
        <p:xfrm>
          <a:off x="1328800" y="2248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{827ABE63-9672-44F3-8944-E4397E3A7A1E}</a:tableStyleId>
              </a:tblPr>
              <a:tblGrid>
                <a:gridCol w="2621950"/>
                <a:gridCol w="2910300"/>
                <a:gridCol w="3111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Feature</a:t>
                      </a:r>
                      <a:endParaRPr b="1" sz="1600"/>
                    </a:p>
                  </a:txBody>
                  <a:tcPr marT="91425" marB="91425" marR="91425" marL="91425">
                    <a:solidFill>
                      <a:srgbClr val="C2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  MCP</a:t>
                      </a:r>
                      <a:r>
                        <a:rPr b="1" lang="en-US" sz="1600"/>
                        <a:t> </a:t>
                      </a:r>
                      <a:endParaRPr b="1" sz="16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Traditional API</a:t>
                      </a:r>
                      <a:endParaRPr b="1" sz="1600"/>
                    </a:p>
                  </a:txBody>
                  <a:tcPr marT="91425" marB="91425" marR="91425" marL="91425">
                    <a:solidFill>
                      <a:srgbClr val="C2D4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Integration Effort</a:t>
                      </a:r>
                      <a:endParaRPr b="1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00FF"/>
                          </a:solidFill>
                        </a:rPr>
                        <a:t>Single, standardized integration.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Separate integration per API.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Dynamic Discovery</a:t>
                      </a:r>
                      <a:endParaRPr b="1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00FF"/>
                          </a:solidFill>
                        </a:rPr>
                        <a:t>Yes.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No.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Scalability</a:t>
                      </a:r>
                      <a:endParaRPr b="1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00FF"/>
                          </a:solidFill>
                        </a:rPr>
                        <a:t>Easy (plug-and-play).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Requires additional integrations.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Security &amp; Control</a:t>
                      </a:r>
                      <a:endParaRPr b="1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00FF"/>
                          </a:solidFill>
                        </a:rPr>
                        <a:t>Consistent across tools.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Varies by API.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  <p:sp>
        <p:nvSpPr>
          <p:cNvPr id="701" name="Google Shape;701;p46"/>
          <p:cNvSpPr txBox="1"/>
          <p:nvPr/>
        </p:nvSpPr>
        <p:spPr>
          <a:xfrm>
            <a:off x="2382925" y="4991625"/>
            <a:ext cx="68244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latin typeface="Poppins"/>
                <a:ea typeface="Poppins"/>
                <a:cs typeface="Poppins"/>
                <a:sym typeface="Poppins"/>
              </a:rPr>
              <a:t>When to Stick with APIs</a:t>
            </a:r>
            <a:endParaRPr b="1" sz="1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Traditional APIs are preferable when fine-grained control, highly-specific restricted functionalities, or maximum predictability with minimal context autonomy are needed.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02" name="Google Shape;70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3850" y="5167350"/>
            <a:ext cx="264150" cy="26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7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4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9" name="Google Shape;709;p47"/>
          <p:cNvSpPr/>
          <p:nvPr/>
        </p:nvSpPr>
        <p:spPr>
          <a:xfrm>
            <a:off x="1361900" y="3899450"/>
            <a:ext cx="3982200" cy="101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latin typeface="Poppins"/>
                <a:ea typeface="Poppins"/>
                <a:cs typeface="Poppins"/>
                <a:sym typeface="Poppins"/>
              </a:rPr>
              <a:t>MCP Host (AI Application)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The AI-powered app (e.g., chat assistant, IDE extension) that uses an LLM and needs to interact with external data or tools.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47"/>
          <p:cNvSpPr txBox="1"/>
          <p:nvPr/>
        </p:nvSpPr>
        <p:spPr>
          <a:xfrm>
            <a:off x="408800" y="412375"/>
            <a:ext cx="349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MCP </a:t>
            </a:r>
            <a:r>
              <a:rPr b="1" lang="en-US" sz="1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Architecture </a:t>
            </a:r>
            <a:r>
              <a:rPr b="1"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b="1"/>
          </a:p>
        </p:txBody>
      </p:sp>
      <p:sp>
        <p:nvSpPr>
          <p:cNvPr id="711" name="Google Shape;711;p47"/>
          <p:cNvSpPr/>
          <p:nvPr/>
        </p:nvSpPr>
        <p:spPr>
          <a:xfrm>
            <a:off x="6266850" y="3843200"/>
            <a:ext cx="3824700" cy="112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latin typeface="Poppins"/>
                <a:ea typeface="Poppins"/>
                <a:cs typeface="Poppins"/>
                <a:sym typeface="Poppins"/>
              </a:rPr>
              <a:t>MCP Server</a:t>
            </a:r>
            <a:br>
              <a:rPr lang="en-US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A lightweight program that exposes specific data or capabilities via the MCP standard. Acts as an </a:t>
            </a:r>
            <a:r>
              <a:rPr b="1" lang="en-US" sz="1200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adapter 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that connects to one data source.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47"/>
          <p:cNvSpPr/>
          <p:nvPr/>
        </p:nvSpPr>
        <p:spPr>
          <a:xfrm>
            <a:off x="1346600" y="5074800"/>
            <a:ext cx="4012800" cy="116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latin typeface="Poppins"/>
                <a:ea typeface="Poppins"/>
                <a:cs typeface="Poppins"/>
                <a:sym typeface="Poppins"/>
              </a:rPr>
              <a:t>MCP Client</a:t>
            </a:r>
            <a:br>
              <a:rPr lang="en-US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Runs in the AI application and </a:t>
            </a:r>
            <a:r>
              <a:rPr b="1" lang="en-US" sz="1200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translates AI requests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 into the standardized protocol format, maintains the connection, and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manages communications.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47"/>
          <p:cNvSpPr/>
          <p:nvPr/>
        </p:nvSpPr>
        <p:spPr>
          <a:xfrm>
            <a:off x="6251550" y="5074725"/>
            <a:ext cx="3855300" cy="1258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latin typeface="Poppins"/>
                <a:ea typeface="Poppins"/>
                <a:cs typeface="Poppins"/>
                <a:sym typeface="Poppins"/>
              </a:rPr>
              <a:t>Data Sources &amp; Services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The actual location of information or functionality: local files, web APIs, databases, and cloud services that the AI needs to access.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47"/>
          <p:cNvSpPr/>
          <p:nvPr/>
        </p:nvSpPr>
        <p:spPr>
          <a:xfrm>
            <a:off x="1346600" y="1641625"/>
            <a:ext cx="1515900" cy="1056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MCP Host</a:t>
            </a:r>
            <a:br>
              <a:rPr lang="en-US"/>
            </a:br>
            <a:r>
              <a:rPr lang="en-US"/>
              <a:t>Ai Application</a:t>
            </a:r>
            <a:endParaRPr/>
          </a:p>
        </p:txBody>
      </p:sp>
      <p:sp>
        <p:nvSpPr>
          <p:cNvPr id="715" name="Google Shape;715;p47"/>
          <p:cNvSpPr/>
          <p:nvPr/>
        </p:nvSpPr>
        <p:spPr>
          <a:xfrm>
            <a:off x="4264150" y="1641625"/>
            <a:ext cx="1515900" cy="10560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MCP Client</a:t>
            </a:r>
            <a:br>
              <a:rPr lang="en-US"/>
            </a:br>
            <a:r>
              <a:rPr lang="en-US"/>
              <a:t>Protocol Translate</a:t>
            </a:r>
            <a:endParaRPr/>
          </a:p>
        </p:txBody>
      </p:sp>
      <p:sp>
        <p:nvSpPr>
          <p:cNvPr id="716" name="Google Shape;716;p47"/>
          <p:cNvSpPr/>
          <p:nvPr/>
        </p:nvSpPr>
        <p:spPr>
          <a:xfrm>
            <a:off x="7181700" y="1641625"/>
            <a:ext cx="1515900" cy="10560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MCP Server</a:t>
            </a:r>
            <a:br>
              <a:rPr lang="en-US"/>
            </a:br>
            <a:r>
              <a:rPr lang="en-US"/>
              <a:t>Capability Adapter</a:t>
            </a:r>
            <a:endParaRPr/>
          </a:p>
        </p:txBody>
      </p:sp>
      <p:cxnSp>
        <p:nvCxnSpPr>
          <p:cNvPr id="717" name="Google Shape;717;p47"/>
          <p:cNvCxnSpPr/>
          <p:nvPr/>
        </p:nvCxnSpPr>
        <p:spPr>
          <a:xfrm>
            <a:off x="2862475" y="1970925"/>
            <a:ext cx="1406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8" name="Google Shape;718;p47"/>
          <p:cNvCxnSpPr/>
          <p:nvPr/>
        </p:nvCxnSpPr>
        <p:spPr>
          <a:xfrm>
            <a:off x="5780050" y="1970925"/>
            <a:ext cx="1406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9" name="Google Shape;719;p47"/>
          <p:cNvCxnSpPr>
            <a:stCxn id="716" idx="1"/>
            <a:endCxn id="715" idx="3"/>
          </p:cNvCxnSpPr>
          <p:nvPr/>
        </p:nvCxnSpPr>
        <p:spPr>
          <a:xfrm rot="10800000">
            <a:off x="5780100" y="2169625"/>
            <a:ext cx="140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0" name="Google Shape;720;p47"/>
          <p:cNvCxnSpPr>
            <a:stCxn id="715" idx="1"/>
            <a:endCxn id="714" idx="3"/>
          </p:cNvCxnSpPr>
          <p:nvPr/>
        </p:nvCxnSpPr>
        <p:spPr>
          <a:xfrm rot="10800000">
            <a:off x="2862550" y="2169625"/>
            <a:ext cx="140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1" name="Google Shape;721;p47"/>
          <p:cNvCxnSpPr>
            <a:endCxn id="716" idx="3"/>
          </p:cNvCxnSpPr>
          <p:nvPr/>
        </p:nvCxnSpPr>
        <p:spPr>
          <a:xfrm rot="10800000">
            <a:off x="8697600" y="2169625"/>
            <a:ext cx="1326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2" name="Google Shape;722;p47"/>
          <p:cNvCxnSpPr/>
          <p:nvPr/>
        </p:nvCxnSpPr>
        <p:spPr>
          <a:xfrm>
            <a:off x="8657550" y="1970925"/>
            <a:ext cx="1406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3" name="Google Shape;723;p47"/>
          <p:cNvSpPr txBox="1"/>
          <p:nvPr/>
        </p:nvSpPr>
        <p:spPr>
          <a:xfrm>
            <a:off x="2512800" y="2849888"/>
            <a:ext cx="716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/>
              <a:t>The Model Context Protocol standardizes how all components communicate</a:t>
            </a:r>
            <a:endParaRPr i="1" sz="1200"/>
          </a:p>
        </p:txBody>
      </p:sp>
      <p:sp>
        <p:nvSpPr>
          <p:cNvPr id="724" name="Google Shape;724;p47"/>
          <p:cNvSpPr txBox="1"/>
          <p:nvPr/>
        </p:nvSpPr>
        <p:spPr>
          <a:xfrm>
            <a:off x="3197475" y="1442125"/>
            <a:ext cx="73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/>
              <a:t>Requests</a:t>
            </a:r>
            <a:endParaRPr b="1"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/>
              <a:t>Response</a:t>
            </a:r>
            <a:endParaRPr b="1" sz="900"/>
          </a:p>
        </p:txBody>
      </p:sp>
      <p:sp>
        <p:nvSpPr>
          <p:cNvPr id="725" name="Google Shape;725;p47"/>
          <p:cNvSpPr txBox="1"/>
          <p:nvPr/>
        </p:nvSpPr>
        <p:spPr>
          <a:xfrm>
            <a:off x="6002613" y="1463825"/>
            <a:ext cx="94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/>
              <a:t>MCP Protocol</a:t>
            </a:r>
            <a:endParaRPr b="1"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/>
              <a:t>Data Results</a:t>
            </a:r>
            <a:endParaRPr b="1" sz="900"/>
          </a:p>
        </p:txBody>
      </p:sp>
      <p:sp>
        <p:nvSpPr>
          <p:cNvPr id="726" name="Google Shape;726;p47"/>
          <p:cNvSpPr txBox="1"/>
          <p:nvPr/>
        </p:nvSpPr>
        <p:spPr>
          <a:xfrm>
            <a:off x="8867903" y="1463825"/>
            <a:ext cx="115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/>
              <a:t>Data Access</a:t>
            </a:r>
            <a:endParaRPr b="1"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/>
              <a:t>Fetch Execute</a:t>
            </a:r>
            <a:endParaRPr b="1" sz="900"/>
          </a:p>
        </p:txBody>
      </p:sp>
      <p:pic>
        <p:nvPicPr>
          <p:cNvPr id="727" name="Google Shape;72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9900" y="1447838"/>
            <a:ext cx="369300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8" name="Google Shape;728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7101" y="1447850"/>
            <a:ext cx="369300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95250" y="1463825"/>
            <a:ext cx="337325" cy="3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48"/>
          <p:cNvSpPr txBox="1"/>
          <p:nvPr/>
        </p:nvSpPr>
        <p:spPr>
          <a:xfrm>
            <a:off x="356875" y="350625"/>
            <a:ext cx="7425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Core Concept 1: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Resources </a:t>
            </a: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vs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Tools</a:t>
            </a:r>
            <a:endParaRPr sz="2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5" name="Google Shape;735;p48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4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7" name="Google Shape;737;p48"/>
          <p:cNvSpPr txBox="1"/>
          <p:nvPr/>
        </p:nvSpPr>
        <p:spPr>
          <a:xfrm>
            <a:off x="935325" y="1503425"/>
            <a:ext cx="805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Understanding the two fundamental ways MCP connects AI to data &amp; actions</a:t>
            </a:r>
            <a:endParaRPr sz="1600">
              <a:solidFill>
                <a:schemeClr val="dk1"/>
              </a:solidFill>
            </a:endParaRPr>
          </a:p>
        </p:txBody>
      </p:sp>
      <p:graphicFrame>
        <p:nvGraphicFramePr>
          <p:cNvPr id="738" name="Google Shape;738;p48"/>
          <p:cNvGraphicFramePr/>
          <p:nvPr/>
        </p:nvGraphicFramePr>
        <p:xfrm>
          <a:off x="1396775" y="2128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{827ABE63-9672-44F3-8944-E4397E3A7A1E}</a:tableStyleId>
              </a:tblPr>
              <a:tblGrid>
                <a:gridCol w="2621950"/>
                <a:gridCol w="2910300"/>
                <a:gridCol w="3111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Concept</a:t>
                      </a:r>
                      <a:endParaRPr b="1" sz="1600"/>
                    </a:p>
                  </a:txBody>
                  <a:tcPr marT="91425" marB="91425" marR="91425" marL="91425">
                    <a:solidFill>
                      <a:srgbClr val="C2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  </a:t>
                      </a:r>
                      <a:r>
                        <a:rPr b="1" lang="en-US" sz="1600"/>
                        <a:t>Resources</a:t>
                      </a:r>
                      <a:r>
                        <a:rPr b="1" lang="en-US" sz="1600"/>
                        <a:t> </a:t>
                      </a:r>
                      <a:endParaRPr b="1" sz="16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Tools</a:t>
                      </a:r>
                      <a:endParaRPr b="1" sz="1600"/>
                    </a:p>
                  </a:txBody>
                  <a:tcPr marT="91425" marB="91425" marR="91425" marL="91425">
                    <a:solidFill>
                      <a:srgbClr val="C2D4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Description</a:t>
                      </a:r>
                      <a:endParaRPr b="1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Data or content the server provides to the AI. The AI requests it to load information.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Actions the AI can invoke via the server. They execute code or cause a side effect.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Analogy</a:t>
                      </a:r>
                      <a:endParaRPr b="1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endpoint in web technology.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endpoint in web technology.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Control Type</a:t>
                      </a:r>
                      <a:endParaRPr b="1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0000FF"/>
                          </a:solidFill>
                        </a:rPr>
                        <a:t>Application-Controlled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. The app decides what resources are available.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0000FF"/>
                          </a:solidFill>
                        </a:rPr>
                        <a:t>Model-Controlled</a:t>
                      </a:r>
                      <a:r>
                        <a:rPr lang="en-US"/>
                        <a:t>. The AI decides when to call tools.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Examples</a:t>
                      </a:r>
                      <a:endParaRPr b="1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Files, API Responses, Database Records, Context Windows, Documentation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Run calculations, Modify data, Send messages, Query databases, Execute commands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49"/>
          <p:cNvSpPr/>
          <p:nvPr/>
        </p:nvSpPr>
        <p:spPr>
          <a:xfrm>
            <a:off x="4091575" y="3450225"/>
            <a:ext cx="397200" cy="240600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49"/>
          <p:cNvSpPr txBox="1"/>
          <p:nvPr/>
        </p:nvSpPr>
        <p:spPr>
          <a:xfrm>
            <a:off x="356875" y="350625"/>
            <a:ext cx="7425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Core Concept 1: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Resources </a:t>
            </a: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vs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Tools</a:t>
            </a:r>
            <a:endParaRPr sz="2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p49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4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7" name="Google Shape;747;p49"/>
          <p:cNvSpPr txBox="1"/>
          <p:nvPr/>
        </p:nvSpPr>
        <p:spPr>
          <a:xfrm>
            <a:off x="935325" y="1503425"/>
            <a:ext cx="805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Understanding the two fundamental ways MCP connects AI to data &amp; actions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748" name="Google Shape;748;p49"/>
          <p:cNvSpPr/>
          <p:nvPr/>
        </p:nvSpPr>
        <p:spPr>
          <a:xfrm>
            <a:off x="6997875" y="3460675"/>
            <a:ext cx="538500" cy="240600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49" name="Google Shape;749;p49"/>
          <p:cNvGraphicFramePr/>
          <p:nvPr/>
        </p:nvGraphicFramePr>
        <p:xfrm>
          <a:off x="1396775" y="2128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{827ABE63-9672-44F3-8944-E4397E3A7A1E}</a:tableStyleId>
              </a:tblPr>
              <a:tblGrid>
                <a:gridCol w="2621950"/>
                <a:gridCol w="2910300"/>
                <a:gridCol w="3111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Concept</a:t>
                      </a:r>
                      <a:endParaRPr b="1" sz="1600"/>
                    </a:p>
                  </a:txBody>
                  <a:tcPr marT="91425" marB="91425" marR="91425" marL="91425">
                    <a:solidFill>
                      <a:srgbClr val="C2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  Resources </a:t>
                      </a:r>
                      <a:endParaRPr b="1" sz="16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Tools</a:t>
                      </a:r>
                      <a:endParaRPr b="1" sz="1600"/>
                    </a:p>
                  </a:txBody>
                  <a:tcPr marT="91425" marB="91425" marR="91425" marL="91425">
                    <a:solidFill>
                      <a:srgbClr val="C2D4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Description</a:t>
                      </a:r>
                      <a:endParaRPr b="1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Data or content the server provides to the AI. The AI requests it to load information.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Actions the AI can invoke via the server. They execute code or cause a side effect.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Analogy</a:t>
                      </a:r>
                      <a:endParaRPr b="1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GET</a:t>
                      </a:r>
                      <a:r>
                        <a:rPr lang="en-US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endpoint in web technology.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POST</a:t>
                      </a:r>
                      <a:r>
                        <a:rPr lang="en-US"/>
                        <a:t> endpoint in web technology.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Control Type</a:t>
                      </a:r>
                      <a:endParaRPr b="1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0000FF"/>
                          </a:solidFill>
                        </a:rPr>
                        <a:t>Application-Controlled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. The app decides what resources are available.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0000FF"/>
                          </a:solidFill>
                        </a:rPr>
                        <a:t>Model-Controlled</a:t>
                      </a:r>
                      <a:r>
                        <a:rPr lang="en-US"/>
                        <a:t>. The AI decides when to call tools.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Examples</a:t>
                      </a:r>
                      <a:endParaRPr b="1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Files, API Responses, Database Records, Context Windows, Documentation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Run calculations, Modify data, Send messages, Query databases, Execute commands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50"/>
          <p:cNvSpPr/>
          <p:nvPr/>
        </p:nvSpPr>
        <p:spPr>
          <a:xfrm>
            <a:off x="4726757" y="2551175"/>
            <a:ext cx="1424400" cy="240600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50"/>
          <p:cNvSpPr txBox="1"/>
          <p:nvPr/>
        </p:nvSpPr>
        <p:spPr>
          <a:xfrm>
            <a:off x="356875" y="350625"/>
            <a:ext cx="7425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Core Concept 2: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Prompts </a:t>
            </a: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and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Sampling</a:t>
            </a:r>
            <a:endParaRPr sz="2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6" name="Google Shape;756;p50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5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8" name="Google Shape;758;p50"/>
          <p:cNvSpPr txBox="1"/>
          <p:nvPr/>
        </p:nvSpPr>
        <p:spPr>
          <a:xfrm>
            <a:off x="467625" y="1242050"/>
            <a:ext cx="805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Templates and two-way communication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759" name="Google Shape;759;p50"/>
          <p:cNvSpPr/>
          <p:nvPr/>
        </p:nvSpPr>
        <p:spPr>
          <a:xfrm>
            <a:off x="4726750" y="3800425"/>
            <a:ext cx="2156100" cy="240600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60" name="Google Shape;760;p50"/>
          <p:cNvGraphicFramePr/>
          <p:nvPr/>
        </p:nvGraphicFramePr>
        <p:xfrm>
          <a:off x="603525" y="1837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{827ABE63-9672-44F3-8944-E4397E3A7A1E}</a:tableStyleId>
              </a:tblPr>
              <a:tblGrid>
                <a:gridCol w="1927975"/>
                <a:gridCol w="2140000"/>
                <a:gridCol w="2287800"/>
                <a:gridCol w="228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Concept</a:t>
                      </a:r>
                      <a:endParaRPr b="1" sz="1600"/>
                    </a:p>
                  </a:txBody>
                  <a:tcPr marT="91425" marB="91425" marR="91425" marL="91425">
                    <a:solidFill>
                      <a:srgbClr val="C2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 </a:t>
                      </a:r>
                      <a:r>
                        <a:rPr b="1" lang="en-US" sz="1600"/>
                        <a:t>Description</a:t>
                      </a:r>
                      <a:endParaRPr b="1" sz="16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Control Type</a:t>
                      </a:r>
                      <a:endParaRPr b="1" sz="1600"/>
                    </a:p>
                  </a:txBody>
                  <a:tcPr marT="91425" marB="91425" marR="91425" marL="91425">
                    <a:solidFill>
                      <a:srgbClr val="C2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</a:rPr>
                        <a:t>Use Case</a:t>
                      </a:r>
                      <a:endParaRPr b="1" sz="1600"/>
                    </a:p>
                  </a:txBody>
                  <a:tcPr marT="91425" marB="91425" marR="91425" marL="91425">
                    <a:solidFill>
                      <a:srgbClr val="C2D4FF"/>
                    </a:solidFill>
                  </a:tcPr>
                </a:tc>
              </a:tr>
              <a:tr h="81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Prompts</a:t>
                      </a:r>
                      <a:endParaRPr b="1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Reusable prompt templates or workflows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supplied by the server. They help guide the AI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through complex tasks.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b="1" lang="en-US">
                          <a:solidFill>
                            <a:schemeClr val="lt1"/>
                          </a:solidFill>
                        </a:rPr>
                      </a:br>
                      <a:r>
                        <a:rPr b="1" lang="en-US">
                          <a:solidFill>
                            <a:schemeClr val="lt1"/>
                          </a:solidFill>
                        </a:rPr>
                        <a:t>User-Controlled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/>
                        <a:t>Documentation Q&amp;A,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/>
                        <a:t>Transcript Summary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Sampling</a:t>
                      </a:r>
                      <a:endParaRPr b="1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An advanced feature where the server can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request the AI to complete or transform text.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b="1" lang="en-US"/>
                      </a:br>
                      <a:r>
                        <a:rPr b="1" lang="en-US">
                          <a:solidFill>
                            <a:schemeClr val="lt1"/>
                          </a:solidFill>
                        </a:rPr>
                        <a:t>Two-way communication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The server asks the AI to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analyze data it provided.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  <p:sp>
        <p:nvSpPr>
          <p:cNvPr id="761" name="Google Shape;761;p50"/>
          <p:cNvSpPr txBox="1"/>
          <p:nvPr/>
        </p:nvSpPr>
        <p:spPr>
          <a:xfrm>
            <a:off x="1604750" y="5137575"/>
            <a:ext cx="8294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/>
              <a:t>The Prompts and Sampling features enable MCP to go beyond simple one-way tool calls, allowing for sophisticated interaction patterns between models and servers. This creates a more dynamic collaboration where either side can initiate requests.</a:t>
            </a:r>
            <a:endParaRPr i="1"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51"/>
          <p:cNvSpPr/>
          <p:nvPr/>
        </p:nvSpPr>
        <p:spPr>
          <a:xfrm>
            <a:off x="7588525" y="1467325"/>
            <a:ext cx="4364700" cy="17739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51"/>
          <p:cNvSpPr txBox="1"/>
          <p:nvPr/>
        </p:nvSpPr>
        <p:spPr>
          <a:xfrm>
            <a:off x="356875" y="350625"/>
            <a:ext cx="744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How MCP Communicates: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Transports</a:t>
            </a:r>
            <a:endParaRPr b="1" sz="28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8" name="Google Shape;768;p51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5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0" name="Google Shape;770;p51"/>
          <p:cNvSpPr txBox="1"/>
          <p:nvPr/>
        </p:nvSpPr>
        <p:spPr>
          <a:xfrm>
            <a:off x="356875" y="1435675"/>
            <a:ext cx="68553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STDIO (Standard Input/Output)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MCP server runs as a </a:t>
            </a: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local process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on the same machine as the host, communicating through pipes. Client and server exchange JSON messages via </a:t>
            </a: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stdin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and </a:t>
            </a: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stdout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Poppins"/>
                <a:ea typeface="Poppins"/>
                <a:cs typeface="Poppins"/>
                <a:sym typeface="Poppins"/>
              </a:rPr>
              <a:t>Best for:</a:t>
            </a: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Local development, simple integration, and debugging.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HTTP (SSE - Server-Sent Events)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MCP server runs as a </a:t>
            </a: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web service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(locally or remotely), exposing an HTTP endpoint. It establishes </a:t>
            </a: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bidirectional communication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over HTTP.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Poppins"/>
                <a:ea typeface="Poppins"/>
                <a:cs typeface="Poppins"/>
                <a:sym typeface="Poppins"/>
              </a:rPr>
              <a:t>Best for:</a:t>
            </a:r>
            <a:r>
              <a:rPr lang="en-US">
                <a:solidFill>
                  <a:srgbClr val="0000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Hosted servers, distributed architecture, multiple concurrent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clients.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Security Note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MCP emphasizes security controls, as servers access sensitive data; the AI host often requires user approval before executing a tool.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1" name="Google Shape;771;p51"/>
          <p:cNvSpPr/>
          <p:nvPr/>
        </p:nvSpPr>
        <p:spPr>
          <a:xfrm>
            <a:off x="7588525" y="3674000"/>
            <a:ext cx="4364700" cy="17739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51"/>
          <p:cNvSpPr txBox="1"/>
          <p:nvPr/>
        </p:nvSpPr>
        <p:spPr>
          <a:xfrm>
            <a:off x="8265475" y="1500500"/>
            <a:ext cx="301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STDIO Transport</a:t>
            </a:r>
            <a:endParaRPr b="1"/>
          </a:p>
        </p:txBody>
      </p:sp>
      <p:sp>
        <p:nvSpPr>
          <p:cNvPr id="773" name="Google Shape;773;p51"/>
          <p:cNvSpPr txBox="1"/>
          <p:nvPr/>
        </p:nvSpPr>
        <p:spPr>
          <a:xfrm>
            <a:off x="8297650" y="3674000"/>
            <a:ext cx="301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HTTP/SSE</a:t>
            </a:r>
            <a:r>
              <a:rPr b="1" lang="en-US"/>
              <a:t> Transport</a:t>
            </a:r>
            <a:endParaRPr b="1"/>
          </a:p>
        </p:txBody>
      </p:sp>
      <p:sp>
        <p:nvSpPr>
          <p:cNvPr id="774" name="Google Shape;774;p51"/>
          <p:cNvSpPr txBox="1"/>
          <p:nvPr/>
        </p:nvSpPr>
        <p:spPr>
          <a:xfrm>
            <a:off x="7622700" y="2836650"/>
            <a:ext cx="283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/>
              <a:t>Local process, JSON via stdin/stdout</a:t>
            </a:r>
            <a:endParaRPr i="1" sz="1200"/>
          </a:p>
        </p:txBody>
      </p:sp>
      <p:sp>
        <p:nvSpPr>
          <p:cNvPr id="775" name="Google Shape;775;p51"/>
          <p:cNvSpPr/>
          <p:nvPr/>
        </p:nvSpPr>
        <p:spPr>
          <a:xfrm>
            <a:off x="8297650" y="2106175"/>
            <a:ext cx="731700" cy="5250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AI Host</a:t>
            </a:r>
            <a:endParaRPr b="1"/>
          </a:p>
        </p:txBody>
      </p:sp>
      <p:sp>
        <p:nvSpPr>
          <p:cNvPr id="776" name="Google Shape;776;p51"/>
          <p:cNvSpPr/>
          <p:nvPr/>
        </p:nvSpPr>
        <p:spPr>
          <a:xfrm>
            <a:off x="10155050" y="2056075"/>
            <a:ext cx="1082100" cy="596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MCP Server</a:t>
            </a:r>
            <a:endParaRPr b="1"/>
          </a:p>
        </p:txBody>
      </p:sp>
      <p:cxnSp>
        <p:nvCxnSpPr>
          <p:cNvPr id="777" name="Google Shape;777;p51"/>
          <p:cNvCxnSpPr/>
          <p:nvPr/>
        </p:nvCxnSpPr>
        <p:spPr>
          <a:xfrm flipH="1" rot="10800000">
            <a:off x="9294300" y="2321100"/>
            <a:ext cx="595800" cy="1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8" name="Google Shape;778;p51"/>
          <p:cNvSpPr/>
          <p:nvPr/>
        </p:nvSpPr>
        <p:spPr>
          <a:xfrm>
            <a:off x="8301125" y="4192000"/>
            <a:ext cx="731700" cy="5250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AI Client</a:t>
            </a:r>
            <a:endParaRPr b="1"/>
          </a:p>
        </p:txBody>
      </p:sp>
      <p:sp>
        <p:nvSpPr>
          <p:cNvPr id="779" name="Google Shape;779;p51"/>
          <p:cNvSpPr/>
          <p:nvPr/>
        </p:nvSpPr>
        <p:spPr>
          <a:xfrm>
            <a:off x="10158525" y="4141900"/>
            <a:ext cx="1082100" cy="596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Web Server</a:t>
            </a:r>
            <a:endParaRPr b="1"/>
          </a:p>
        </p:txBody>
      </p:sp>
      <p:cxnSp>
        <p:nvCxnSpPr>
          <p:cNvPr id="780" name="Google Shape;780;p51"/>
          <p:cNvCxnSpPr/>
          <p:nvPr/>
        </p:nvCxnSpPr>
        <p:spPr>
          <a:xfrm flipH="1" rot="10800000">
            <a:off x="9297775" y="4406925"/>
            <a:ext cx="595800" cy="1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1" name="Google Shape;781;p51"/>
          <p:cNvSpPr txBox="1"/>
          <p:nvPr/>
        </p:nvSpPr>
        <p:spPr>
          <a:xfrm>
            <a:off x="7622700" y="5022400"/>
            <a:ext cx="310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/>
              <a:t>Remote connection, bidirectional via HTTP</a:t>
            </a:r>
            <a:endParaRPr i="1" sz="1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52"/>
          <p:cNvSpPr txBox="1"/>
          <p:nvPr/>
        </p:nvSpPr>
        <p:spPr>
          <a:xfrm>
            <a:off x="356874" y="350625"/>
            <a:ext cx="987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Why MCP is a Game-Changer: </a:t>
            </a:r>
            <a:r>
              <a:rPr b="1" lang="en-US" sz="2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Standardization</a:t>
            </a:r>
            <a:endParaRPr sz="24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7" name="Google Shape;787;p52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5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9" name="Google Shape;789;p52"/>
          <p:cNvSpPr txBox="1"/>
          <p:nvPr/>
        </p:nvSpPr>
        <p:spPr>
          <a:xfrm>
            <a:off x="1070650" y="1359325"/>
            <a:ext cx="90261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Provides </a:t>
            </a:r>
            <a:r>
              <a:rPr b="1" lang="en-US" sz="1600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one common interface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databases, APIs, and file systems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Efficiency: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Eliminates the need for custom code per tool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Reduced overhead: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Speeds up development and reduces maintenance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Write once, integrate multiple times: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Simplified development allows you to integrate multiple times without rewriting custom code for every integration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0" name="Google Shape;790;p52"/>
          <p:cNvSpPr txBox="1"/>
          <p:nvPr/>
        </p:nvSpPr>
        <p:spPr>
          <a:xfrm>
            <a:off x="2642100" y="5094975"/>
            <a:ext cx="690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/>
              <a:t>Standardization leads to simpler, more scalable integrations between AI and the tools it needs to access.</a:t>
            </a:r>
            <a:endParaRPr i="1"/>
          </a:p>
        </p:txBody>
      </p:sp>
      <p:pic>
        <p:nvPicPr>
          <p:cNvPr id="791" name="Google Shape;79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575" y="1698125"/>
            <a:ext cx="305425" cy="30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575" y="2470300"/>
            <a:ext cx="305425" cy="30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3" name="Google Shape;79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575" y="3188500"/>
            <a:ext cx="305425" cy="30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4" name="Google Shape;79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575" y="3906700"/>
            <a:ext cx="305425" cy="30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5122" y="4891409"/>
            <a:ext cx="807325" cy="80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87725" y="1698125"/>
            <a:ext cx="1790450" cy="179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53"/>
          <p:cNvSpPr txBox="1"/>
          <p:nvPr/>
        </p:nvSpPr>
        <p:spPr>
          <a:xfrm>
            <a:off x="356875" y="350625"/>
            <a:ext cx="5176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Why MCP is a Game-Changer:</a:t>
            </a:r>
            <a:endParaRPr b="1" sz="24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Plug-and-Play Ecosystem</a:t>
            </a:r>
            <a:endParaRPr b="1" sz="24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2" name="Google Shape;802;p53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5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4" name="Google Shape;804;p53"/>
          <p:cNvSpPr txBox="1"/>
          <p:nvPr/>
        </p:nvSpPr>
        <p:spPr>
          <a:xfrm>
            <a:off x="413100" y="1614525"/>
            <a:ext cx="6208500" cy="43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Open Standard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open standard encourages </a:t>
            </a: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community-built connectors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various tools and services.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Focus on Building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Allows developers to reuse integrations (e.g., for PostgreSQL, GitHub)and focus on building the application, not the plumbing.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End of Isolation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Frees LLMs from isolation, enabling </a:t>
            </a: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real tool use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contextual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answers based on your data.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AI Action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Allows AI to </a:t>
            </a: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act on your behalf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not just advise – true agent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capabilities.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05" name="Google Shape;80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4925" y="2201625"/>
            <a:ext cx="5107877" cy="28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54"/>
          <p:cNvSpPr txBox="1"/>
          <p:nvPr/>
        </p:nvSpPr>
        <p:spPr>
          <a:xfrm>
            <a:off x="356875" y="350625"/>
            <a:ext cx="674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Real-World Example: </a:t>
            </a:r>
            <a:r>
              <a:rPr b="1" lang="en-US" sz="2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Database Access</a:t>
            </a:r>
            <a:endParaRPr b="1" sz="24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1" name="Google Shape;811;p54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5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3" name="Google Shape;813;p54"/>
          <p:cNvSpPr txBox="1"/>
          <p:nvPr/>
        </p:nvSpPr>
        <p:spPr>
          <a:xfrm>
            <a:off x="413100" y="1614525"/>
            <a:ext cx="6602100" cy="43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Challenge using APIs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You would typically manually manage connections with each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database and data visualization tool.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MCP Solution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MCP servers for databases (like PostgreSQL and SQLite) enable an AI to perform </a:t>
            </a: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read-only queries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fetch results.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Rich Context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Instead of supplying a schema in the prompt, </a:t>
            </a: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the AI can directly</a:t>
            </a:r>
            <a:endParaRPr b="1">
              <a:solidFill>
                <a:srgbClr val="9900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access and query your database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Code Repositories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MCP servers for Git/GitHub enable your AI to search your codebase,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read files, or even commit changes, transforming AI pair programming.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14" name="Google Shape;81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7650" y="1910125"/>
            <a:ext cx="4872000" cy="32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55"/>
          <p:cNvSpPr txBox="1"/>
          <p:nvPr/>
        </p:nvSpPr>
        <p:spPr>
          <a:xfrm>
            <a:off x="356875" y="350625"/>
            <a:ext cx="8135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MCP in Context: </a:t>
            </a:r>
            <a:r>
              <a:rPr b="1" lang="en-US" sz="25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Agent-to-Agent</a:t>
            </a:r>
            <a:r>
              <a:rPr b="1" lang="en-US" sz="25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Protocols</a:t>
            </a:r>
            <a:endParaRPr sz="2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0" name="Google Shape;820;p55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5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2" name="Google Shape;822;p55"/>
          <p:cNvSpPr txBox="1"/>
          <p:nvPr/>
        </p:nvSpPr>
        <p:spPr>
          <a:xfrm>
            <a:off x="613375" y="1258150"/>
            <a:ext cx="689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Understanding the ecosystem of AI communication protocols</a:t>
            </a:r>
            <a:endParaRPr sz="1600">
              <a:solidFill>
                <a:schemeClr val="dk1"/>
              </a:solidFill>
            </a:endParaRPr>
          </a:p>
        </p:txBody>
      </p:sp>
      <p:graphicFrame>
        <p:nvGraphicFramePr>
          <p:cNvPr id="823" name="Google Shape;823;p55"/>
          <p:cNvGraphicFramePr/>
          <p:nvPr/>
        </p:nvGraphicFramePr>
        <p:xfrm>
          <a:off x="1216375" y="1995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{827ABE63-9672-44F3-8944-E4397E3A7A1E}</a:tableStyleId>
              </a:tblPr>
              <a:tblGrid>
                <a:gridCol w="1537150"/>
                <a:gridCol w="2530800"/>
                <a:gridCol w="2287800"/>
                <a:gridCol w="228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Protocol</a:t>
                      </a:r>
                      <a:endParaRPr b="1" sz="1600"/>
                    </a:p>
                  </a:txBody>
                  <a:tcPr marT="91425" marB="91425" marR="91425" marL="91425">
                    <a:solidFill>
                      <a:srgbClr val="C2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  MCP </a:t>
                      </a:r>
                      <a:endParaRPr b="1" sz="16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A2A (Agent-to-Agent)</a:t>
                      </a:r>
                      <a:endParaRPr b="1" sz="1600"/>
                    </a:p>
                  </a:txBody>
                  <a:tcPr marT="91425" marB="91425" marR="91425" marL="91425">
                    <a:solidFill>
                      <a:srgbClr val="C2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ACP</a:t>
                      </a:r>
                      <a:endParaRPr b="1" sz="1600"/>
                    </a:p>
                  </a:txBody>
                  <a:tcPr marT="91425" marB="91425" marR="91425" marL="91425">
                    <a:solidFill>
                      <a:srgbClr val="C2D4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Creator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Anthropic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Google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IBM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noFill/>
                  </a:tcPr>
                </a:tc>
              </a:tr>
              <a:tr h="117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Primary Focus</a:t>
                      </a:r>
                      <a:endParaRPr b="1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Connects LLMs/agents to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9900FF"/>
                          </a:solidFill>
                        </a:rPr>
                        <a:t>external tools, data sources, and APIs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/>
                        <a:t>Facilitates direct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rgbClr val="9900FF"/>
                          </a:solidFill>
                        </a:rPr>
                        <a:t>communication and</a:t>
                      </a:r>
                      <a:endParaRPr b="1">
                        <a:solidFill>
                          <a:srgbClr val="99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rgbClr val="9900FF"/>
                          </a:solidFill>
                        </a:rPr>
                        <a:t>collaboration</a:t>
                      </a:r>
                      <a:r>
                        <a:rPr lang="en-US"/>
                        <a:t> between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autonomous agents.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/>
                        <a:t>Standardizes </a:t>
                      </a:r>
                      <a:r>
                        <a:rPr b="1" lang="en-US">
                          <a:solidFill>
                            <a:srgbClr val="9900FF"/>
                          </a:solidFill>
                        </a:rPr>
                        <a:t>structured</a:t>
                      </a:r>
                      <a:endParaRPr b="1">
                        <a:solidFill>
                          <a:srgbClr val="99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rgbClr val="9900FF"/>
                          </a:solidFill>
                        </a:rPr>
                        <a:t>communication and task</a:t>
                      </a:r>
                      <a:endParaRPr b="1">
                        <a:solidFill>
                          <a:srgbClr val="99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9900FF"/>
                          </a:solidFill>
                        </a:rPr>
                        <a:t>coordination</a:t>
                      </a:r>
                      <a:r>
                        <a:rPr lang="en-US"/>
                        <a:t> among agents in shared environments.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Use Case</a:t>
                      </a:r>
                      <a:endParaRPr b="1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Enables dynamic context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injection and tool invocation for </a:t>
                      </a:r>
                      <a:r>
                        <a:rPr b="1" lang="en-US">
                          <a:solidFill>
                            <a:srgbClr val="9900FF"/>
                          </a:solidFill>
                        </a:rPr>
                        <a:t>a single agent or LLM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Supports </a:t>
                      </a:r>
                      <a:r>
                        <a:rPr b="1" lang="en-US">
                          <a:solidFill>
                            <a:srgbClr val="9900FF"/>
                          </a:solidFill>
                        </a:rPr>
                        <a:t>multi-agent</a:t>
                      </a:r>
                      <a:endParaRPr b="1">
                        <a:solidFill>
                          <a:srgbClr val="99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9900FF"/>
                          </a:solidFill>
                        </a:rPr>
                        <a:t>workflows</a:t>
                      </a:r>
                      <a:r>
                        <a:rPr lang="en-US"/>
                        <a:t>, task delegation, and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coordination.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/>
                        <a:t>Enables </a:t>
                      </a:r>
                      <a:r>
                        <a:rPr b="1" lang="en-US">
                          <a:solidFill>
                            <a:srgbClr val="9900FF"/>
                          </a:solidFill>
                        </a:rPr>
                        <a:t>interoperability and coordination</a:t>
                      </a:r>
                      <a:r>
                        <a:rPr lang="en-US"/>
                        <a:t> across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heterogeneous agent systems.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56"/>
          <p:cNvSpPr txBox="1"/>
          <p:nvPr/>
        </p:nvSpPr>
        <p:spPr>
          <a:xfrm>
            <a:off x="356875" y="350625"/>
            <a:ext cx="435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Deep Dive: </a:t>
            </a:r>
            <a:r>
              <a:rPr b="1" lang="en-US" sz="2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A2A Protocol</a:t>
            </a:r>
            <a:endParaRPr b="1" sz="24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9" name="Google Shape;829;p56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5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1" name="Google Shape;831;p56"/>
          <p:cNvSpPr txBox="1"/>
          <p:nvPr/>
        </p:nvSpPr>
        <p:spPr>
          <a:xfrm>
            <a:off x="428425" y="1461200"/>
            <a:ext cx="66021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Core Purpose:</a:t>
            </a:r>
            <a:endParaRPr b="1" sz="1600">
              <a:solidFill>
                <a:srgbClr val="9900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 open protocol for secure, interoperable, and structured communication between AI agents. It aims to break down silos between different agent ecosystems.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Discovery:</a:t>
            </a:r>
            <a:endParaRPr b="1" sz="1600">
              <a:solidFill>
                <a:srgbClr val="9900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Agents can advertise their capabilities using an "Agent Card" (JSON format). This helps a client agent find the best remote agent for a task.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Task Management:</a:t>
            </a:r>
            <a:endParaRPr b="1" sz="1600">
              <a:solidFill>
                <a:srgbClr val="9900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Communication is oriented towards task completion. Tasks have a lifecycle and, for long-running processes, agents stay in sync on the latest status. The output is known as an "artifact".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2" name="Google Shape;832;p56"/>
          <p:cNvSpPr txBox="1"/>
          <p:nvPr/>
        </p:nvSpPr>
        <p:spPr>
          <a:xfrm>
            <a:off x="1936800" y="5573375"/>
            <a:ext cx="853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/>
              <a:t>A2A enables multi-agent workflows, task delegation, and coordination across different agent systems.</a:t>
            </a:r>
            <a:endParaRPr i="1"/>
          </a:p>
        </p:txBody>
      </p:sp>
      <p:pic>
        <p:nvPicPr>
          <p:cNvPr id="833" name="Google Shape;83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9650" y="1589000"/>
            <a:ext cx="4856673" cy="350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57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5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0" name="Google Shape;840;p57"/>
          <p:cNvSpPr/>
          <p:nvPr/>
        </p:nvSpPr>
        <p:spPr>
          <a:xfrm>
            <a:off x="1731175" y="4226500"/>
            <a:ext cx="3982200" cy="101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MCP = Execution Backbone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Poppins"/>
                <a:ea typeface="Poppins"/>
                <a:cs typeface="Poppins"/>
                <a:sym typeface="Poppins"/>
              </a:rPr>
              <a:t>Agents use MCP to fetch data from sources and execute actions via tools. It's the protocol that connects models to the real world.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57"/>
          <p:cNvSpPr txBox="1"/>
          <p:nvPr/>
        </p:nvSpPr>
        <p:spPr>
          <a:xfrm>
            <a:off x="424125" y="356150"/>
            <a:ext cx="712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MCP, A2A, and ACP: Complementary Roles</a:t>
            </a:r>
            <a:endParaRPr b="1"/>
          </a:p>
        </p:txBody>
      </p:sp>
      <p:sp>
        <p:nvSpPr>
          <p:cNvPr id="842" name="Google Shape;842;p57"/>
          <p:cNvSpPr/>
          <p:nvPr/>
        </p:nvSpPr>
        <p:spPr>
          <a:xfrm>
            <a:off x="6636125" y="4226500"/>
            <a:ext cx="3824700" cy="101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A2A/ACP = Communication Structure</a:t>
            </a:r>
            <a:br>
              <a:rPr lang="en-US"/>
            </a:br>
            <a:r>
              <a:rPr lang="en-US" sz="1000">
                <a:latin typeface="Poppins"/>
                <a:ea typeface="Poppins"/>
                <a:cs typeface="Poppins"/>
                <a:sym typeface="Poppins"/>
              </a:rPr>
              <a:t>A2A provides the routing logic while ACP provides the message format necessary to build cohesive, intelligent agent ecosystems.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57"/>
          <p:cNvSpPr/>
          <p:nvPr/>
        </p:nvSpPr>
        <p:spPr>
          <a:xfrm>
            <a:off x="1715875" y="5352250"/>
            <a:ext cx="4012800" cy="101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Workflow Integration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Poppins"/>
                <a:ea typeface="Poppins"/>
                <a:cs typeface="Poppins"/>
                <a:sym typeface="Poppins"/>
              </a:rPr>
              <a:t>Agents first use MCP to gather context and interact with tools, then use A2A to share insights or delegate tasks to other specialized agents.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57"/>
          <p:cNvSpPr/>
          <p:nvPr/>
        </p:nvSpPr>
        <p:spPr>
          <a:xfrm>
            <a:off x="6641213" y="5324050"/>
            <a:ext cx="3855300" cy="1068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Cross-Agent Benefits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Poppins"/>
                <a:ea typeface="Poppins"/>
                <a:cs typeface="Poppins"/>
                <a:sym typeface="Poppins"/>
              </a:rPr>
              <a:t>By using complementary protocols, enterprises can build AI systems that gather information, take actions, and collaborate effectively across specialized agent boundaries.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5" name="Google Shape;84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100" y="1021125"/>
            <a:ext cx="9594276" cy="325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58"/>
          <p:cNvSpPr txBox="1"/>
          <p:nvPr/>
        </p:nvSpPr>
        <p:spPr>
          <a:xfrm>
            <a:off x="356875" y="350625"/>
            <a:ext cx="5988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Getting Started: </a:t>
            </a:r>
            <a:r>
              <a:rPr b="1" lang="en-US" sz="2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Integrating MCP</a:t>
            </a:r>
            <a:endParaRPr b="1" sz="26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1" name="Google Shape;851;p58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5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3" name="Google Shape;853;p58"/>
          <p:cNvSpPr txBox="1"/>
          <p:nvPr/>
        </p:nvSpPr>
        <p:spPr>
          <a:xfrm>
            <a:off x="356875" y="1435675"/>
            <a:ext cx="6855300" cy="43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Leverage Existing Servers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Always check official examples; connectors for common tools likely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already exist in the community repositories.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MCP-Enabled Clients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Ensure your AI model supports MCP. Tools like </a:t>
            </a: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Claude Desktop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Cursor IDE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frameworks like </a:t>
            </a: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LangChain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offer built-in MCP support.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Build Custom Servers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If your data source is proprietary, building a custom server is easy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using SDKs (Python, TypeScript, etc.). Use </a:t>
            </a: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FastMCP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define tool functions.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Agent Frameworks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LangGraph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agents can use tools defined on MCP servers via the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langchain-mcp-adapters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library.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54" name="Google Shape;85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8350" y="2112012"/>
            <a:ext cx="4675025" cy="2633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9"/>
          <p:cNvSpPr txBox="1"/>
          <p:nvPr/>
        </p:nvSpPr>
        <p:spPr>
          <a:xfrm>
            <a:off x="331950" y="412375"/>
            <a:ext cx="855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Summary: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MCP</a:t>
            </a: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is a Win for Everyone!</a:t>
            </a:r>
            <a:endParaRPr sz="2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0" name="Google Shape;860;p59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5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2" name="Google Shape;862;p59"/>
          <p:cNvSpPr txBox="1"/>
          <p:nvPr/>
        </p:nvSpPr>
        <p:spPr>
          <a:xfrm>
            <a:off x="523825" y="1272125"/>
            <a:ext cx="100431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For AI Application Developers: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Seamlessly connect your app to any MCP server with </a:t>
            </a: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zero extra integration effort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For AI Application Users: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Enjoy rich, extensible AI capabilities across all your tools without </a:t>
            </a: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compatibility headaches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For Tool or API Developers: 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Build once—deploy everywhere: a single </a:t>
            </a: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MCP-compliant server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that any application can adopt.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9900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9900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For Enterprises: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Enforce clear </a:t>
            </a:r>
            <a:r>
              <a:rPr b="1" lang="en-US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separation of concerns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governance across AI product teams.</a:t>
            </a:r>
            <a:endParaRPr b="1" sz="1600">
              <a:solidFill>
                <a:srgbClr val="990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3" name="Google Shape;863;p59"/>
          <p:cNvSpPr txBox="1"/>
          <p:nvPr/>
        </p:nvSpPr>
        <p:spPr>
          <a:xfrm>
            <a:off x="1827000" y="5266775"/>
            <a:ext cx="853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/>
              <a:t>MCP provides the standardization necessary to ensure robust, secure, and flexible interaction between AI models and the complex world of enterprise data and tools.</a:t>
            </a:r>
            <a:endParaRPr i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60"/>
          <p:cNvSpPr/>
          <p:nvPr/>
        </p:nvSpPr>
        <p:spPr>
          <a:xfrm>
            <a:off x="4878125" y="2598603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60"/>
          <p:cNvSpPr txBox="1"/>
          <p:nvPr/>
        </p:nvSpPr>
        <p:spPr>
          <a:xfrm>
            <a:off x="4774597" y="2704200"/>
            <a:ext cx="235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Q/A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6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61"/>
          <p:cNvSpPr/>
          <p:nvPr/>
        </p:nvSpPr>
        <p:spPr>
          <a:xfrm>
            <a:off x="4878125" y="2598603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61"/>
          <p:cNvSpPr txBox="1"/>
          <p:nvPr/>
        </p:nvSpPr>
        <p:spPr>
          <a:xfrm>
            <a:off x="4774597" y="2704200"/>
            <a:ext cx="235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Thanks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6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7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6B3F3"/>
      </a:accent1>
      <a:accent2>
        <a:srgbClr val="3BC9FB"/>
      </a:accent2>
      <a:accent3>
        <a:srgbClr val="0492C4"/>
      </a:accent3>
      <a:accent4>
        <a:srgbClr val="035F7F"/>
      </a:accent4>
      <a:accent5>
        <a:srgbClr val="5B9BD5"/>
      </a:accent5>
      <a:accent6>
        <a:srgbClr val="E94C8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