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Poppins"/>
      <p:regular r:id="rId29"/>
      <p:bold r:id="rId30"/>
      <p:italic r:id="rId31"/>
      <p:boldItalic r:id="rId32"/>
    </p:embeddedFont>
    <p:embeddedFont>
      <p:font typeface="IBM Plex Mono Light"/>
      <p:regular r:id="rId33"/>
      <p:bold r:id="rId34"/>
      <p:italic r:id="rId35"/>
      <p:boldItalic r:id="rId36"/>
    </p:embeddedFont>
    <p:embeddedFont>
      <p:font typeface="Open Sans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IBMPlexMonoLight-regular.fnt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35" Type="http://schemas.openxmlformats.org/officeDocument/2006/relationships/font" Target="fonts/IBMPlexMonoLight-italic.fntdata"/><Relationship Id="rId12" Type="http://schemas.openxmlformats.org/officeDocument/2006/relationships/slide" Target="slides/slide7.xml"/><Relationship Id="rId34" Type="http://schemas.openxmlformats.org/officeDocument/2006/relationships/font" Target="fonts/IBMPlexMonoLight-bold.fntdata"/><Relationship Id="rId15" Type="http://schemas.openxmlformats.org/officeDocument/2006/relationships/slide" Target="slides/slide10.xml"/><Relationship Id="rId37" Type="http://schemas.openxmlformats.org/officeDocument/2006/relationships/font" Target="fonts/OpenSansLight-regular.fntdata"/><Relationship Id="rId14" Type="http://schemas.openxmlformats.org/officeDocument/2006/relationships/slide" Target="slides/slide9.xml"/><Relationship Id="rId36" Type="http://schemas.openxmlformats.org/officeDocument/2006/relationships/font" Target="fonts/IBMPlexMonoLight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Light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81778fac8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81778fac87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cfc63e274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9cfc63e274_0_6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184dc233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a184dc233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184dc233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a184dc233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a184dc233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a184dc233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184dc233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a184dc233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184dc233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a184dc233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184dc233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a184dc233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184dc233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g3a184dc2332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184dc233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a184dc2332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a184dc233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a184dc2332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a184dc233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a184dc2332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184dc233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a184dc2332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184dc233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3a184dc2332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184dc233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a184dc2332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a184dc233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a184dc2332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5" y="2469824"/>
            <a:ext cx="7362900" cy="892801"/>
            <a:chOff x="800250" y="1467172"/>
            <a:chExt cx="7362900" cy="8928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0" y="1467173"/>
              <a:ext cx="73629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D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Agentic AI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1121150" y="2336100"/>
            <a:ext cx="9720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LangGraph Design Patterns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1504700" y="3475200"/>
            <a:ext cx="895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From Static Chatbots to Autonomous AI Systems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2677467" y="1838400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LangGraph Design patterns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2677467" y="2277475"/>
            <a:ext cx="3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Pattern 1: Tool Use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2687693" y="3556738"/>
            <a:ext cx="34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Pattern 4: Multi-Agent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2677467" y="2716550"/>
            <a:ext cx="43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Pattern 2: Reflection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2" name="Google Shape;642;p40"/>
          <p:cNvSpPr txBox="1"/>
          <p:nvPr/>
        </p:nvSpPr>
        <p:spPr>
          <a:xfrm>
            <a:off x="2677467" y="3129200"/>
            <a:ext cx="249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Pattern 3: Planning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3" name="Google Shape;6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00" y="200115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00" y="2440225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00" y="2866088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00" y="3299400"/>
            <a:ext cx="105600" cy="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00" y="3701788"/>
            <a:ext cx="105600" cy="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LangGraph Design patterns</a:t>
            </a:r>
            <a:endParaRPr b="1" sz="23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3" name="Google Shape;653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5" name="Google Shape;655;p41"/>
          <p:cNvSpPr txBox="1"/>
          <p:nvPr/>
        </p:nvSpPr>
        <p:spPr>
          <a:xfrm>
            <a:off x="834925" y="1449975"/>
            <a:ext cx="7741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Building on our knowledge of State, Nodes, and Edges, we will now explore common, reusable "recipes" for building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6" name="Google Shape;656;p41"/>
          <p:cNvSpPr txBox="1"/>
          <p:nvPr/>
        </p:nvSpPr>
        <p:spPr>
          <a:xfrm>
            <a:off x="3933020" y="3936700"/>
            <a:ext cx="251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Reflection Pattern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7" name="Google Shape;657;p41"/>
          <p:cNvSpPr txBox="1"/>
          <p:nvPr/>
        </p:nvSpPr>
        <p:spPr>
          <a:xfrm>
            <a:off x="3933025" y="3387525"/>
            <a:ext cx="196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Tool Use Pattern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41"/>
          <p:cNvSpPr txBox="1"/>
          <p:nvPr/>
        </p:nvSpPr>
        <p:spPr>
          <a:xfrm>
            <a:off x="2571600" y="2788038"/>
            <a:ext cx="443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will cover:</a:t>
            </a:r>
            <a:endParaRPr b="1"/>
          </a:p>
        </p:txBody>
      </p:sp>
      <p:sp>
        <p:nvSpPr>
          <p:cNvPr id="659" name="Google Shape;659;p41"/>
          <p:cNvSpPr txBox="1"/>
          <p:nvPr/>
        </p:nvSpPr>
        <p:spPr>
          <a:xfrm>
            <a:off x="3933025" y="4485875"/>
            <a:ext cx="59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Planning Pattern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41"/>
          <p:cNvSpPr txBox="1"/>
          <p:nvPr/>
        </p:nvSpPr>
        <p:spPr>
          <a:xfrm>
            <a:off x="3933025" y="5079925"/>
            <a:ext cx="251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Multi-Agent Pattern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1" name="Google Shape;6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352" y="3489975"/>
            <a:ext cx="311500" cy="3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8350" y="4030071"/>
            <a:ext cx="311500" cy="3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8350" y="4545675"/>
            <a:ext cx="311500" cy="3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8350" y="5152500"/>
            <a:ext cx="311500" cy="3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2"/>
          <p:cNvSpPr txBox="1"/>
          <p:nvPr/>
        </p:nvSpPr>
        <p:spPr>
          <a:xfrm>
            <a:off x="356875" y="350625"/>
            <a:ext cx="361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1: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Use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2" name="Google Shape;672;p42"/>
          <p:cNvSpPr txBox="1"/>
          <p:nvPr/>
        </p:nvSpPr>
        <p:spPr>
          <a:xfrm>
            <a:off x="1324250" y="954200"/>
            <a:ext cx="904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Equip agents to use external functions, tools, and APIs to answer questions or perform actions.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42"/>
          <p:cNvSpPr txBox="1"/>
          <p:nvPr/>
        </p:nvSpPr>
        <p:spPr>
          <a:xfrm>
            <a:off x="455450" y="1631300"/>
            <a:ext cx="107853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This is the most fundamental agentic pattern. It's almost always a cycle.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The Flow: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Model: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LLM is called. It receives the user's question and decides it needs to use a tool (e.g., search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("weather in SF")).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State Update: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model's response (containing the tool_call request) is added to the State.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Conditional Edge: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A routing function checks the last message. Does it contain a tool_call?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○ </a:t>
            </a:r>
            <a:r>
              <a:rPr b="1" lang="en-US">
                <a:solidFill>
                  <a:srgbClr val="33A685"/>
                </a:solidFill>
                <a:latin typeface="Poppins"/>
                <a:ea typeface="Poppins"/>
                <a:cs typeface="Poppins"/>
                <a:sym typeface="Poppins"/>
              </a:rPr>
              <a:t>Yes: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Route to the Tool Node.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○ </a:t>
            </a:r>
            <a:r>
              <a:rPr b="1" lang="en-US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No: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Route to __end__ (the agent has its final answer).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Tool Node: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A Python function parses the tool_call, executes the actual tool, and gets a result (e.g., "70 degrees and sunny").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State Update: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The tool's output is added to the State as a ToolMessage.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Loop:</a:t>
            </a: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Tool Node routes back to the Model node.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Model:</a:t>
            </a:r>
            <a:r>
              <a:rPr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The LLM now sees the original question, its own tool request, and the tool's result. It can now formulate the final answer.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3"/>
          <p:cNvSpPr txBox="1"/>
          <p:nvPr/>
        </p:nvSpPr>
        <p:spPr>
          <a:xfrm>
            <a:off x="356875" y="350625"/>
            <a:ext cx="345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1: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Use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1" name="Google Shape;6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675" y="925850"/>
            <a:ext cx="6725406" cy="56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4"/>
          <p:cNvSpPr txBox="1"/>
          <p:nvPr/>
        </p:nvSpPr>
        <p:spPr>
          <a:xfrm>
            <a:off x="356875" y="350625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1: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Use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9" name="Google Shape;689;p44"/>
          <p:cNvSpPr txBox="1"/>
          <p:nvPr/>
        </p:nvSpPr>
        <p:spPr>
          <a:xfrm>
            <a:off x="1397825" y="873825"/>
            <a:ext cx="8425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build it: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State: </a:t>
            </a:r>
            <a:r>
              <a:rPr lang="en-US" sz="1200"/>
              <a:t>Use Annotated[list, add_messages] for your messages. It's designed to automatically handle AIMessage and ToolMessage objects.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Tool Node: </a:t>
            </a:r>
            <a:r>
              <a:rPr lang="en-US" sz="1200"/>
              <a:t>Create a node to execute tools. It will parse tool_calls from the last message, run the functions, and return a list of ToolMessage objects.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Conditional Edge:</a:t>
            </a:r>
            <a:r>
              <a:rPr lang="en-US" sz="1200"/>
              <a:t> Create a function that checks the tool_calls attribute of the last message.</a:t>
            </a:r>
            <a:endParaRPr sz="1200"/>
          </a:p>
        </p:txBody>
      </p:sp>
      <p:sp>
        <p:nvSpPr>
          <p:cNvPr id="690" name="Google Shape;690;p44"/>
          <p:cNvSpPr/>
          <p:nvPr/>
        </p:nvSpPr>
        <p:spPr>
          <a:xfrm>
            <a:off x="2079700" y="2745750"/>
            <a:ext cx="7365300" cy="3725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&lt;!-- end list --&gt;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 import StateGraph, END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langgraph.graph.message import add_messages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typing import TypedDict, Annotated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langchain_core.messages import ToolMessage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1. State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AgentState(TypedDict):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2. Tool Node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tool_node(state: AgentState):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last_message = state['messages'][-1]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tool_call = last_message.tool_calls[0]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... logic to run the actual tool function ...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result = my_search_tool(tool_call['args'])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result = "The weather is 70 degrees and sunny." 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Mock result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{"messages": [ToolMessage(content=str(result),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tool_call_id=tool_call['id'])]}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5"/>
          <p:cNvSpPr txBox="1"/>
          <p:nvPr/>
        </p:nvSpPr>
        <p:spPr>
          <a:xfrm>
            <a:off x="374600" y="203025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1: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Use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6" name="Google Shape;696;p45"/>
          <p:cNvSpPr/>
          <p:nvPr/>
        </p:nvSpPr>
        <p:spPr>
          <a:xfrm>
            <a:off x="485361" y="159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8" name="Google Shape;698;p45"/>
          <p:cNvSpPr/>
          <p:nvPr/>
        </p:nvSpPr>
        <p:spPr>
          <a:xfrm>
            <a:off x="2295250" y="633825"/>
            <a:ext cx="8572800" cy="60855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3. Conditional Logic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should_use_tools(state: AgentState):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last_message = state['messages'][-1]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last_message.tool_calls: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"tool_node"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Go to the tool-calling node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Stop the graph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--- Graph Setup ---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StateGraph(AgentState)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workflow.add_node("model_node", model_function) 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Your LLM-calling node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workflow.add_node("tool_node", tool_node)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workflow.set_entry_point("model_node")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The conditional edge routes to tools or to the end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"model_node",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should_use_tools,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"tool_node": "tool_node",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END: 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The tool node *always* loops back to the model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workflow.add_edge("tool_node", "model_node")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 = workflow.compile()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6"/>
          <p:cNvSpPr txBox="1"/>
          <p:nvPr/>
        </p:nvSpPr>
        <p:spPr>
          <a:xfrm>
            <a:off x="356875" y="350625"/>
            <a:ext cx="49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2: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6" name="Google Shape;706;p46"/>
          <p:cNvSpPr txBox="1"/>
          <p:nvPr/>
        </p:nvSpPr>
        <p:spPr>
          <a:xfrm>
            <a:off x="411825" y="1078200"/>
            <a:ext cx="103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Allow an agent to assess, critique, and improve its own output before returning it to the user.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7" name="Google Shape;707;p46"/>
          <p:cNvSpPr txBox="1"/>
          <p:nvPr/>
        </p:nvSpPr>
        <p:spPr>
          <a:xfrm>
            <a:off x="455450" y="1631300"/>
            <a:ext cx="10785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This is a simple but powerful loop for increasing answer quality.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The Flow: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1. Generate Node: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LLM generates an initial answer to the user's request (e.g., writes a paragraph).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2. State Update: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draft answer is saved to the State.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3. Reflect Node: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second LLM call (or a rule-based function) acts as a "critic." It reads the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draft from the State and "grades" it (e.g., {"grade": "bad", "critique": "Too short."}).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4. State Update: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grade and critique are saved to the State.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5. Conditional Edge: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router function checks the grade.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○ If grade == "good", route to __end__.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○ If grade == "bad", route back to the Generate Node. The prompt for this node is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updated to include the critique (e.g., "User wants X. Here is a bad draft: ...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Here is the critique: ... Please write a new, better draft.").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7"/>
          <p:cNvSpPr txBox="1"/>
          <p:nvPr/>
        </p:nvSpPr>
        <p:spPr>
          <a:xfrm>
            <a:off x="356875" y="350625"/>
            <a:ext cx="54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2: </a:t>
            </a:r>
            <a:r>
              <a:rPr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 sz="19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5" name="Google Shape;7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075" y="1065100"/>
            <a:ext cx="8573150" cy="53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8"/>
          <p:cNvSpPr txBox="1"/>
          <p:nvPr/>
        </p:nvSpPr>
        <p:spPr>
          <a:xfrm>
            <a:off x="356875" y="350625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2: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Reflection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3" name="Google Shape;723;p48"/>
          <p:cNvSpPr txBox="1"/>
          <p:nvPr/>
        </p:nvSpPr>
        <p:spPr>
          <a:xfrm>
            <a:off x="1397825" y="873825"/>
            <a:ext cx="8425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build it: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State: </a:t>
            </a:r>
            <a:r>
              <a:rPr lang="en-US" sz="1200"/>
              <a:t>Add fields to your state to hold the critique and grade.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Tool Node: </a:t>
            </a:r>
            <a:r>
              <a:rPr lang="en-US" sz="1200"/>
              <a:t>Create two distinct nodes: generate_node and reflect_node.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Conditional Edge:</a:t>
            </a:r>
            <a:r>
              <a:rPr lang="en-US" sz="1200"/>
              <a:t> </a:t>
            </a:r>
            <a:r>
              <a:rPr lang="en-US" sz="1200"/>
              <a:t>Create a function that routes based on the grade field.</a:t>
            </a:r>
            <a:endParaRPr sz="1200"/>
          </a:p>
        </p:txBody>
      </p:sp>
      <p:sp>
        <p:nvSpPr>
          <p:cNvPr id="724" name="Google Shape;724;p48"/>
          <p:cNvSpPr/>
          <p:nvPr/>
        </p:nvSpPr>
        <p:spPr>
          <a:xfrm>
            <a:off x="2079700" y="2745750"/>
            <a:ext cx="8425200" cy="3725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&lt;!-- end list --&gt;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random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typing import TypedDict, Annotated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 import StateGraph, 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langgraph.graph.message import add_messages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1. State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ReflectState(TypedDict):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grade: str # Our new field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2. Nodes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generate_node(state: ReflectState):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print("---GENERATE NODE---")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 a real app, you'd call an LLM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If a critique exists, you'd add it to the prompt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response_text = f"I'm answering: {state['messages'][-1].content}"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{"messages": [("ai", response_text)]}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0" name="Google Shape;730;p49"/>
          <p:cNvSpPr/>
          <p:nvPr/>
        </p:nvSpPr>
        <p:spPr>
          <a:xfrm>
            <a:off x="197475" y="826975"/>
            <a:ext cx="4837200" cy="5366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reflect_node(state: ReflectState):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print("---REFLECT NODE---")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 a real app, you'd call an LLM as a "critic"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Here, we'll just randomly "grade" the last AI message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grade = random.choice(["good", "bad"])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print(f"My grade is: {grade}")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{"grade": grade}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3. Conditional Logic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reflection_router(state: ReflectState):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print("---CHECKING GRADE---")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state['grade'] == "good":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END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"generate_node"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Loop back to the 'generate' node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1" name="Google Shape;731;p49"/>
          <p:cNvSpPr/>
          <p:nvPr/>
        </p:nvSpPr>
        <p:spPr>
          <a:xfrm>
            <a:off x="5266500" y="826925"/>
            <a:ext cx="5594400" cy="5366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--- Graph Setup ---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StateGraph(ReflectState)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workflow.add_node("generate_node", generate_node)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workflow.add_node("reflect_node", reflect_node)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workflow.set_entry_point("generate_node")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After generating, always reflect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workflow.add_edge("generate_node", "reflect_node")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After reflecting, use our conditional logic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"reflect_node",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reflection_router,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END: END,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"generate_node": "generate_node"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 = workflow.compile()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2" name="Google Shape;732;p49"/>
          <p:cNvSpPr txBox="1"/>
          <p:nvPr/>
        </p:nvSpPr>
        <p:spPr>
          <a:xfrm>
            <a:off x="321450" y="220750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2: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Reflection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3" name="Google Shape;733;p49"/>
          <p:cNvSpPr/>
          <p:nvPr/>
        </p:nvSpPr>
        <p:spPr>
          <a:xfrm>
            <a:off x="432211" y="17690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0"/>
          <p:cNvSpPr txBox="1"/>
          <p:nvPr/>
        </p:nvSpPr>
        <p:spPr>
          <a:xfrm>
            <a:off x="356875" y="350625"/>
            <a:ext cx="49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3: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9" name="Google Shape;739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1" name="Google Shape;741;p50"/>
          <p:cNvSpPr txBox="1"/>
          <p:nvPr/>
        </p:nvSpPr>
        <p:spPr>
          <a:xfrm>
            <a:off x="405925" y="913125"/>
            <a:ext cx="1031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Guide an agent in a multi-step reasoning task by having it first create a "plan" and then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execute it.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2" name="Google Shape;742;p50"/>
          <p:cNvSpPr txBox="1"/>
          <p:nvPr/>
        </p:nvSpPr>
        <p:spPr>
          <a:xfrm>
            <a:off x="467625" y="1688925"/>
            <a:ext cx="10785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This is for complex, ambiguous goals like "Research the market for new AI-powered headphones and write a summary."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The Flow:</a:t>
            </a:r>
            <a:br>
              <a:rPr b="1" lang="en-US">
                <a:latin typeface="Poppins"/>
                <a:ea typeface="Poppins"/>
                <a:cs typeface="Poppins"/>
                <a:sym typeface="Poppins"/>
              </a:rPr>
            </a:b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Planner Node: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agent receives the user's goal. Its only job is to create a step-by-step plan (e.g., ["1. Search for competitors", "2. Find 3-5 product reviews", "3. Summarize key features", "4. Write final report"]).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2. State Update: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plan (a list) is saved to the State. We also add a past_steps list to track results.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Execute Node: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node reads the next step from the plan, executes it (often by calling a tool), and gets a result.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4. State Update: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(step, result) tuple is added to past_steps.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Replanner Node (Conditional):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the "brain." An LLM looks at the original goal, the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remaining plan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all past_steps. It then decides what to do next: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○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Continue: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plan is good. Route back to the Execute Node to run the next step.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○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Re-plan: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last step failed or something unexpected happened. Route back to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Planner Node to create a new plan.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○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Finish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The plan is complete and the goal is met. Route to __end__.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1"/>
          <p:cNvSpPr txBox="1"/>
          <p:nvPr/>
        </p:nvSpPr>
        <p:spPr>
          <a:xfrm>
            <a:off x="356875" y="350625"/>
            <a:ext cx="54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3: </a:t>
            </a:r>
            <a:r>
              <a:rPr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endParaRPr sz="19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8" name="Google Shape;748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0" name="Google Shape;7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725" y="1000150"/>
            <a:ext cx="8300850" cy="52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2"/>
          <p:cNvSpPr txBox="1"/>
          <p:nvPr/>
        </p:nvSpPr>
        <p:spPr>
          <a:xfrm>
            <a:off x="356875" y="350625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3: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6" name="Google Shape;756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52"/>
          <p:cNvSpPr txBox="1"/>
          <p:nvPr/>
        </p:nvSpPr>
        <p:spPr>
          <a:xfrm>
            <a:off x="1397825" y="873825"/>
            <a:ext cx="8425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build it: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State: </a:t>
            </a:r>
            <a:r>
              <a:rPr lang="en-US" sz="1200"/>
              <a:t>The State is crucial. It must track the plan, the results of past steps, and the original goal.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Tool Node: </a:t>
            </a:r>
            <a:r>
              <a:rPr lang="en-US" sz="1200"/>
              <a:t>You'll have at least three: planner_node, execute_node, and replanner_node.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Conditional Edge:</a:t>
            </a:r>
            <a:r>
              <a:rPr lang="en-US" sz="1200"/>
              <a:t> </a:t>
            </a:r>
            <a:r>
              <a:rPr lang="en-US" sz="1200"/>
              <a:t>The edge after execute_node routes to the replanner_node. The replanner_node itself becomes a conditional router.</a:t>
            </a:r>
            <a:endParaRPr sz="1200"/>
          </a:p>
        </p:txBody>
      </p:sp>
      <p:sp>
        <p:nvSpPr>
          <p:cNvPr id="759" name="Google Shape;759;p52"/>
          <p:cNvSpPr/>
          <p:nvPr/>
        </p:nvSpPr>
        <p:spPr>
          <a:xfrm>
            <a:off x="2079700" y="2745750"/>
            <a:ext cx="8425200" cy="3725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&lt;!-- end list --&gt;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typing import List, Tuple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1. State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PlanningState(TypedDict):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original_question: str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plan: List[str]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past_steps: List[Tuple[str, str]] # (step, result)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response: str # Final response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2. Nodes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planner_node(state: PlanningState):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Call LLM to create a plan based on 'original_question'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new_plan = ...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return {"plan": new_plan}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5" name="Google Shape;765;p53"/>
          <p:cNvSpPr/>
          <p:nvPr/>
        </p:nvSpPr>
        <p:spPr>
          <a:xfrm>
            <a:off x="197475" y="826975"/>
            <a:ext cx="4837200" cy="56796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execute_node(state: PlanningState):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Get next step from state['plan']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next_step = state['plan'][0]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remaining_plan = state['plan'][1:]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... execute the step (often a tool call) ...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result = ...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new_past_steps = state['past_steps'] + [(next_step, result)]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return {"plan": remaining_plan, "past_steps": new_past_steps}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replanner_node(state: PlanningState):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Call LLM to decide what to do next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if plan_is_complete: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	# ... generate final response …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	return {"response": final_response, "next_action": "finish"}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elif needs_new_plan: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	return {"next_action": "replan"}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else: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	return {"next_action": "continue"}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6" name="Google Shape;766;p53"/>
          <p:cNvSpPr/>
          <p:nvPr/>
        </p:nvSpPr>
        <p:spPr>
          <a:xfrm>
            <a:off x="5266500" y="826925"/>
            <a:ext cx="5594400" cy="56796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--- Graph Setup ---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StateGraph(PlanningState)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workflow.add_node("planner", planner_node)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workflow.add_node("execute_step", execute_node)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workflow.add_node("replanner", replanner_node)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workflow.set_entry_point("planner")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workflow.add_edge("planner", "execute_step")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workflow.add_edge("execute_step", "replanner")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3. Conditional Edge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"replanner",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lambda x: x["next_action"], # Get decision from state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"continue": "execute_step", # Loop to execute next step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"replan": "planner", # Go back to replan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"finish": END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 = workflow.compile()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7" name="Google Shape;767;p53"/>
          <p:cNvSpPr txBox="1"/>
          <p:nvPr/>
        </p:nvSpPr>
        <p:spPr>
          <a:xfrm>
            <a:off x="321450" y="220750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</a:t>
            </a: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n 3: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8" name="Google Shape;768;p53"/>
          <p:cNvSpPr/>
          <p:nvPr/>
        </p:nvSpPr>
        <p:spPr>
          <a:xfrm>
            <a:off x="432211" y="17690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4"/>
          <p:cNvSpPr txBox="1"/>
          <p:nvPr/>
        </p:nvSpPr>
        <p:spPr>
          <a:xfrm>
            <a:off x="356875" y="350625"/>
            <a:ext cx="49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4: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Multi-Agent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4" name="Google Shape;774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6" name="Google Shape;776;p54"/>
          <p:cNvSpPr txBox="1"/>
          <p:nvPr/>
        </p:nvSpPr>
        <p:spPr>
          <a:xfrm>
            <a:off x="405925" y="913125"/>
            <a:ext cx="1031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Enable collaboration between multiple, specialized agents to solve a complex problem.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7" name="Google Shape;777;p54"/>
          <p:cNvSpPr txBox="1"/>
          <p:nvPr/>
        </p:nvSpPr>
        <p:spPr>
          <a:xfrm>
            <a:off x="432200" y="1316950"/>
            <a:ext cx="10785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Think of a "team" of agents: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Researcher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Good at searching the web.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Writer: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Good at composing long-form text.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Coordinator: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"manager" agent that routes tasks and messages between the other agents.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4. State Update: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(step, result) tuple is added to past_steps.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Flow: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user's request (e.g., "write a blog post about X") goes to the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Coordinator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Coordinator decides the first step. "I need research." It routes the task to the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Researcher agent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Researcher node (which could be its own nested LangGraph) runs and returns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findings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findings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 back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the Coordinator.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Coordinator decides the next step. "Now I need a draft." It routes the findings to the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Writer agent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Writer node runs and returns a draft.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draft goes back to the Coordinator, which decides the task is complete and returns the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answer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5"/>
          <p:cNvSpPr txBox="1"/>
          <p:nvPr/>
        </p:nvSpPr>
        <p:spPr>
          <a:xfrm>
            <a:off x="356875" y="350625"/>
            <a:ext cx="54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4: </a:t>
            </a:r>
            <a:r>
              <a:rPr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Multi-Agent</a:t>
            </a:r>
            <a:endParaRPr sz="19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5" name="Google Shape;78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400" y="1023750"/>
            <a:ext cx="8153225" cy="52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6"/>
          <p:cNvSpPr txBox="1"/>
          <p:nvPr/>
        </p:nvSpPr>
        <p:spPr>
          <a:xfrm>
            <a:off x="356875" y="350625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4: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Multi-Agent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1" name="Google Shape;791;p5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3" name="Google Shape;793;p56"/>
          <p:cNvSpPr txBox="1"/>
          <p:nvPr/>
        </p:nvSpPr>
        <p:spPr>
          <a:xfrm>
            <a:off x="712950" y="873825"/>
            <a:ext cx="9966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How to build it: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This pattern uses a central "router" to pass control between agents.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You can build separate graphs for each agent and "nest" them, or you can build one graph where each "node" represents a different agent.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Simple Example: Two-Agent Debate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State: </a:t>
            </a:r>
            <a:r>
              <a:rPr lang="en-US" sz="1200"/>
              <a:t>messages (the full conversation) and turn (which agent speaks next).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Tool Node: </a:t>
            </a:r>
            <a:r>
              <a:rPr lang="en-US" sz="1200"/>
              <a:t>agent_a_node and agent_b_node.</a:t>
            </a:r>
            <a:br>
              <a:rPr lang="en-US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US" sz="1200">
                <a:solidFill>
                  <a:srgbClr val="9900FF"/>
                </a:solidFill>
              </a:rPr>
              <a:t>Conditional Edge:</a:t>
            </a:r>
            <a:r>
              <a:rPr lang="en-US" sz="1200"/>
              <a:t> </a:t>
            </a:r>
            <a:r>
              <a:rPr lang="en-US" sz="1200"/>
              <a:t>A "router" function checks the turn field and also checks for a "FINISH" keyword.</a:t>
            </a:r>
            <a:endParaRPr sz="1200"/>
          </a:p>
        </p:txBody>
      </p:sp>
      <p:sp>
        <p:nvSpPr>
          <p:cNvPr id="794" name="Google Shape;794;p56"/>
          <p:cNvSpPr/>
          <p:nvPr/>
        </p:nvSpPr>
        <p:spPr>
          <a:xfrm>
            <a:off x="2079700" y="3336175"/>
            <a:ext cx="8425200" cy="3259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&lt;!-- end list --&gt;</a:t>
            </a:r>
            <a:b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1. State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DebateState(TypedDict):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messages: Annotated[list, add_messages]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'turn' will be 'A' or 'B'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turn: str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3. Conditional Logic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debate_router(state: DebateState):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Simple stop condition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len(state['messages']) &gt; 6 or "FINISH" in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state['messages'][-1].content: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END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Route to the agent whose turn it is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state['turn']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0" name="Google Shape;800;p57"/>
          <p:cNvSpPr/>
          <p:nvPr/>
        </p:nvSpPr>
        <p:spPr>
          <a:xfrm>
            <a:off x="197475" y="826975"/>
            <a:ext cx="4837200" cy="56796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2. Nodes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agent_a_node(state: DebateState):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... call LLM for agent A ...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new_message = ...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print("AGENT A: ...")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Return the message and set the turn to 'B'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return {"messages": [new_message], "turn": "B"}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agent_b_node(state: DebateState):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... call LLM for agent B ...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new_message = ...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print("AGENT B: ...")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Return the message and set the turn to 'A'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return {"messages": [new_message], "turn": "A"}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Google Shape;801;p57"/>
          <p:cNvSpPr/>
          <p:nvPr/>
        </p:nvSpPr>
        <p:spPr>
          <a:xfrm>
            <a:off x="5266500" y="176900"/>
            <a:ext cx="5594400" cy="6613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--- Graph Setup ---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 = StateGraph(DebateState)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workflow.add_node("A", agent_a_node)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workflow.add_node("B", agent_b_node)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The router is the "Coordinator"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We start the debate by routing to Agent A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workflow.set_entry_point("A")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After Agent A speaks, route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"A",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debate_router,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"B": "B",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END: END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After Agent B speaks, route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workflow.add_conditional_edges(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"B",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debate_router,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"A": "A",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END: END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 = workflow.compile()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app.invoke({"messages": [("user", "Start debating!")] , "turn": "A"})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2" name="Google Shape;802;p57"/>
          <p:cNvSpPr txBox="1"/>
          <p:nvPr/>
        </p:nvSpPr>
        <p:spPr>
          <a:xfrm>
            <a:off x="321450" y="220750"/>
            <a:ext cx="473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Pattern 4: 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Multi-Agent</a:t>
            </a:r>
            <a:r>
              <a:rPr lang="en-US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(Build)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3" name="Google Shape;803;p57"/>
          <p:cNvSpPr/>
          <p:nvPr/>
        </p:nvSpPr>
        <p:spPr>
          <a:xfrm>
            <a:off x="432211" y="17690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8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8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9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9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