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IBM Plex Mono Light"/>
      <p:regular r:id="rId37"/>
      <p:bold r:id="rId38"/>
      <p:italic r:id="rId39"/>
      <p:boldItalic r:id="rId40"/>
    </p:embeddedFont>
    <p:embeddedFont>
      <p:font typeface="Open Sans Light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EBBCD1-3405-49A8-8A14-8127668143C8}">
  <a:tblStyle styleId="{07EBBCD1-3405-49A8-8A14-8127668143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Light-bold.fntdata"/><Relationship Id="rId41" Type="http://schemas.openxmlformats.org/officeDocument/2006/relationships/font" Target="fonts/OpenSansLight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Light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Light-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bold.fntdata"/><Relationship Id="rId23" Type="http://schemas.openxmlformats.org/officeDocument/2006/relationships/slide" Target="slides/slide17.xml"/><Relationship Id="rId45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IBMPlexMonoLight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IBMPlexMonoLight-italic.fntdata"/><Relationship Id="rId16" Type="http://schemas.openxmlformats.org/officeDocument/2006/relationships/slide" Target="slides/slide10.xml"/><Relationship Id="rId38" Type="http://schemas.openxmlformats.org/officeDocument/2006/relationships/font" Target="fonts/IBMPlexMon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cfc63e274_0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9cfc63e27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9cfc63e274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9cfc63e274_0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80e9a035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80e9a0359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9cfc63e274_0_5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9cfc63e274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81778fac8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81778fac87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9cfc63e274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39cfc63e274_0_6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9cfc63e274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9cfc63e274_0_7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9cfc63e274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9cfc63e274_0_7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84610f170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84610f1706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9cfc63e274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9cfc63e274_0_7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9cfc63e274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9cfc63e274_0_7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9cfc63e274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39cfc63e274_0_7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9cfc63e274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9cfc63e274_0_8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9cfc63e274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9cfc63e274_0_8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81778fac8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g381778fac87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9cfc63e274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9cfc63e274_0_8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9cfc63e274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g39cfc63e274_0_9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9cfc63e274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g39cfc63e274_0_9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9cfc63e274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9cfc63e274_0_9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9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42.png"/><Relationship Id="rId7" Type="http://schemas.openxmlformats.org/officeDocument/2006/relationships/image" Target="../media/image21.png"/><Relationship Id="rId8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45.png"/><Relationship Id="rId9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Relationship Id="rId7" Type="http://schemas.openxmlformats.org/officeDocument/2006/relationships/image" Target="../media/image40.png"/><Relationship Id="rId8" Type="http://schemas.openxmlformats.org/officeDocument/2006/relationships/image" Target="../media/image35.png"/><Relationship Id="rId10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44.png"/><Relationship Id="rId7" Type="http://schemas.openxmlformats.org/officeDocument/2006/relationships/image" Target="../media/image32.png"/><Relationship Id="rId8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5" y="2469824"/>
            <a:ext cx="7362900" cy="892801"/>
            <a:chOff x="800250" y="1467172"/>
            <a:chExt cx="7362900" cy="8928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0" y="1467173"/>
              <a:ext cx="73629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D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Agentic AI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1121150" y="2336100"/>
            <a:ext cx="9720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Introduction to LLM-Based Agentic Design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1504700" y="3475200"/>
            <a:ext cx="895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From Static Chatbots to Autonomous AI Systems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1160092" y="1566825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Are LLM-Based Agents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1160092" y="2005900"/>
            <a:ext cx="3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They Differ from Traditional AI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1170318" y="3285163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1 – Agentic or Not?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1160092" y="2444975"/>
            <a:ext cx="43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Architecture &amp; Thought Loop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40"/>
          <p:cNvSpPr txBox="1"/>
          <p:nvPr/>
        </p:nvSpPr>
        <p:spPr>
          <a:xfrm>
            <a:off x="1100117" y="3677300"/>
            <a:ext cx="448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Design Patterns: 	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 Use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Multi-Agent Collaboration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2" name="Google Shape;642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3" name="Google Shape;643;p40"/>
          <p:cNvSpPr txBox="1"/>
          <p:nvPr/>
        </p:nvSpPr>
        <p:spPr>
          <a:xfrm>
            <a:off x="6399850" y="1567800"/>
            <a:ext cx="369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2 – Identify the Pattern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1160092" y="2857625"/>
            <a:ext cx="249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Design Principles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40"/>
          <p:cNvSpPr txBox="1"/>
          <p:nvPr/>
        </p:nvSpPr>
        <p:spPr>
          <a:xfrm>
            <a:off x="6399850" y="1980451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Real-World Examples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40"/>
          <p:cNvSpPr txBox="1"/>
          <p:nvPr/>
        </p:nvSpPr>
        <p:spPr>
          <a:xfrm>
            <a:off x="6399850" y="2419526"/>
            <a:ext cx="3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Future of LLM Agents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0"/>
          <p:cNvSpPr txBox="1"/>
          <p:nvPr/>
        </p:nvSpPr>
        <p:spPr>
          <a:xfrm>
            <a:off x="6399850" y="2858601"/>
            <a:ext cx="43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3 – Scenario Challenge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6399850" y="3271250"/>
            <a:ext cx="381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Summary &amp; Next Steps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9" name="Google Shape;6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172957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216865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2594513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02782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430213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25" y="383262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425" y="172957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425" y="214320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425" y="258227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425" y="302135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425" y="3434975"/>
            <a:ext cx="105600" cy="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1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an LLM-Based Agent?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7" name="Google Shape;667;p41"/>
          <p:cNvSpPr txBox="1"/>
          <p:nvPr/>
        </p:nvSpPr>
        <p:spPr>
          <a:xfrm>
            <a:off x="834925" y="1449975"/>
            <a:ext cx="7741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An LLM-based agent uses a large language model not just to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reply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but to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decide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act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adapt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8" name="Google Shape;668;p41"/>
          <p:cNvSpPr txBox="1"/>
          <p:nvPr/>
        </p:nvSpPr>
        <p:spPr>
          <a:xfrm>
            <a:off x="3933013" y="3337213"/>
            <a:ext cx="43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Intern (chatbot)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: waits for tasks.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41"/>
          <p:cNvSpPr txBox="1"/>
          <p:nvPr/>
        </p:nvSpPr>
        <p:spPr>
          <a:xfrm>
            <a:off x="3933025" y="4013700"/>
            <a:ext cx="59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Manager (agent):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sets goals, plans, executes, evaluates.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41"/>
          <p:cNvSpPr txBox="1"/>
          <p:nvPr/>
        </p:nvSpPr>
        <p:spPr>
          <a:xfrm>
            <a:off x="2571600" y="2788038"/>
            <a:ext cx="443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Intern vs Assistant Manager</a:t>
            </a:r>
            <a:endParaRPr i="1"/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450" y="3318825"/>
            <a:ext cx="467900" cy="4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1450" y="3940475"/>
            <a:ext cx="467900" cy="4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6800" y="2866150"/>
            <a:ext cx="274900" cy="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9" name="Google Shape;679;p42"/>
          <p:cNvSpPr txBox="1"/>
          <p:nvPr/>
        </p:nvSpPr>
        <p:spPr>
          <a:xfrm>
            <a:off x="356875" y="350625"/>
            <a:ext cx="384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Triad</a:t>
            </a:r>
            <a:endParaRPr b="1"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0" name="Google Shape;680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1" name="Google Shape;6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725" y="1380875"/>
            <a:ext cx="3890576" cy="38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9850" y="2422500"/>
            <a:ext cx="849100" cy="8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4800" y="2512200"/>
            <a:ext cx="794275" cy="7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950" y="3756800"/>
            <a:ext cx="820625" cy="82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2"/>
          <p:cNvSpPr txBox="1"/>
          <p:nvPr/>
        </p:nvSpPr>
        <p:spPr>
          <a:xfrm>
            <a:off x="7665873" y="1336580"/>
            <a:ext cx="22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C5679"/>
                </a:solidFill>
              </a:rPr>
              <a:t>LLM</a:t>
            </a:r>
            <a:endParaRPr/>
          </a:p>
        </p:txBody>
      </p:sp>
      <p:sp>
        <p:nvSpPr>
          <p:cNvPr id="686" name="Google Shape;686;p42"/>
          <p:cNvSpPr txBox="1"/>
          <p:nvPr/>
        </p:nvSpPr>
        <p:spPr>
          <a:xfrm>
            <a:off x="7665874" y="1890313"/>
            <a:ext cx="103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C5679"/>
                </a:solidFill>
              </a:rPr>
              <a:t>Brain</a:t>
            </a:r>
            <a:endParaRPr/>
          </a:p>
        </p:txBody>
      </p:sp>
      <p:sp>
        <p:nvSpPr>
          <p:cNvPr id="687" name="Google Shape;687;p42"/>
          <p:cNvSpPr txBox="1"/>
          <p:nvPr/>
        </p:nvSpPr>
        <p:spPr>
          <a:xfrm>
            <a:off x="7651024" y="4687225"/>
            <a:ext cx="129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C5679"/>
                </a:solidFill>
              </a:rPr>
              <a:t>Memory</a:t>
            </a:r>
            <a:endParaRPr/>
          </a:p>
        </p:txBody>
      </p:sp>
      <p:sp>
        <p:nvSpPr>
          <p:cNvPr id="688" name="Google Shape;688;p42"/>
          <p:cNvSpPr txBox="1"/>
          <p:nvPr/>
        </p:nvSpPr>
        <p:spPr>
          <a:xfrm>
            <a:off x="7651024" y="5183050"/>
            <a:ext cx="161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C5679"/>
                </a:solidFill>
              </a:rPr>
              <a:t>Experience</a:t>
            </a:r>
            <a:r>
              <a:rPr b="0" i="0" lang="en-US" sz="1800" u="none" cap="none" strike="noStrike">
                <a:solidFill>
                  <a:srgbClr val="3C567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89" name="Google Shape;689;p42"/>
          <p:cNvSpPr txBox="1"/>
          <p:nvPr/>
        </p:nvSpPr>
        <p:spPr>
          <a:xfrm>
            <a:off x="7665873" y="3011889"/>
            <a:ext cx="25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C5679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en-US" sz="2400">
                <a:solidFill>
                  <a:srgbClr val="3C5679"/>
                </a:solidFill>
              </a:rPr>
              <a:t>ools</a:t>
            </a:r>
            <a:endParaRPr/>
          </a:p>
        </p:txBody>
      </p:sp>
      <p:sp>
        <p:nvSpPr>
          <p:cNvPr id="690" name="Google Shape;690;p42"/>
          <p:cNvSpPr txBox="1"/>
          <p:nvPr/>
        </p:nvSpPr>
        <p:spPr>
          <a:xfrm>
            <a:off x="7651024" y="3558538"/>
            <a:ext cx="132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C5679"/>
                </a:solidFill>
              </a:rPr>
              <a:t>Hands</a:t>
            </a:r>
            <a:endParaRPr/>
          </a:p>
        </p:txBody>
      </p:sp>
      <p:cxnSp>
        <p:nvCxnSpPr>
          <p:cNvPr id="691" name="Google Shape;691;p42"/>
          <p:cNvCxnSpPr/>
          <p:nvPr/>
        </p:nvCxnSpPr>
        <p:spPr>
          <a:xfrm>
            <a:off x="7651023" y="1755771"/>
            <a:ext cx="701100" cy="0"/>
          </a:xfrm>
          <a:prstGeom prst="straightConnector1">
            <a:avLst/>
          </a:prstGeom>
          <a:noFill/>
          <a:ln cap="flat" cmpd="sng" w="38100">
            <a:solidFill>
              <a:srgbClr val="258F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42"/>
          <p:cNvCxnSpPr/>
          <p:nvPr/>
        </p:nvCxnSpPr>
        <p:spPr>
          <a:xfrm flipH="1" rot="10800000">
            <a:off x="7665873" y="3439328"/>
            <a:ext cx="786000" cy="8100"/>
          </a:xfrm>
          <a:prstGeom prst="straightConnector1">
            <a:avLst/>
          </a:prstGeom>
          <a:noFill/>
          <a:ln cap="flat" cmpd="sng" w="38100">
            <a:solidFill>
              <a:srgbClr val="5CB7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42"/>
          <p:cNvCxnSpPr/>
          <p:nvPr/>
        </p:nvCxnSpPr>
        <p:spPr>
          <a:xfrm>
            <a:off x="7651023" y="5094045"/>
            <a:ext cx="1164600" cy="600"/>
          </a:xfrm>
          <a:prstGeom prst="straightConnector1">
            <a:avLst/>
          </a:prstGeom>
          <a:noFill/>
          <a:ln cap="flat" cmpd="sng" w="38100">
            <a:solidFill>
              <a:srgbClr val="9BDEA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94" name="Google Shape;69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550" y="1327500"/>
            <a:ext cx="849100" cy="8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6963" y="3066900"/>
            <a:ext cx="794275" cy="7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3788" y="4709875"/>
            <a:ext cx="820625" cy="8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 txBox="1"/>
          <p:nvPr/>
        </p:nvSpPr>
        <p:spPr>
          <a:xfrm>
            <a:off x="356875" y="350625"/>
            <a:ext cx="6162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Agentic AI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Differs from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Traditional AI</a:t>
            </a:r>
            <a:endParaRPr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43"/>
          <p:cNvSpPr txBox="1"/>
          <p:nvPr/>
        </p:nvSpPr>
        <p:spPr>
          <a:xfrm>
            <a:off x="3040275" y="1908875"/>
            <a:ext cx="534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/>
              <a:t>Analogy → Search engine vs Research assistant.</a:t>
            </a:r>
            <a:endParaRPr i="1" sz="1600"/>
          </a:p>
        </p:txBody>
      </p:sp>
      <p:pic>
        <p:nvPicPr>
          <p:cNvPr id="705" name="Google Shape;7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5375" y="1986975"/>
            <a:ext cx="274900" cy="274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6" name="Google Shape;706;p43"/>
          <p:cNvGraphicFramePr/>
          <p:nvPr/>
        </p:nvGraphicFramePr>
        <p:xfrm>
          <a:off x="1421000" y="24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1933800"/>
                <a:gridCol w="2820950"/>
                <a:gridCol w="3234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8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Traditional LLM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Agentic</a:t>
                      </a:r>
                      <a:r>
                        <a:rPr b="1" lang="en-US" sz="18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LLM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Interaction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Prompt → Response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Multi-step Reasoning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Context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Stateless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Persistent awareness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Control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Human driven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Self-directed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Tool Access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None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 use APIs, code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Output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Text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Achieved Outcome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4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Architecture: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component details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2" name="Google Shape;712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4"/>
          <p:cNvSpPr txBox="1"/>
          <p:nvPr/>
        </p:nvSpPr>
        <p:spPr>
          <a:xfrm>
            <a:off x="1181100" y="2947700"/>
            <a:ext cx="4545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LLM Core: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Reasoning and decision-making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Planner: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Splits goal into steps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Tools: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Execute actions (APIs, code)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Reflector: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Self-checks outputs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Controller: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Runs the loop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4" name="Google Shape;714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5" name="Google Shape;715;p44"/>
          <p:cNvSpPr/>
          <p:nvPr/>
        </p:nvSpPr>
        <p:spPr>
          <a:xfrm>
            <a:off x="7901550" y="2132800"/>
            <a:ext cx="1959300" cy="74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4"/>
          <p:cNvSpPr/>
          <p:nvPr/>
        </p:nvSpPr>
        <p:spPr>
          <a:xfrm>
            <a:off x="9376900" y="3272763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4"/>
          <p:cNvSpPr txBox="1"/>
          <p:nvPr/>
        </p:nvSpPr>
        <p:spPr>
          <a:xfrm>
            <a:off x="8370624" y="2302275"/>
            <a:ext cx="155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 Core</a:t>
            </a:r>
            <a:endParaRPr b="1"/>
          </a:p>
        </p:txBody>
      </p:sp>
      <p:sp>
        <p:nvSpPr>
          <p:cNvPr id="718" name="Google Shape;718;p44"/>
          <p:cNvSpPr txBox="1"/>
          <p:nvPr/>
        </p:nvSpPr>
        <p:spPr>
          <a:xfrm>
            <a:off x="9709900" y="3521163"/>
            <a:ext cx="1554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Controller</a:t>
            </a:r>
            <a:endParaRPr b="1" sz="1200"/>
          </a:p>
        </p:txBody>
      </p:sp>
      <p:sp>
        <p:nvSpPr>
          <p:cNvPr id="719" name="Google Shape;719;p44"/>
          <p:cNvSpPr/>
          <p:nvPr/>
        </p:nvSpPr>
        <p:spPr>
          <a:xfrm>
            <a:off x="6728025" y="3272763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4"/>
          <p:cNvSpPr txBox="1"/>
          <p:nvPr/>
        </p:nvSpPr>
        <p:spPr>
          <a:xfrm>
            <a:off x="7061025" y="3521163"/>
            <a:ext cx="1554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Planner</a:t>
            </a:r>
            <a:endParaRPr b="1" sz="1200"/>
          </a:p>
        </p:txBody>
      </p:sp>
      <p:sp>
        <p:nvSpPr>
          <p:cNvPr id="721" name="Google Shape;721;p44"/>
          <p:cNvSpPr txBox="1"/>
          <p:nvPr/>
        </p:nvSpPr>
        <p:spPr>
          <a:xfrm>
            <a:off x="1788250" y="1120863"/>
            <a:ext cx="877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/>
              <a:t>Analogy → Movie crew: </a:t>
            </a:r>
            <a:br>
              <a:rPr i="1" lang="en-US" sz="1600"/>
            </a:br>
            <a:r>
              <a:rPr i="1" lang="en-US" sz="1600"/>
              <a:t>Director (LLM), Crew (Tools), Editor (Reflector), Producer (Controller).</a:t>
            </a:r>
            <a:endParaRPr i="1" sz="1600"/>
          </a:p>
        </p:txBody>
      </p:sp>
      <p:pic>
        <p:nvPicPr>
          <p:cNvPr id="722" name="Google Shape;72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350" y="1343038"/>
            <a:ext cx="274900" cy="2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4"/>
          <p:cNvSpPr/>
          <p:nvPr/>
        </p:nvSpPr>
        <p:spPr>
          <a:xfrm>
            <a:off x="9404700" y="4623513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4"/>
          <p:cNvSpPr txBox="1"/>
          <p:nvPr/>
        </p:nvSpPr>
        <p:spPr>
          <a:xfrm>
            <a:off x="9737700" y="4871913"/>
            <a:ext cx="1554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Reflector</a:t>
            </a:r>
            <a:endParaRPr b="1" sz="1200"/>
          </a:p>
        </p:txBody>
      </p:sp>
      <p:sp>
        <p:nvSpPr>
          <p:cNvPr id="725" name="Google Shape;725;p44"/>
          <p:cNvSpPr/>
          <p:nvPr/>
        </p:nvSpPr>
        <p:spPr>
          <a:xfrm>
            <a:off x="6755825" y="4623513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4"/>
          <p:cNvSpPr txBox="1"/>
          <p:nvPr/>
        </p:nvSpPr>
        <p:spPr>
          <a:xfrm>
            <a:off x="7088825" y="4871913"/>
            <a:ext cx="1554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Tools</a:t>
            </a:r>
            <a:endParaRPr b="1" sz="1200"/>
          </a:p>
        </p:txBody>
      </p:sp>
      <p:pic>
        <p:nvPicPr>
          <p:cNvPr id="727" name="Google Shape;72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3275" y="2319825"/>
            <a:ext cx="4311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4475" y="3485775"/>
            <a:ext cx="486450" cy="4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96475" y="3466500"/>
            <a:ext cx="486450" cy="4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0375" y="4844925"/>
            <a:ext cx="4311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07925" y="4822425"/>
            <a:ext cx="431100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5"/>
          <p:cNvSpPr/>
          <p:nvPr/>
        </p:nvSpPr>
        <p:spPr>
          <a:xfrm rot="-141474">
            <a:off x="1224422" y="1372257"/>
            <a:ext cx="8359679" cy="2090743"/>
          </a:xfrm>
          <a:custGeom>
            <a:rect b="b" l="l" r="r" t="t"/>
            <a:pathLst>
              <a:path extrusionOk="0" h="5355491" w="19653179">
                <a:moveTo>
                  <a:pt x="0" y="0"/>
                </a:moveTo>
                <a:lnTo>
                  <a:pt x="19653178" y="0"/>
                </a:lnTo>
                <a:lnTo>
                  <a:pt x="19653178" y="5355491"/>
                </a:lnTo>
                <a:lnTo>
                  <a:pt x="0" y="535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7" name="Google Shape;737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38" name="Google Shape;738;p45"/>
          <p:cNvGrpSpPr/>
          <p:nvPr/>
        </p:nvGrpSpPr>
        <p:grpSpPr>
          <a:xfrm>
            <a:off x="2240678" y="2122296"/>
            <a:ext cx="486380" cy="486439"/>
            <a:chOff x="0" y="0"/>
            <a:chExt cx="812800" cy="812900"/>
          </a:xfrm>
        </p:grpSpPr>
        <p:sp>
          <p:nvSpPr>
            <p:cNvPr id="739" name="Google Shape;739;p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3A685"/>
            </a:solidFill>
            <a:ln>
              <a:noFill/>
            </a:ln>
          </p:spPr>
        </p:sp>
        <p:sp>
          <p:nvSpPr>
            <p:cNvPr id="740" name="Google Shape;740;p45"/>
            <p:cNvSpPr txBox="1"/>
            <p:nvPr/>
          </p:nvSpPr>
          <p:spPr>
            <a:xfrm>
              <a:off x="203200" y="63500"/>
              <a:ext cx="4065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41" name="Google Shape;74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7450" y="1797601"/>
            <a:ext cx="296275" cy="29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8975" y="3666137"/>
            <a:ext cx="322775" cy="3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6575" y="2132600"/>
            <a:ext cx="296275" cy="2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2025" y="3398050"/>
            <a:ext cx="296275" cy="2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32275" y="2217387"/>
            <a:ext cx="296275" cy="29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45"/>
          <p:cNvSpPr txBox="1"/>
          <p:nvPr/>
        </p:nvSpPr>
        <p:spPr>
          <a:xfrm>
            <a:off x="1953725" y="1716938"/>
            <a:ext cx="11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Observe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7" name="Google Shape;747;p45"/>
          <p:cNvSpPr txBox="1"/>
          <p:nvPr/>
        </p:nvSpPr>
        <p:spPr>
          <a:xfrm>
            <a:off x="3361750" y="3611963"/>
            <a:ext cx="11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Think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8" name="Google Shape;748;p45"/>
          <p:cNvSpPr txBox="1"/>
          <p:nvPr/>
        </p:nvSpPr>
        <p:spPr>
          <a:xfrm>
            <a:off x="5538050" y="2039075"/>
            <a:ext cx="68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Act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45"/>
          <p:cNvSpPr txBox="1"/>
          <p:nvPr/>
        </p:nvSpPr>
        <p:spPr>
          <a:xfrm>
            <a:off x="7035650" y="3330625"/>
            <a:ext cx="11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Reflect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0" name="Google Shape;750;p45"/>
          <p:cNvSpPr txBox="1"/>
          <p:nvPr/>
        </p:nvSpPr>
        <p:spPr>
          <a:xfrm>
            <a:off x="8685800" y="2149963"/>
            <a:ext cx="11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Repeat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1" name="Google Shape;751;p45"/>
          <p:cNvSpPr txBox="1"/>
          <p:nvPr/>
        </p:nvSpPr>
        <p:spPr>
          <a:xfrm>
            <a:off x="337849" y="433775"/>
            <a:ext cx="563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The Thought–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Action Loop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752" name="Google Shape;752;p45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45"/>
          <p:cNvGrpSpPr/>
          <p:nvPr/>
        </p:nvGrpSpPr>
        <p:grpSpPr>
          <a:xfrm rot="10800000">
            <a:off x="3474628" y="3125546"/>
            <a:ext cx="486380" cy="486439"/>
            <a:chOff x="0" y="0"/>
            <a:chExt cx="812800" cy="812900"/>
          </a:xfrm>
        </p:grpSpPr>
        <p:sp>
          <p:nvSpPr>
            <p:cNvPr id="754" name="Google Shape;754;p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3A685"/>
            </a:solidFill>
            <a:ln>
              <a:noFill/>
            </a:ln>
          </p:spPr>
        </p:sp>
        <p:sp>
          <p:nvSpPr>
            <p:cNvPr id="755" name="Google Shape;755;p45"/>
            <p:cNvSpPr txBox="1"/>
            <p:nvPr/>
          </p:nvSpPr>
          <p:spPr>
            <a:xfrm>
              <a:off x="203200" y="63500"/>
              <a:ext cx="4065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45"/>
          <p:cNvGrpSpPr/>
          <p:nvPr/>
        </p:nvGrpSpPr>
        <p:grpSpPr>
          <a:xfrm>
            <a:off x="5368528" y="2548821"/>
            <a:ext cx="486380" cy="486439"/>
            <a:chOff x="0" y="0"/>
            <a:chExt cx="812800" cy="812900"/>
          </a:xfrm>
        </p:grpSpPr>
        <p:sp>
          <p:nvSpPr>
            <p:cNvPr id="757" name="Google Shape;757;p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3A685"/>
            </a:solidFill>
            <a:ln>
              <a:noFill/>
            </a:ln>
          </p:spPr>
        </p:sp>
        <p:sp>
          <p:nvSpPr>
            <p:cNvPr id="758" name="Google Shape;758;p45"/>
            <p:cNvSpPr txBox="1"/>
            <p:nvPr/>
          </p:nvSpPr>
          <p:spPr>
            <a:xfrm>
              <a:off x="203200" y="63500"/>
              <a:ext cx="4065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9" name="Google Shape;759;p45"/>
          <p:cNvGrpSpPr/>
          <p:nvPr/>
        </p:nvGrpSpPr>
        <p:grpSpPr>
          <a:xfrm>
            <a:off x="7203200" y="2276799"/>
            <a:ext cx="486380" cy="1030474"/>
            <a:chOff x="0" y="-38100"/>
            <a:chExt cx="812800" cy="2602206"/>
          </a:xfrm>
        </p:grpSpPr>
        <p:sp>
          <p:nvSpPr>
            <p:cNvPr id="760" name="Google Shape;760;p45"/>
            <p:cNvSpPr/>
            <p:nvPr/>
          </p:nvSpPr>
          <p:spPr>
            <a:xfrm>
              <a:off x="0" y="0"/>
              <a:ext cx="812800" cy="2564106"/>
            </a:xfrm>
            <a:custGeom>
              <a:rect b="b" l="l" r="r" t="t"/>
              <a:pathLst>
                <a:path extrusionOk="0" h="2564106" w="812800">
                  <a:moveTo>
                    <a:pt x="406400" y="2564106"/>
                  </a:moveTo>
                  <a:lnTo>
                    <a:pt x="0" y="2157706"/>
                  </a:lnTo>
                  <a:lnTo>
                    <a:pt x="203200" y="2157706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2157706"/>
                  </a:lnTo>
                  <a:lnTo>
                    <a:pt x="812800" y="2157706"/>
                  </a:lnTo>
                  <a:lnTo>
                    <a:pt x="406400" y="2564106"/>
                  </a:lnTo>
                  <a:close/>
                </a:path>
              </a:pathLst>
            </a:custGeom>
            <a:solidFill>
              <a:srgbClr val="33A685"/>
            </a:solidFill>
            <a:ln>
              <a:noFill/>
            </a:ln>
          </p:spPr>
        </p:sp>
        <p:sp>
          <p:nvSpPr>
            <p:cNvPr id="761" name="Google Shape;761;p45"/>
            <p:cNvSpPr txBox="1"/>
            <p:nvPr/>
          </p:nvSpPr>
          <p:spPr>
            <a:xfrm>
              <a:off x="203200" y="-38100"/>
              <a:ext cx="406500" cy="25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2" name="Google Shape;762;p45"/>
          <p:cNvGrpSpPr/>
          <p:nvPr/>
        </p:nvGrpSpPr>
        <p:grpSpPr>
          <a:xfrm rot="10800000">
            <a:off x="8705728" y="1646171"/>
            <a:ext cx="486380" cy="486439"/>
            <a:chOff x="0" y="0"/>
            <a:chExt cx="812800" cy="812900"/>
          </a:xfrm>
        </p:grpSpPr>
        <p:sp>
          <p:nvSpPr>
            <p:cNvPr id="763" name="Google Shape;763;p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3A685"/>
            </a:solidFill>
            <a:ln>
              <a:noFill/>
            </a:ln>
          </p:spPr>
        </p:sp>
        <p:sp>
          <p:nvSpPr>
            <p:cNvPr id="764" name="Google Shape;764;p45"/>
            <p:cNvSpPr txBox="1"/>
            <p:nvPr/>
          </p:nvSpPr>
          <p:spPr>
            <a:xfrm>
              <a:off x="203200" y="63500"/>
              <a:ext cx="4065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45"/>
          <p:cNvSpPr/>
          <p:nvPr/>
        </p:nvSpPr>
        <p:spPr>
          <a:xfrm>
            <a:off x="5091200" y="5143800"/>
            <a:ext cx="5034000" cy="1296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not done: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thought = llm(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"What should I do next?"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action = decide(thought)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 = perform(action)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feedback = llm(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f"Did this work? {result}"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6" name="Google Shape;766;p45"/>
          <p:cNvSpPr txBox="1"/>
          <p:nvPr/>
        </p:nvSpPr>
        <p:spPr>
          <a:xfrm>
            <a:off x="5117575" y="4380413"/>
            <a:ext cx="877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/>
              <a:t>Analogy → </a:t>
            </a:r>
            <a:r>
              <a:rPr i="1" lang="en-US" sz="1600"/>
              <a:t>Detective loop:</a:t>
            </a:r>
            <a:br>
              <a:rPr i="1" lang="en-US" sz="1600"/>
            </a:br>
            <a:r>
              <a:rPr i="1" lang="en-US" sz="1600"/>
              <a:t>observe → hypothesise → test → revise</a:t>
            </a:r>
            <a:endParaRPr i="1" sz="1600"/>
          </a:p>
        </p:txBody>
      </p:sp>
      <p:pic>
        <p:nvPicPr>
          <p:cNvPr id="767" name="Google Shape;767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42675" y="4602588"/>
            <a:ext cx="274900" cy="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6"/>
          <p:cNvSpPr txBox="1"/>
          <p:nvPr/>
        </p:nvSpPr>
        <p:spPr>
          <a:xfrm>
            <a:off x="356875" y="350625"/>
            <a:ext cx="666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Design Principles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46"/>
          <p:cNvSpPr txBox="1"/>
          <p:nvPr/>
        </p:nvSpPr>
        <p:spPr>
          <a:xfrm>
            <a:off x="1318350" y="1385200"/>
            <a:ext cx="7083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Goal orientation: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Agents pursue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outcomes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not one-off answers.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Modularity: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Planner / Actor / Reviewer roles simplify control.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Reflection: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Agents evaluate themselves like humans do.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6" name="Google Shape;776;p46"/>
          <p:cNvSpPr txBox="1"/>
          <p:nvPr/>
        </p:nvSpPr>
        <p:spPr>
          <a:xfrm>
            <a:off x="3494450" y="3666125"/>
            <a:ext cx="580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PI (planner):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designs experiments and guides research direction.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7" name="Google Shape;777;p46"/>
          <p:cNvSpPr txBox="1"/>
          <p:nvPr/>
        </p:nvSpPr>
        <p:spPr>
          <a:xfrm>
            <a:off x="3494450" y="4377500"/>
            <a:ext cx="734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Experimenter (worker):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collects data and performs analyses.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8" name="Google Shape;778;p46"/>
          <p:cNvSpPr txBox="1"/>
          <p:nvPr/>
        </p:nvSpPr>
        <p:spPr>
          <a:xfrm>
            <a:off x="2133025" y="3116938"/>
            <a:ext cx="443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research team</a:t>
            </a:r>
            <a:endParaRPr i="1"/>
          </a:p>
        </p:txBody>
      </p:sp>
      <p:pic>
        <p:nvPicPr>
          <p:cNvPr id="779" name="Google Shape;7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225" y="3195050"/>
            <a:ext cx="274900" cy="2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800" y="3718225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963" y="4377500"/>
            <a:ext cx="4311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5050" y="5031125"/>
            <a:ext cx="415725" cy="4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6"/>
          <p:cNvSpPr txBox="1"/>
          <p:nvPr/>
        </p:nvSpPr>
        <p:spPr>
          <a:xfrm>
            <a:off x="3494450" y="5023450"/>
            <a:ext cx="68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Peer reviewer (reflector):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validates findings and suggests improvements.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7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1 –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Agentic or Not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9" name="Google Shape;789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1" name="Google Shape;791;p47"/>
          <p:cNvSpPr txBox="1"/>
          <p:nvPr/>
        </p:nvSpPr>
        <p:spPr>
          <a:xfrm>
            <a:off x="889325" y="1480225"/>
            <a:ext cx="75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Objective:</a:t>
            </a:r>
            <a:r>
              <a:rPr lang="en-US" sz="1600"/>
              <a:t> Judge if each task needs autonomy → is it agentic?</a:t>
            </a:r>
            <a:endParaRPr sz="1600"/>
          </a:p>
        </p:txBody>
      </p:sp>
      <p:graphicFrame>
        <p:nvGraphicFramePr>
          <p:cNvPr id="792" name="Google Shape;792;p47"/>
          <p:cNvGraphicFramePr/>
          <p:nvPr/>
        </p:nvGraphicFramePr>
        <p:xfrm>
          <a:off x="889325" y="209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4221475"/>
                <a:gridCol w="1310775"/>
                <a:gridCol w="3463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Agentic (Y/N) 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Why or Why Not?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"Translate this paragraph to French."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␧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"Find and book a flight to Delhi under $2000."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"Summarise this one article."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"Manage team calendar and follow up emails."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"List products from our FAQ."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"Monitor stock prices and alert on thresholds."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793" name="Google Shape;793;p47"/>
          <p:cNvSpPr txBox="1"/>
          <p:nvPr/>
        </p:nvSpPr>
        <p:spPr>
          <a:xfrm>
            <a:off x="3292900" y="5288050"/>
            <a:ext cx="6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Hint: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Agentic = needs goal pursuit, planning or reflection.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4" name="Google Shape;7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825" y="5463775"/>
            <a:ext cx="264150" cy="2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8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1 –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Agentic or Not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0" name="Google Shape;800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2" name="Google Shape;802;p48"/>
          <p:cNvSpPr txBox="1"/>
          <p:nvPr/>
        </p:nvSpPr>
        <p:spPr>
          <a:xfrm>
            <a:off x="889325" y="1480225"/>
            <a:ext cx="75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Objective:</a:t>
            </a:r>
            <a:r>
              <a:rPr lang="en-US" sz="1600"/>
              <a:t> Judge if each task needs autonomy → is it agentic?</a:t>
            </a:r>
            <a:endParaRPr sz="1600"/>
          </a:p>
        </p:txBody>
      </p:sp>
      <p:graphicFrame>
        <p:nvGraphicFramePr>
          <p:cNvPr id="803" name="Google Shape;803;p48"/>
          <p:cNvGraphicFramePr/>
          <p:nvPr/>
        </p:nvGraphicFramePr>
        <p:xfrm>
          <a:off x="889325" y="209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4221475"/>
                <a:gridCol w="1310775"/>
                <a:gridCol w="3463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Agentic (Y/N) 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Why or Why Not?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"Translate this paragraph to French."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␧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"Find and book a flight to Delhi under $2000."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🗹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"Summarise this one article."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"Manage team calendar and follow up emails."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🗹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"List products from our FAQ."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"Monitor stock prices and alert on thresholds."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🗹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804" name="Google Shape;804;p48"/>
          <p:cNvSpPr txBox="1"/>
          <p:nvPr/>
        </p:nvSpPr>
        <p:spPr>
          <a:xfrm>
            <a:off x="3292900" y="5288050"/>
            <a:ext cx="6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Hint: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Agentic = needs goal pursuit, planning or reflection.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925" y="5463950"/>
            <a:ext cx="263800" cy="2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9"/>
          <p:cNvSpPr/>
          <p:nvPr/>
        </p:nvSpPr>
        <p:spPr>
          <a:xfrm>
            <a:off x="1912675" y="2945850"/>
            <a:ext cx="7894800" cy="1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9"/>
          <p:cNvSpPr txBox="1"/>
          <p:nvPr/>
        </p:nvSpPr>
        <p:spPr>
          <a:xfrm>
            <a:off x="356875" y="350625"/>
            <a:ext cx="666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What Are Agentic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Design Patterns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4" name="Google Shape;814;p49"/>
          <p:cNvSpPr txBox="1"/>
          <p:nvPr/>
        </p:nvSpPr>
        <p:spPr>
          <a:xfrm>
            <a:off x="1328325" y="1192288"/>
            <a:ext cx="708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Design patterns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reusable blueprints for structuring LLM agents.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reduce complexity, increase reliability.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49"/>
          <p:cNvSpPr txBox="1"/>
          <p:nvPr/>
        </p:nvSpPr>
        <p:spPr>
          <a:xfrm>
            <a:off x="3305050" y="2993300"/>
            <a:ext cx="580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Blueprints specify standard components (foundation, walls, plumbing)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49"/>
          <p:cNvSpPr txBox="1"/>
          <p:nvPr/>
        </p:nvSpPr>
        <p:spPr>
          <a:xfrm>
            <a:off x="3305050" y="3704675"/>
            <a:ext cx="734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Each house looks unique but shares reliable structure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49"/>
          <p:cNvSpPr txBox="1"/>
          <p:nvPr/>
        </p:nvSpPr>
        <p:spPr>
          <a:xfrm>
            <a:off x="2586775" y="2244738"/>
            <a:ext cx="443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House plans: </a:t>
            </a:r>
            <a:b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different layouts, same engineering logic.</a:t>
            </a:r>
            <a:endParaRPr i="1"/>
          </a:p>
        </p:txBody>
      </p:sp>
      <p:pic>
        <p:nvPicPr>
          <p:cNvPr id="818" name="Google Shape;81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975" y="2322850"/>
            <a:ext cx="274900" cy="2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400" y="3045400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5563" y="3704675"/>
            <a:ext cx="4311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49"/>
          <p:cNvSpPr txBox="1"/>
          <p:nvPr/>
        </p:nvSpPr>
        <p:spPr>
          <a:xfrm>
            <a:off x="3001700" y="4624725"/>
            <a:ext cx="716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Focus today on 4 core patterns most used in modern LLM frameworks.</a:t>
            </a:r>
            <a:endParaRPr/>
          </a:p>
        </p:txBody>
      </p:sp>
      <p:sp>
        <p:nvSpPr>
          <p:cNvPr id="822" name="Google Shape;822;p49"/>
          <p:cNvSpPr txBox="1"/>
          <p:nvPr/>
        </p:nvSpPr>
        <p:spPr>
          <a:xfrm>
            <a:off x="1701475" y="5756525"/>
            <a:ext cx="831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Planning			Tool Use			Reflection			Multi-Agent</a:t>
            </a:r>
            <a:endParaRPr b="1" sz="1600"/>
          </a:p>
        </p:txBody>
      </p:sp>
      <p:pic>
        <p:nvPicPr>
          <p:cNvPr id="823" name="Google Shape;82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500" y="521082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7600" y="5233325"/>
            <a:ext cx="5232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36700" y="5237175"/>
            <a:ext cx="515500" cy="5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66975" y="5268375"/>
            <a:ext cx="547575" cy="5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0"/>
          <p:cNvSpPr txBox="1"/>
          <p:nvPr/>
        </p:nvSpPr>
        <p:spPr>
          <a:xfrm>
            <a:off x="356874" y="350625"/>
            <a:ext cx="987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1: Planning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/ Task Decomposition</a:t>
            </a:r>
            <a:endParaRPr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2" name="Google Shape;832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4" name="Google Shape;834;p50"/>
          <p:cNvSpPr/>
          <p:nvPr/>
        </p:nvSpPr>
        <p:spPr>
          <a:xfrm>
            <a:off x="2013425" y="1950200"/>
            <a:ext cx="6438300" cy="950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goal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"Launch a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Trip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to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Europe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steps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llm("Break the goal into ordered subtasks.")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5" name="Google Shape;835;p50"/>
          <p:cNvSpPr txBox="1"/>
          <p:nvPr/>
        </p:nvSpPr>
        <p:spPr>
          <a:xfrm>
            <a:off x="1954624" y="3217150"/>
            <a:ext cx="655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</a:t>
            </a:r>
            <a:r>
              <a:rPr b="1" lang="en-US" sz="1300"/>
              <a:t>Use Case: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Research assistants, project agents, workflow automation.</a:t>
            </a:r>
            <a:endParaRPr sz="1300"/>
          </a:p>
        </p:txBody>
      </p:sp>
      <p:sp>
        <p:nvSpPr>
          <p:cNvPr id="836" name="Google Shape;836;p50"/>
          <p:cNvSpPr txBox="1"/>
          <p:nvPr/>
        </p:nvSpPr>
        <p:spPr>
          <a:xfrm>
            <a:off x="1819175" y="1233750"/>
            <a:ext cx="655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400"/>
              <a:buChar char="●"/>
            </a:pPr>
            <a:r>
              <a:rPr b="1" lang="en-US">
                <a:solidFill>
                  <a:srgbClr val="A61C00"/>
                </a:solidFill>
              </a:rPr>
              <a:t>Breaks a goal into smaller steps the agent can execute.</a:t>
            </a:r>
            <a:endParaRPr b="1">
              <a:solidFill>
                <a:srgbClr val="A61C00"/>
              </a:solidFill>
            </a:endParaRPr>
          </a:p>
        </p:txBody>
      </p:sp>
      <p:sp>
        <p:nvSpPr>
          <p:cNvPr id="837" name="Google Shape;837;p50"/>
          <p:cNvSpPr txBox="1"/>
          <p:nvPr/>
        </p:nvSpPr>
        <p:spPr>
          <a:xfrm>
            <a:off x="2477125" y="4318088"/>
            <a:ext cx="443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Trip planner creates itinerary.</a:t>
            </a:r>
            <a:endParaRPr i="1"/>
          </a:p>
        </p:txBody>
      </p:sp>
      <p:pic>
        <p:nvPicPr>
          <p:cNvPr id="838" name="Google Shape;8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25" y="4396200"/>
            <a:ext cx="274900" cy="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1"/>
          <p:cNvSpPr txBox="1"/>
          <p:nvPr/>
        </p:nvSpPr>
        <p:spPr>
          <a:xfrm>
            <a:off x="356875" y="350625"/>
            <a:ext cx="354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Use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p51"/>
          <p:cNvSpPr/>
          <p:nvPr/>
        </p:nvSpPr>
        <p:spPr>
          <a:xfrm>
            <a:off x="2038350" y="2533325"/>
            <a:ext cx="6438300" cy="950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search_tool(q):</a:t>
            </a: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 return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"Results for " + q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agent.run(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"Find latest papers on Agentic AI."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7" name="Google Shape;847;p51"/>
          <p:cNvSpPr txBox="1"/>
          <p:nvPr/>
        </p:nvSpPr>
        <p:spPr>
          <a:xfrm>
            <a:off x="1979549" y="3800275"/>
            <a:ext cx="655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Use Case: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Information retrieval, automation, data enrichment.</a:t>
            </a:r>
            <a:endParaRPr sz="1300"/>
          </a:p>
        </p:txBody>
      </p:sp>
      <p:sp>
        <p:nvSpPr>
          <p:cNvPr id="848" name="Google Shape;848;p51"/>
          <p:cNvSpPr txBox="1"/>
          <p:nvPr/>
        </p:nvSpPr>
        <p:spPr>
          <a:xfrm>
            <a:off x="1819175" y="1233750"/>
            <a:ext cx="655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400"/>
              <a:buChar char="●"/>
            </a:pPr>
            <a:r>
              <a:rPr b="1" lang="en-US">
                <a:solidFill>
                  <a:srgbClr val="A61C00"/>
                </a:solidFill>
              </a:rPr>
              <a:t>Agent decides </a:t>
            </a:r>
            <a:r>
              <a:rPr lang="en-US">
                <a:solidFill>
                  <a:srgbClr val="A61C00"/>
                </a:solidFill>
              </a:rPr>
              <a:t>when to call external APIs or functions.</a:t>
            </a:r>
            <a:endParaRPr b="1">
              <a:solidFill>
                <a:srgbClr val="A61C00"/>
              </a:solidFill>
            </a:endParaRPr>
          </a:p>
        </p:txBody>
      </p:sp>
      <p:sp>
        <p:nvSpPr>
          <p:cNvPr id="849" name="Google Shape;849;p51"/>
          <p:cNvSpPr txBox="1"/>
          <p:nvPr/>
        </p:nvSpPr>
        <p:spPr>
          <a:xfrm>
            <a:off x="2293150" y="2028325"/>
            <a:ext cx="568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Doctor ordering X-rays before diagnosis.</a:t>
            </a:r>
            <a:endParaRPr i="1"/>
          </a:p>
        </p:txBody>
      </p:sp>
      <p:pic>
        <p:nvPicPr>
          <p:cNvPr id="850" name="Google Shape;8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350" y="2106425"/>
            <a:ext cx="274900" cy="2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51"/>
          <p:cNvSpPr txBox="1"/>
          <p:nvPr/>
        </p:nvSpPr>
        <p:spPr>
          <a:xfrm>
            <a:off x="1979550" y="4701525"/>
            <a:ext cx="723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Like a doctor who knows exactly when to order tests, an agent determines when external tools will provide the most valuable information.</a:t>
            </a:r>
            <a:endParaRPr/>
          </a:p>
        </p:txBody>
      </p:sp>
      <p:pic>
        <p:nvPicPr>
          <p:cNvPr id="852" name="Google Shape;85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3575" y="4747725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2"/>
          <p:cNvSpPr txBox="1"/>
          <p:nvPr/>
        </p:nvSpPr>
        <p:spPr>
          <a:xfrm>
            <a:off x="356875" y="350625"/>
            <a:ext cx="723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3: Reflection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/ Self-Critique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0" name="Google Shape;860;p52"/>
          <p:cNvSpPr/>
          <p:nvPr/>
        </p:nvSpPr>
        <p:spPr>
          <a:xfrm>
            <a:off x="2207800" y="3241050"/>
            <a:ext cx="6438300" cy="950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draft =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llm(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"Summarise agentic design."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review =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llm(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f"Critique this summary:\n{draft}"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improved =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llm(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f"Rewrite using feedback:\n{review}"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1" name="Google Shape;861;p52"/>
          <p:cNvSpPr txBox="1"/>
          <p:nvPr/>
        </p:nvSpPr>
        <p:spPr>
          <a:xfrm>
            <a:off x="2148999" y="4313625"/>
            <a:ext cx="655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Use Case: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Summaries, reports, code generation.</a:t>
            </a:r>
            <a:r>
              <a:rPr lang="en-US" sz="1300"/>
              <a:t>.</a:t>
            </a:r>
            <a:endParaRPr sz="1300"/>
          </a:p>
        </p:txBody>
      </p:sp>
      <p:sp>
        <p:nvSpPr>
          <p:cNvPr id="862" name="Google Shape;862;p52"/>
          <p:cNvSpPr txBox="1"/>
          <p:nvPr/>
        </p:nvSpPr>
        <p:spPr>
          <a:xfrm>
            <a:off x="2090200" y="1368325"/>
            <a:ext cx="655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400"/>
              <a:buChar char="●"/>
            </a:pPr>
            <a:r>
              <a:rPr b="1" lang="en-US">
                <a:solidFill>
                  <a:srgbClr val="A61C00"/>
                </a:solidFill>
              </a:rPr>
              <a:t>Agent reviews its output →</a:t>
            </a:r>
            <a:r>
              <a:rPr lang="en-US">
                <a:solidFill>
                  <a:srgbClr val="A61C00"/>
                </a:solidFill>
              </a:rPr>
              <a:t> detects errors, revises</a:t>
            </a:r>
            <a:r>
              <a:rPr b="1" lang="en-US">
                <a:solidFill>
                  <a:srgbClr val="A61C00"/>
                </a:solidFill>
              </a:rPr>
              <a:t>.</a:t>
            </a:r>
            <a:endParaRPr b="1">
              <a:solidFill>
                <a:srgbClr val="A61C00"/>
              </a:solidFill>
            </a:endParaRPr>
          </a:p>
        </p:txBody>
      </p:sp>
      <p:sp>
        <p:nvSpPr>
          <p:cNvPr id="863" name="Google Shape;863;p52"/>
          <p:cNvSpPr txBox="1"/>
          <p:nvPr/>
        </p:nvSpPr>
        <p:spPr>
          <a:xfrm>
            <a:off x="2447650" y="2307425"/>
            <a:ext cx="6657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Writer revising draft: </a:t>
            </a:r>
            <a:endParaRPr i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write first draft → review for issues → revise and improve.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i="1"/>
          </a:p>
        </p:txBody>
      </p:sp>
      <p:pic>
        <p:nvPicPr>
          <p:cNvPr id="864" name="Google Shape;86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000" y="2508525"/>
            <a:ext cx="274900" cy="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3"/>
          <p:cNvSpPr txBox="1"/>
          <p:nvPr/>
        </p:nvSpPr>
        <p:spPr>
          <a:xfrm>
            <a:off x="356875" y="350625"/>
            <a:ext cx="723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Multi-Agent 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Collaboration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0" name="Google Shape;870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2" name="Google Shape;872;p53"/>
          <p:cNvSpPr/>
          <p:nvPr/>
        </p:nvSpPr>
        <p:spPr>
          <a:xfrm>
            <a:off x="2207800" y="3204888"/>
            <a:ext cx="5072700" cy="8136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planner</a:t>
            </a: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 → worker(s) →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reviewer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3" name="Google Shape;873;p53"/>
          <p:cNvSpPr txBox="1"/>
          <p:nvPr/>
        </p:nvSpPr>
        <p:spPr>
          <a:xfrm>
            <a:off x="2148999" y="4238850"/>
            <a:ext cx="655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Use Case: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Complex projects (content creation, research pipelines).</a:t>
            </a:r>
            <a:endParaRPr sz="1300"/>
          </a:p>
        </p:txBody>
      </p:sp>
      <p:sp>
        <p:nvSpPr>
          <p:cNvPr id="874" name="Google Shape;874;p53"/>
          <p:cNvSpPr txBox="1"/>
          <p:nvPr/>
        </p:nvSpPr>
        <p:spPr>
          <a:xfrm>
            <a:off x="2090200" y="1368325"/>
            <a:ext cx="655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400"/>
              <a:buChar char="●"/>
            </a:pPr>
            <a:r>
              <a:rPr b="1" lang="en-US">
                <a:solidFill>
                  <a:srgbClr val="A61C00"/>
                </a:solidFill>
              </a:rPr>
              <a:t>Multiple agents with roles (Planner, Worker, Reviewer).</a:t>
            </a:r>
            <a:endParaRPr b="1">
              <a:solidFill>
                <a:srgbClr val="A61C00"/>
              </a:solidFill>
            </a:endParaRPr>
          </a:p>
        </p:txBody>
      </p:sp>
      <p:sp>
        <p:nvSpPr>
          <p:cNvPr id="875" name="Google Shape;875;p53"/>
          <p:cNvSpPr txBox="1"/>
          <p:nvPr/>
        </p:nvSpPr>
        <p:spPr>
          <a:xfrm>
            <a:off x="2447650" y="2307425"/>
            <a:ext cx="6657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Startup team:</a:t>
            </a:r>
            <a:endParaRPr i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CEO plans, engineers build, QA reviews.</a:t>
            </a:r>
            <a:endParaRPr i="1"/>
          </a:p>
        </p:txBody>
      </p:sp>
      <p:pic>
        <p:nvPicPr>
          <p:cNvPr id="876" name="Google Shape;8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000" y="2508525"/>
            <a:ext cx="274900" cy="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4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2 –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Identify the Pattern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4" name="Google Shape;884;p54"/>
          <p:cNvSpPr txBox="1"/>
          <p:nvPr/>
        </p:nvSpPr>
        <p:spPr>
          <a:xfrm>
            <a:off x="1636950" y="1644700"/>
            <a:ext cx="75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Objective:</a:t>
            </a:r>
            <a:r>
              <a:rPr lang="en-US" sz="1600"/>
              <a:t> Pattern identification</a:t>
            </a:r>
            <a:endParaRPr sz="1600"/>
          </a:p>
        </p:txBody>
      </p:sp>
      <p:graphicFrame>
        <p:nvGraphicFramePr>
          <p:cNvPr id="885" name="Google Shape;885;p54"/>
          <p:cNvGraphicFramePr/>
          <p:nvPr/>
        </p:nvGraphicFramePr>
        <p:xfrm>
          <a:off x="1636950" y="22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4894300"/>
                <a:gridCol w="2706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Best Pattern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assistant decomposes goal into subtasks.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Tool Use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Chatbot calls currency API for live rates.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Planning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Legal bot reviews its own summary for completeness.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Multi Agent Collaboration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Content workflow uses Planner, Writer, Reviewer agents.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Reflection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886" name="Google Shape;886;p54"/>
          <p:cNvSpPr txBox="1"/>
          <p:nvPr/>
        </p:nvSpPr>
        <p:spPr>
          <a:xfrm>
            <a:off x="3357675" y="4694950"/>
            <a:ext cx="6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Prompt: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Which patterns often combine in practice?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7" name="Google Shape;88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600" y="4870675"/>
            <a:ext cx="264150" cy="2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5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2 –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Identify the Pattern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" name="Google Shape;895;p55"/>
          <p:cNvSpPr txBox="1"/>
          <p:nvPr/>
        </p:nvSpPr>
        <p:spPr>
          <a:xfrm>
            <a:off x="1636950" y="1644700"/>
            <a:ext cx="75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Objective:</a:t>
            </a:r>
            <a:r>
              <a:rPr lang="en-US" sz="1600"/>
              <a:t> Pattern identification</a:t>
            </a:r>
            <a:endParaRPr sz="1600"/>
          </a:p>
        </p:txBody>
      </p:sp>
      <p:graphicFrame>
        <p:nvGraphicFramePr>
          <p:cNvPr id="896" name="Google Shape;896;p55"/>
          <p:cNvGraphicFramePr/>
          <p:nvPr/>
        </p:nvGraphicFramePr>
        <p:xfrm>
          <a:off x="1636950" y="22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4894300"/>
                <a:gridCol w="2706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Best Pattern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assistant decomposes goal into subtasks.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Tool Use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Chatbot calls currency API for live rates.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Planning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Legal bot reviews its own summary for completeness.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Multi Agent Collaboration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Content workflow uses Planner, Writer, Reviewer agents.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Reflection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7" name="Google Shape;897;p55"/>
          <p:cNvSpPr txBox="1"/>
          <p:nvPr/>
        </p:nvSpPr>
        <p:spPr>
          <a:xfrm>
            <a:off x="3357675" y="4694950"/>
            <a:ext cx="6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Prompt: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Which patterns often combine in practice?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8" name="Google Shape;8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600" y="4870675"/>
            <a:ext cx="264150" cy="264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9" name="Google Shape;899;p55"/>
          <p:cNvCxnSpPr/>
          <p:nvPr/>
        </p:nvCxnSpPr>
        <p:spPr>
          <a:xfrm>
            <a:off x="5459100" y="2891625"/>
            <a:ext cx="1222500" cy="3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5"/>
          <p:cNvCxnSpPr/>
          <p:nvPr/>
        </p:nvCxnSpPr>
        <p:spPr>
          <a:xfrm>
            <a:off x="6056200" y="3630875"/>
            <a:ext cx="625500" cy="41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5"/>
          <p:cNvCxnSpPr/>
          <p:nvPr/>
        </p:nvCxnSpPr>
        <p:spPr>
          <a:xfrm flipH="1" rot="10800000">
            <a:off x="6269450" y="3673475"/>
            <a:ext cx="369600" cy="3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55"/>
          <p:cNvCxnSpPr/>
          <p:nvPr/>
        </p:nvCxnSpPr>
        <p:spPr>
          <a:xfrm flipH="1" rot="10800000">
            <a:off x="5032600" y="2834800"/>
            <a:ext cx="1563900" cy="48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6"/>
          <p:cNvSpPr txBox="1"/>
          <p:nvPr/>
        </p:nvSpPr>
        <p:spPr>
          <a:xfrm>
            <a:off x="356875" y="350625"/>
            <a:ext cx="472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Popular Frameworks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8" name="Google Shape;908;p5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0" name="Google Shape;910;p56"/>
          <p:cNvSpPr txBox="1"/>
          <p:nvPr/>
        </p:nvSpPr>
        <p:spPr>
          <a:xfrm>
            <a:off x="1574950" y="1280875"/>
            <a:ext cx="39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</a:rPr>
              <a:t>Gemini 1.5 Pro</a:t>
            </a:r>
            <a:r>
              <a:rPr lang="en-US"/>
              <a:t> → Tool Use + Reflection</a:t>
            </a:r>
            <a:endParaRPr/>
          </a:p>
        </p:txBody>
      </p:sp>
      <p:sp>
        <p:nvSpPr>
          <p:cNvPr id="911" name="Google Shape;911;p56"/>
          <p:cNvSpPr txBox="1"/>
          <p:nvPr/>
        </p:nvSpPr>
        <p:spPr>
          <a:xfrm>
            <a:off x="6302675" y="1280875"/>
            <a:ext cx="39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</a:rPr>
              <a:t>LangGraph</a:t>
            </a:r>
            <a:r>
              <a:rPr lang="en-US"/>
              <a:t> → </a:t>
            </a:r>
            <a:r>
              <a:rPr lang="en-US"/>
              <a:t>Planning + Execution nodes</a:t>
            </a:r>
            <a:endParaRPr/>
          </a:p>
        </p:txBody>
      </p:sp>
      <p:sp>
        <p:nvSpPr>
          <p:cNvPr id="912" name="Google Shape;912;p56"/>
          <p:cNvSpPr txBox="1"/>
          <p:nvPr/>
        </p:nvSpPr>
        <p:spPr>
          <a:xfrm>
            <a:off x="1608713" y="2709800"/>
            <a:ext cx="39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</a:rPr>
              <a:t>AutoGen</a:t>
            </a:r>
            <a:r>
              <a:rPr lang="en-US"/>
              <a:t> → </a:t>
            </a:r>
            <a:r>
              <a:rPr lang="en-US"/>
              <a:t>Multi-Agent dialogue pattern</a:t>
            </a:r>
            <a:endParaRPr/>
          </a:p>
        </p:txBody>
      </p:sp>
      <p:sp>
        <p:nvSpPr>
          <p:cNvPr id="913" name="Google Shape;913;p56"/>
          <p:cNvSpPr txBox="1"/>
          <p:nvPr/>
        </p:nvSpPr>
        <p:spPr>
          <a:xfrm>
            <a:off x="6336452" y="2709800"/>
            <a:ext cx="445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</a:rPr>
              <a:t>CrewAI</a:t>
            </a:r>
            <a:r>
              <a:rPr lang="en-US"/>
              <a:t> → </a:t>
            </a:r>
            <a:r>
              <a:rPr lang="en-US"/>
              <a:t>Planner/Worker/Reviewer architecture</a:t>
            </a:r>
            <a:endParaRPr/>
          </a:p>
        </p:txBody>
      </p:sp>
      <p:sp>
        <p:nvSpPr>
          <p:cNvPr id="914" name="Google Shape;914;p56"/>
          <p:cNvSpPr/>
          <p:nvPr/>
        </p:nvSpPr>
        <p:spPr>
          <a:xfrm>
            <a:off x="1693400" y="167315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Tool Use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5" name="Google Shape;915;p56"/>
          <p:cNvSpPr/>
          <p:nvPr/>
        </p:nvSpPr>
        <p:spPr>
          <a:xfrm>
            <a:off x="2777825" y="1673150"/>
            <a:ext cx="11883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6" name="Google Shape;916;p56"/>
          <p:cNvSpPr/>
          <p:nvPr/>
        </p:nvSpPr>
        <p:spPr>
          <a:xfrm>
            <a:off x="2999200" y="3100475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Dialogue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7" name="Google Shape;917;p56"/>
          <p:cNvSpPr/>
          <p:nvPr/>
        </p:nvSpPr>
        <p:spPr>
          <a:xfrm>
            <a:off x="1693400" y="3100475"/>
            <a:ext cx="11883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Multi-Agent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8" name="Google Shape;918;p56"/>
          <p:cNvSpPr/>
          <p:nvPr/>
        </p:nvSpPr>
        <p:spPr>
          <a:xfrm>
            <a:off x="6448950" y="167315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Planning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9" name="Google Shape;919;p56"/>
          <p:cNvSpPr/>
          <p:nvPr/>
        </p:nvSpPr>
        <p:spPr>
          <a:xfrm>
            <a:off x="7533375" y="1673150"/>
            <a:ext cx="11883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Execution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0" name="Google Shape;920;p56"/>
          <p:cNvSpPr/>
          <p:nvPr/>
        </p:nvSpPr>
        <p:spPr>
          <a:xfrm>
            <a:off x="6448950" y="314595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Planner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1" name="Google Shape;921;p56"/>
          <p:cNvSpPr/>
          <p:nvPr/>
        </p:nvSpPr>
        <p:spPr>
          <a:xfrm>
            <a:off x="7533375" y="314595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Worker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2" name="Google Shape;922;p56"/>
          <p:cNvSpPr/>
          <p:nvPr/>
        </p:nvSpPr>
        <p:spPr>
          <a:xfrm>
            <a:off x="8597825" y="314595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Reviewer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3" name="Google Shape;923;p56"/>
          <p:cNvSpPr txBox="1"/>
          <p:nvPr/>
        </p:nvSpPr>
        <p:spPr>
          <a:xfrm>
            <a:off x="2656450" y="3943325"/>
            <a:ext cx="56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/>
              <a:t>Analogy → Mini companies of LLMs working in teams.</a:t>
            </a:r>
            <a:endParaRPr i="1" sz="1600"/>
          </a:p>
        </p:txBody>
      </p:sp>
      <p:pic>
        <p:nvPicPr>
          <p:cNvPr id="924" name="Google Shape;9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1900" y="4021425"/>
            <a:ext cx="274900" cy="2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56"/>
          <p:cNvSpPr txBox="1"/>
          <p:nvPr/>
        </p:nvSpPr>
        <p:spPr>
          <a:xfrm>
            <a:off x="1736375" y="5412650"/>
            <a:ext cx="815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Collaborative Structure</a:t>
            </a:r>
            <a:r>
              <a:rPr b="1" lang="en-US" sz="1600"/>
              <a:t>		</a:t>
            </a:r>
            <a:r>
              <a:rPr b="1" lang="en-US" sz="1600"/>
              <a:t>Specialized Roles</a:t>
            </a:r>
            <a:r>
              <a:rPr b="1" lang="en-US" sz="1600"/>
              <a:t>			</a:t>
            </a:r>
            <a:r>
              <a:rPr b="1" lang="en-US" sz="1600"/>
              <a:t>Coordinated Workflows</a:t>
            </a:r>
            <a:endParaRPr b="1" sz="1600"/>
          </a:p>
        </p:txBody>
      </p:sp>
      <p:pic>
        <p:nvPicPr>
          <p:cNvPr id="926" name="Google Shape;92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5500" y="4655350"/>
            <a:ext cx="827350" cy="8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7525" y="4683062"/>
            <a:ext cx="771924" cy="77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2575" y="4752650"/>
            <a:ext cx="682225" cy="6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5950" y="1341925"/>
            <a:ext cx="309000" cy="3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1176" y="1193776"/>
            <a:ext cx="605276" cy="60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65950" y="2738450"/>
            <a:ext cx="373800" cy="3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87299" y="2792262"/>
            <a:ext cx="771924" cy="266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7"/>
          <p:cNvSpPr/>
          <p:nvPr/>
        </p:nvSpPr>
        <p:spPr>
          <a:xfrm>
            <a:off x="2495825" y="4431100"/>
            <a:ext cx="6513900" cy="1036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57"/>
          <p:cNvSpPr txBox="1"/>
          <p:nvPr/>
        </p:nvSpPr>
        <p:spPr>
          <a:xfrm>
            <a:off x="356875" y="350625"/>
            <a:ext cx="666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Future of LLM Agents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9" name="Google Shape;939;p5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" name="Google Shape;941;p57"/>
          <p:cNvSpPr txBox="1"/>
          <p:nvPr/>
        </p:nvSpPr>
        <p:spPr>
          <a:xfrm>
            <a:off x="2033800" y="1148163"/>
            <a:ext cx="794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Meta-agents controlling others.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Hierarchical systems where higher-level agents coordinate and direct specialized sub-agents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2" name="Google Shape;942;p57"/>
          <p:cNvSpPr txBox="1"/>
          <p:nvPr/>
        </p:nvSpPr>
        <p:spPr>
          <a:xfrm>
            <a:off x="2801075" y="4029375"/>
            <a:ext cx="543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Analogy → </a:t>
            </a:r>
            <a:r>
              <a:rPr i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a single brain → society of minds.</a:t>
            </a:r>
            <a:endParaRPr i="1"/>
          </a:p>
        </p:txBody>
      </p:sp>
      <p:pic>
        <p:nvPicPr>
          <p:cNvPr id="943" name="Google Shape;9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275" y="4107475"/>
            <a:ext cx="274900" cy="2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7"/>
          <p:cNvSpPr txBox="1"/>
          <p:nvPr/>
        </p:nvSpPr>
        <p:spPr>
          <a:xfrm>
            <a:off x="2013700" y="2109238"/>
            <a:ext cx="796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Persistent memory and identity.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Agents with consistent personality traits, evolving knowledge bases, and contextual awareness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5" name="Google Shape;945;p57"/>
          <p:cNvSpPr txBox="1"/>
          <p:nvPr/>
        </p:nvSpPr>
        <p:spPr>
          <a:xfrm>
            <a:off x="2033800" y="3032638"/>
            <a:ext cx="79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Collaborative ecosystems of agents.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Specialized agents working together in emergent systems, like organizations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6" name="Google Shape;94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878" y="3180115"/>
            <a:ext cx="656325" cy="574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794" y="2232400"/>
            <a:ext cx="606484" cy="6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4730" y="1310200"/>
            <a:ext cx="702620" cy="6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57"/>
          <p:cNvSpPr txBox="1"/>
          <p:nvPr/>
        </p:nvSpPr>
        <p:spPr>
          <a:xfrm>
            <a:off x="1859275" y="5561125"/>
            <a:ext cx="865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Just as human society evolved from individual actors to complex civilizations, AI systems are evolving from single models to interconnected cognitive networks.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0" name="Google Shape;950;p57"/>
          <p:cNvSpPr txBox="1"/>
          <p:nvPr/>
        </p:nvSpPr>
        <p:spPr>
          <a:xfrm>
            <a:off x="3374175" y="5067700"/>
            <a:ext cx="15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 Model</a:t>
            </a:r>
            <a:endParaRPr/>
          </a:p>
        </p:txBody>
      </p:sp>
      <p:sp>
        <p:nvSpPr>
          <p:cNvPr id="951" name="Google Shape;951;p57"/>
          <p:cNvSpPr txBox="1"/>
          <p:nvPr/>
        </p:nvSpPr>
        <p:spPr>
          <a:xfrm>
            <a:off x="6688475" y="5067700"/>
            <a:ext cx="15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Society of Minds</a:t>
            </a:r>
            <a:endParaRPr/>
          </a:p>
        </p:txBody>
      </p:sp>
      <p:pic>
        <p:nvPicPr>
          <p:cNvPr id="952" name="Google Shape;952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76000" y="4546183"/>
            <a:ext cx="606476" cy="60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96875" y="4608502"/>
            <a:ext cx="481825" cy="4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8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3 –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Scenario Challenge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9" name="Google Shape;959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1" name="Google Shape;961;p58"/>
          <p:cNvSpPr txBox="1"/>
          <p:nvPr/>
        </p:nvSpPr>
        <p:spPr>
          <a:xfrm>
            <a:off x="1636950" y="1644700"/>
            <a:ext cx="75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Objective:</a:t>
            </a:r>
            <a:r>
              <a:rPr lang="en-US" sz="1600"/>
              <a:t> Choose best fit</a:t>
            </a:r>
            <a:endParaRPr sz="1600"/>
          </a:p>
        </p:txBody>
      </p:sp>
      <p:graphicFrame>
        <p:nvGraphicFramePr>
          <p:cNvPr id="962" name="Google Shape;962;p58"/>
          <p:cNvGraphicFramePr/>
          <p:nvPr/>
        </p:nvGraphicFramePr>
        <p:xfrm>
          <a:off x="1078750" y="22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5452500"/>
                <a:gridCol w="2706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Which Setup Fits Best?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studio automates research, writing, editing.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␧ Multi-Agent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Research bot fetches and summarises papers.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Planning + Tool Use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Compliance bot checks output before approval.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🗹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Reflection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Conversational planner breaks goal into steps and delegates.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Planning + Multi-Agent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Developer assistant tests and fixes its own code.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Reflection + Tool Use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963" name="Google Shape;963;p58"/>
          <p:cNvSpPr txBox="1"/>
          <p:nvPr/>
        </p:nvSpPr>
        <p:spPr>
          <a:xfrm>
            <a:off x="3407500" y="5263150"/>
            <a:ext cx="6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Prompt: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When would you add reflection to a multi-agent workflow?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4" name="Google Shape;9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425" y="5438875"/>
            <a:ext cx="264150" cy="2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9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3 –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Scenario Challenge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0" name="Google Shape;970;p5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2" name="Google Shape;972;p59"/>
          <p:cNvSpPr txBox="1"/>
          <p:nvPr/>
        </p:nvSpPr>
        <p:spPr>
          <a:xfrm>
            <a:off x="1636950" y="1644700"/>
            <a:ext cx="75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Objective:</a:t>
            </a:r>
            <a:r>
              <a:rPr lang="en-US" sz="1600"/>
              <a:t> Choose best fit</a:t>
            </a:r>
            <a:endParaRPr sz="1600"/>
          </a:p>
        </p:txBody>
      </p:sp>
      <p:graphicFrame>
        <p:nvGraphicFramePr>
          <p:cNvPr id="973" name="Google Shape;973;p59"/>
          <p:cNvGraphicFramePr/>
          <p:nvPr/>
        </p:nvGraphicFramePr>
        <p:xfrm>
          <a:off x="1078750" y="22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{07EBBCD1-3405-49A8-8A14-8127668143C8}</a:tableStyleId>
              </a:tblPr>
              <a:tblGrid>
                <a:gridCol w="5452500"/>
                <a:gridCol w="2706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Which Setup Fits Best?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studio automates research, writing, editing.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␧ </a:t>
                      </a:r>
                      <a:r>
                        <a:rPr lang="en-US"/>
                        <a:t>Multi-Agent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Research bot fetches and summarises papers.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Planning + Tool Use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Compliance bot checks output before approval.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Reflection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Conversational planner breaks goal into steps and delegates.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Planning + Multi-Agent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Developer assistant tests and fixes its own code.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␧ Reflection + Tool Use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974" name="Google Shape;974;p59"/>
          <p:cNvSpPr txBox="1"/>
          <p:nvPr/>
        </p:nvSpPr>
        <p:spPr>
          <a:xfrm>
            <a:off x="3407500" y="5263150"/>
            <a:ext cx="61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Prompt: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When would you add reflection to a multi-agent workflow?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5" name="Google Shape;97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425" y="5438875"/>
            <a:ext cx="264150" cy="264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6" name="Google Shape;976;p59"/>
          <p:cNvCxnSpPr/>
          <p:nvPr/>
        </p:nvCxnSpPr>
        <p:spPr>
          <a:xfrm>
            <a:off x="4933100" y="2877400"/>
            <a:ext cx="1635000" cy="11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59"/>
          <p:cNvCxnSpPr/>
          <p:nvPr/>
        </p:nvCxnSpPr>
        <p:spPr>
          <a:xfrm flipH="1" rot="10800000">
            <a:off x="5231650" y="3716200"/>
            <a:ext cx="1322100" cy="8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59"/>
          <p:cNvCxnSpPr/>
          <p:nvPr/>
        </p:nvCxnSpPr>
        <p:spPr>
          <a:xfrm flipH="1" rot="10800000">
            <a:off x="5729225" y="3246900"/>
            <a:ext cx="881400" cy="7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59"/>
          <p:cNvCxnSpPr/>
          <p:nvPr/>
        </p:nvCxnSpPr>
        <p:spPr>
          <a:xfrm flipH="1" rot="10800000">
            <a:off x="4989975" y="2891500"/>
            <a:ext cx="1677600" cy="4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59"/>
          <p:cNvCxnSpPr/>
          <p:nvPr/>
        </p:nvCxnSpPr>
        <p:spPr>
          <a:xfrm>
            <a:off x="5061050" y="3673525"/>
            <a:ext cx="1606500" cy="8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0"/>
          <p:cNvSpPr txBox="1"/>
          <p:nvPr/>
        </p:nvSpPr>
        <p:spPr>
          <a:xfrm>
            <a:off x="331950" y="41237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Summary &amp; Next Steps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6" name="Google Shape;986;p6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8" name="Google Shape;988;p60"/>
          <p:cNvSpPr txBox="1"/>
          <p:nvPr/>
        </p:nvSpPr>
        <p:spPr>
          <a:xfrm>
            <a:off x="1141350" y="1330750"/>
            <a:ext cx="793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LLM Agents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LLM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Tools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Autonomy.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4 Key Patterns: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9" name="Google Shape;989;p60"/>
          <p:cNvSpPr/>
          <p:nvPr/>
        </p:nvSpPr>
        <p:spPr>
          <a:xfrm>
            <a:off x="1719100" y="222140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Planning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0" name="Google Shape;990;p60"/>
          <p:cNvSpPr/>
          <p:nvPr/>
        </p:nvSpPr>
        <p:spPr>
          <a:xfrm>
            <a:off x="2768625" y="2221400"/>
            <a:ext cx="9321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Tool Use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1" name="Google Shape;991;p60"/>
          <p:cNvSpPr/>
          <p:nvPr/>
        </p:nvSpPr>
        <p:spPr>
          <a:xfrm>
            <a:off x="3818150" y="2221400"/>
            <a:ext cx="11496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2" name="Google Shape;992;p60"/>
          <p:cNvSpPr/>
          <p:nvPr/>
        </p:nvSpPr>
        <p:spPr>
          <a:xfrm>
            <a:off x="5085175" y="2221400"/>
            <a:ext cx="2394600" cy="3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Multi-Agent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Collaboration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3" name="Google Shape;993;p60"/>
          <p:cNvSpPr txBox="1"/>
          <p:nvPr/>
        </p:nvSpPr>
        <p:spPr>
          <a:xfrm>
            <a:off x="1141350" y="2691400"/>
            <a:ext cx="73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You can now recognise when a task needs agentic behavior and which pattern fits.</a:t>
            </a:r>
            <a:endParaRPr/>
          </a:p>
        </p:txBody>
      </p:sp>
      <p:sp>
        <p:nvSpPr>
          <p:cNvPr id="994" name="Google Shape;994;p60"/>
          <p:cNvSpPr txBox="1"/>
          <p:nvPr/>
        </p:nvSpPr>
        <p:spPr>
          <a:xfrm>
            <a:off x="2143100" y="3374175"/>
            <a:ext cx="713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</a:rPr>
              <a:t>Next Steps:</a:t>
            </a:r>
            <a:endParaRPr b="1">
              <a:solidFill>
                <a:schemeClr val="accen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Explore </a:t>
            </a:r>
            <a:r>
              <a:rPr b="1" lang="en-US">
                <a:solidFill>
                  <a:schemeClr val="accent1"/>
                </a:solidFill>
              </a:rPr>
              <a:t>LangGraph</a:t>
            </a:r>
            <a:r>
              <a:rPr lang="en-US"/>
              <a:t>, </a:t>
            </a:r>
            <a:r>
              <a:rPr b="1" lang="en-US">
                <a:solidFill>
                  <a:schemeClr val="accent1"/>
                </a:solidFill>
              </a:rPr>
              <a:t>AutoGen</a:t>
            </a:r>
            <a:r>
              <a:rPr lang="en-US"/>
              <a:t>, </a:t>
            </a:r>
            <a:r>
              <a:rPr b="1" lang="en-US">
                <a:solidFill>
                  <a:schemeClr val="accent1"/>
                </a:solidFill>
              </a:rPr>
              <a:t>CrewAI</a:t>
            </a:r>
            <a:r>
              <a:rPr lang="en-US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Imagine an agent for your own workflow — what pattern would it need?</a:t>
            </a:r>
            <a:endParaRPr/>
          </a:p>
        </p:txBody>
      </p:sp>
      <p:pic>
        <p:nvPicPr>
          <p:cNvPr id="995" name="Google Shape;99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075" y="4373400"/>
            <a:ext cx="849100" cy="8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913" y="4400812"/>
            <a:ext cx="794275" cy="7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0175" y="4330325"/>
            <a:ext cx="892175" cy="8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60"/>
          <p:cNvSpPr txBox="1"/>
          <p:nvPr/>
        </p:nvSpPr>
        <p:spPr>
          <a:xfrm>
            <a:off x="3106375" y="5322925"/>
            <a:ext cx="70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LLM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Brain</a:t>
            </a:r>
            <a:endParaRPr b="1"/>
          </a:p>
        </p:txBody>
      </p:sp>
      <p:sp>
        <p:nvSpPr>
          <p:cNvPr id="999" name="Google Shape;999;p60"/>
          <p:cNvSpPr txBox="1"/>
          <p:nvPr/>
        </p:nvSpPr>
        <p:spPr>
          <a:xfrm>
            <a:off x="5216025" y="5352825"/>
            <a:ext cx="93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Tools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Action</a:t>
            </a:r>
            <a:endParaRPr b="1"/>
          </a:p>
        </p:txBody>
      </p:sp>
      <p:sp>
        <p:nvSpPr>
          <p:cNvPr id="1000" name="Google Shape;1000;p60"/>
          <p:cNvSpPr txBox="1"/>
          <p:nvPr/>
        </p:nvSpPr>
        <p:spPr>
          <a:xfrm>
            <a:off x="7016250" y="5352825"/>
            <a:ext cx="12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Autonomy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Loop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6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2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2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