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Poppins"/>
      <p:regular r:id="rId38"/>
      <p:bold r:id="rId39"/>
      <p:italic r:id="rId40"/>
      <p:boldItalic r:id="rId41"/>
    </p:embeddedFont>
    <p:embeddedFont>
      <p:font typeface="IBM Plex Mono Light"/>
      <p:regular r:id="rId42"/>
      <p:bold r:id="rId43"/>
      <p:italic r:id="rId44"/>
      <p:boldItalic r:id="rId45"/>
    </p:embeddedFont>
    <p:embeddedFont>
      <p:font typeface="Poppins Light"/>
      <p:regular r:id="rId46"/>
      <p:bold r:id="rId47"/>
      <p:italic r:id="rId48"/>
      <p:boldItalic r:id="rId49"/>
    </p:embeddedFont>
    <p:embeddedFont>
      <p:font typeface="Poppins Medium"/>
      <p:regular r:id="rId50"/>
      <p:bold r:id="rId51"/>
      <p:italic r:id="rId52"/>
      <p:boldItalic r:id="rId53"/>
    </p:embeddedFont>
    <p:embeddedFont>
      <p:font typeface="Poppins Black"/>
      <p:bold r:id="rId54"/>
      <p:boldItalic r:id="rId55"/>
    </p:embeddedFont>
    <p:embeddedFont>
      <p:font typeface="Poppins SemiBold"/>
      <p:regular r:id="rId56"/>
      <p:bold r:id="rId57"/>
      <p:italic r:id="rId58"/>
      <p:boldItalic r:id="rId59"/>
    </p:embeddedFont>
    <p:embeddedFont>
      <p:font typeface="Open Sans Light"/>
      <p:regular r:id="rId60"/>
      <p:bold r:id="rId61"/>
      <p:italic r:id="rId62"/>
      <p:boldItalic r:id="rId63"/>
    </p:embeddedFont>
    <p:embeddedFont>
      <p:font typeface="Open Sans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42" Type="http://schemas.openxmlformats.org/officeDocument/2006/relationships/font" Target="fonts/IBMPlexMonoLight-regular.fntdata"/><Relationship Id="rId41" Type="http://schemas.openxmlformats.org/officeDocument/2006/relationships/font" Target="fonts/Poppins-boldItalic.fntdata"/><Relationship Id="rId44" Type="http://schemas.openxmlformats.org/officeDocument/2006/relationships/font" Target="fonts/IBMPlexMonoLight-italic.fntdata"/><Relationship Id="rId43" Type="http://schemas.openxmlformats.org/officeDocument/2006/relationships/font" Target="fonts/IBMPlexMonoLight-bold.fntdata"/><Relationship Id="rId46" Type="http://schemas.openxmlformats.org/officeDocument/2006/relationships/font" Target="fonts/PoppinsLight-regular.fntdata"/><Relationship Id="rId45" Type="http://schemas.openxmlformats.org/officeDocument/2006/relationships/font" Target="fonts/IBMPlexMono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Light-italic.fntdata"/><Relationship Id="rId47" Type="http://schemas.openxmlformats.org/officeDocument/2006/relationships/font" Target="fonts/PoppinsLight-bold.fntdata"/><Relationship Id="rId49" Type="http://schemas.openxmlformats.org/officeDocument/2006/relationships/font" Target="fonts/Poppins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Poppins-bold.fntdata"/><Relationship Id="rId38" Type="http://schemas.openxmlformats.org/officeDocument/2006/relationships/font" Target="fonts/Poppins-regular.fntdata"/><Relationship Id="rId62" Type="http://schemas.openxmlformats.org/officeDocument/2006/relationships/font" Target="fonts/OpenSansLight-italic.fntdata"/><Relationship Id="rId61" Type="http://schemas.openxmlformats.org/officeDocument/2006/relationships/font" Target="fonts/OpenSansLight-bold.fntdata"/><Relationship Id="rId20" Type="http://schemas.openxmlformats.org/officeDocument/2006/relationships/slide" Target="slides/slide15.xml"/><Relationship Id="rId64" Type="http://schemas.openxmlformats.org/officeDocument/2006/relationships/font" Target="fonts/OpenSans-regular.fntdata"/><Relationship Id="rId63" Type="http://schemas.openxmlformats.org/officeDocument/2006/relationships/font" Target="fonts/OpenSansLight-boldItalic.fntdata"/><Relationship Id="rId22" Type="http://schemas.openxmlformats.org/officeDocument/2006/relationships/slide" Target="slides/slide17.xml"/><Relationship Id="rId66" Type="http://schemas.openxmlformats.org/officeDocument/2006/relationships/font" Target="fonts/OpenSans-italic.fntdata"/><Relationship Id="rId21" Type="http://schemas.openxmlformats.org/officeDocument/2006/relationships/slide" Target="slides/slide16.xml"/><Relationship Id="rId65" Type="http://schemas.openxmlformats.org/officeDocument/2006/relationships/font" Target="fonts/OpenSans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OpenSans-boldItalic.fntdata"/><Relationship Id="rId60" Type="http://schemas.openxmlformats.org/officeDocument/2006/relationships/font" Target="fonts/OpenSansLigh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Medium-bold.fntdata"/><Relationship Id="rId50" Type="http://schemas.openxmlformats.org/officeDocument/2006/relationships/font" Target="fonts/PoppinsMedium-regular.fntdata"/><Relationship Id="rId53" Type="http://schemas.openxmlformats.org/officeDocument/2006/relationships/font" Target="fonts/PoppinsMedium-boldItalic.fntdata"/><Relationship Id="rId52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55" Type="http://schemas.openxmlformats.org/officeDocument/2006/relationships/font" Target="fonts/PoppinsBlack-boldItalic.fntdata"/><Relationship Id="rId10" Type="http://schemas.openxmlformats.org/officeDocument/2006/relationships/slide" Target="slides/slide5.xml"/><Relationship Id="rId54" Type="http://schemas.openxmlformats.org/officeDocument/2006/relationships/font" Target="fonts/PoppinsBlack-bold.fntdata"/><Relationship Id="rId13" Type="http://schemas.openxmlformats.org/officeDocument/2006/relationships/slide" Target="slides/slide8.xml"/><Relationship Id="rId57" Type="http://schemas.openxmlformats.org/officeDocument/2006/relationships/font" Target="fonts/PoppinsSemiBold-bold.fntdata"/><Relationship Id="rId12" Type="http://schemas.openxmlformats.org/officeDocument/2006/relationships/slide" Target="slides/slide7.xml"/><Relationship Id="rId56" Type="http://schemas.openxmlformats.org/officeDocument/2006/relationships/font" Target="fonts/Poppins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PoppinsSemiBold-boldItalic.fntdata"/><Relationship Id="rId14" Type="http://schemas.openxmlformats.org/officeDocument/2006/relationships/slide" Target="slides/slide9.xml"/><Relationship Id="rId58" Type="http://schemas.openxmlformats.org/officeDocument/2006/relationships/font" Target="fonts/PoppinsSemiBold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7782c728f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7782c728f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7271c6c3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7271c6c3d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77881820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778818203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77881820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778818203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778818203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778818203e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77881820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778818203e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77a497b513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77a497b5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778818203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778818203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778818203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778818203e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778818203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778818203e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778818203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778818203e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778818203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778818203e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77a497b513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77a497b51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82a5bcb40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g382a5bcb4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778818203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g3778818203e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778818203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778818203e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778818203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g3778818203e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778818203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778818203e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77a497b513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77a497b51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77a497b513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77a497b51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77a497b513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77a497b51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77a497b513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77a497b51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77a497b513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77a497b51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778818203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g3778818203e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72a7ed5a8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g372a7ed5a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77a497b513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g377a497b51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77a497b513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g377a497b51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9" name="Google Shape;9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0" name="Google Shape;10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" name="Google Shape;14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" name="Google Shape;16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2" name="Google Shape;22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" name="Google Shape;24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" name="Google Shape;25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" name="Google Shape;27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8" name="Google Shape;28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" name="Google Shape;30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1" name="Google Shape;31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6" name="Google Shape;36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1" name="Google Shape;4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" name="Google Shape;4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4" name="Google Shape;4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" name="Google Shape;46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7" name="Google Shape;4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" name="Google Shape;49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0" name="Google Shape;5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Google Shape;5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5" name="Google Shape;5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" name="Google Shape;56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7" name="Google Shape;5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" name="Google Shape;5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9" name="Google Shape;59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0" name="Google Shape;6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" name="Google Shape;6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5" name="Google Shape;6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" name="Google Shape;66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7" name="Google Shape;6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8" name="Google Shape;6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9" name="Google Shape;69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0" name="Google Shape;7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" name="Google Shape;7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5" name="Google Shape;7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" name="Google Shape;80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4" name="Google Shape;84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5" name="Google Shape;85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88" name="Google Shape;88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1" name="Google Shape;91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2" name="Google Shape;92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3" name="Google Shape;93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4" name="Google Shape;94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5" name="Google Shape;95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" name="Google Shape;96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9" name="Google Shape;99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" name="Google Shape;100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1" name="Google Shape;101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2" name="Google Shape;102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6" name="Google Shape;106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9" name="Google Shape;109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1" name="Google Shape;111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2" name="Google Shape;112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" name="Google Shape;113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4" name="Google Shape;114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5" name="Google Shape;115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9" name="Google Shape;119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1" name="Google Shape;121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4" name="Google Shape;124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37" name="Google Shape;137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" name="Google Shape;143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" name="Google Shape;146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47" name="Google Shape;147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8" name="Google Shape;158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1" name="Google Shape;161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0" name="Google Shape;170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74" name="Google Shape;174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78" name="Google Shape;178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79" name="Google Shape;179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2" name="Google Shape;182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3" name="Google Shape;183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4" name="Google Shape;184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85" name="Google Shape;185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" name="Google Shape;187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" name="Google Shape;188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0" name="Google Shape;190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2" name="Google Shape;192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1" name="Google Shape;201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2" name="Google Shape;202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" name="Google Shape;203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4" name="Google Shape;204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05" name="Google Shape;205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07" name="Google Shape;207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8" name="Google Shape;208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" name="Google Shape;209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Google Shape;211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" name="Google Shape;212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" name="Google Shape;213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Google Shape;214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5" name="Google Shape;215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16" name="Google Shape;216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19" name="Google Shape;21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1" name="Google Shape;221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2" name="Google Shape;222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224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25" name="Google Shape;225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28" name="Google Shape;228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29" name="Google Shape;229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0" name="Google Shape;230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1" name="Google Shape;231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" name="Google Shape;232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" name="Google Shape;233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" name="Google Shape;234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" name="Google Shape;235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36" name="Google Shape;236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38" name="Google Shape;238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9" name="Google Shape;239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0" name="Google Shape;240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" name="Google Shape;243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" name="Google Shape;244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" name="Google Shape;245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6" name="Google Shape;246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48" name="Google Shape;248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9" name="Google Shape;249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0" name="Google Shape;250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" name="Google Shape;253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" name="Google Shape;254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" name="Google Shape;255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6" name="Google Shape;256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63" name="Google Shape;26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65" name="Google Shape;265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72" name="Google Shape;27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75" name="Google Shape;275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78" name="Google Shape;278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1" name="Google Shape;281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3" name="Google Shape;283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84" name="Google Shape;284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86" name="Google Shape;286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89" name="Google Shape;28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291" name="Google Shape;291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92" name="Google Shape;292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5" name="Google Shape;295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" name="Google Shape;297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98" name="Google Shape;298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03" name="Google Shape;30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07" name="Google Shape;307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08" name="Google Shape;308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" name="Google Shape;310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11" name="Google Shape;311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14" name="Google Shape;314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5" name="Google Shape;315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6" name="Google Shape;316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17" name="Google Shape;317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8" name="Google Shape;318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" name="Google Shape;319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" name="Google Shape;320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" name="Google Shape;321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22" name="Google Shape;322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24" name="Google Shape;324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5" name="Google Shape;325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6" name="Google Shape;326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7" name="Google Shape;327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2" name="Google Shape;332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3" name="Google Shape;333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34" name="Google Shape;334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5" name="Google Shape;335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6" name="Google Shape;336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7" name="Google Shape;337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2" name="Google Shape;342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44" name="Google Shape;344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" name="Google Shape;349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0" name="Google Shape;35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3" name="Google Shape;3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55" name="Google Shape;355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56" name="Google Shape;356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59" name="Google Shape;359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62" name="Google Shape;36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3" name="Google Shape;36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64" name="Google Shape;364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65" name="Google Shape;36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6" name="Google Shape;36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7" name="Google Shape;36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8" name="Google Shape;368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9" name="Google Shape;36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70" name="Google Shape;37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72" name="Google Shape;37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3" name="Google Shape;37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4" name="Google Shape;374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5" name="Google Shape;37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6" name="Google Shape;37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" name="Google Shape;37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0" name="Google Shape;38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82" name="Google Shape;382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3" name="Google Shape;383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4" name="Google Shape;384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5" name="Google Shape;385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6" name="Google Shape;38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7" name="Google Shape;38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0" name="Google Shape;390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92" name="Google Shape;392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97" name="Google Shape;39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0" name="Google Shape;400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1" name="Google Shape;401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2" name="Google Shape;40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5" name="Google Shape;405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6" name="Google Shape;406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7" name="Google Shape;40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0" name="Google Shape;410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1" name="Google Shape;411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2" name="Google Shape;41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6" name="Google Shape;4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9" name="Google Shape;4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2" name="Google Shape;42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5" name="Google Shape;42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9" name="Google Shape;429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0" name="Google Shape;43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32" name="Google Shape;432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3" name="Google Shape;433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36" name="Google Shape;436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" name="Google Shape;438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39" name="Google Shape;439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40" name="Google Shape;440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1" name="Google Shape;441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42" name="Google Shape;44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" name="Google Shape;443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" name="Google Shape;444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" name="Google Shape;445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47" name="Google Shape;447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49" name="Google Shape;449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50" name="Google Shape;450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51" name="Google Shape;451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52" name="Google Shape;45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3" name="Google Shape;453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4" name="Google Shape;454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" name="Google Shape;45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57" name="Google Shape;457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8" name="Google Shape;458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59" name="Google Shape;459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0" name="Google Shape;460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1" name="Google Shape;461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2" name="Google Shape;46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" name="Google Shape;463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7" name="Google Shape;467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" name="Google Shape;468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69" name="Google Shape;469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4" name="Google Shape;474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75" name="Google Shape;47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8" name="Google Shape;478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9" name="Google Shape;479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0" name="Google Shape;48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3" name="Google Shape;483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4" name="Google Shape;48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7" name="Google Shape;487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8" name="Google Shape;48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1" name="Google Shape;491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2" name="Google Shape;492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3" name="Google Shape;493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4" name="Google Shape;49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1" name="Google Shape;50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4" name="Google Shape;50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5" name="Google Shape;50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08" name="Google Shape;508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3" name="Google Shape;513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8" name="Google Shape;518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22" name="Google Shape;522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23" name="Google Shape;523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24" name="Google Shape;524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25" name="Google Shape;525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26" name="Google Shape;526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8" name="Google Shape;528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29" name="Google Shape;529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1" name="Google Shape;531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32" name="Google Shape;532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33" name="Google Shape;533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34" name="Google Shape;534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35" name="Google Shape;535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6" name="Google Shape;536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7" name="Google Shape;537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8" name="Google Shape;538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9" name="Google Shape;539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40" name="Google Shape;540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1" name="Google Shape;541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44" name="Google Shape;544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45" name="Google Shape;545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6" name="Google Shape;546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7" name="Google Shape;547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8" name="Google Shape;548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9" name="Google Shape;549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50" name="Google Shape;550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" name="Google Shape;551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52" name="Google Shape;552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53" name="Google Shape;553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54" name="Google Shape;554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55" name="Google Shape;555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6" name="Google Shape;556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7" name="Google Shape;557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8" name="Google Shape;558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60" name="Google Shape;560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1" name="Google Shape;561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62" name="Google Shape;562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67" name="Google Shape;567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576" name="Google Shape;576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p37"/>
          <p:cNvSpPr txBox="1"/>
          <p:nvPr/>
        </p:nvSpPr>
        <p:spPr>
          <a:xfrm>
            <a:off x="11298540" y="6506726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578" name="Google Shape;578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9" name="Google Shape;57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38"/>
          <p:cNvGrpSpPr/>
          <p:nvPr/>
        </p:nvGrpSpPr>
        <p:grpSpPr>
          <a:xfrm>
            <a:off x="868414" y="2469824"/>
            <a:ext cx="10553400" cy="892801"/>
            <a:chOff x="800239" y="1467172"/>
            <a:chExt cx="10553400" cy="892801"/>
          </a:xfrm>
        </p:grpSpPr>
        <p:sp>
          <p:nvSpPr>
            <p:cNvPr id="585" name="Google Shape;585;p38"/>
            <p:cNvSpPr txBox="1"/>
            <p:nvPr/>
          </p:nvSpPr>
          <p:spPr>
            <a:xfrm>
              <a:off x="800239" y="1467173"/>
              <a:ext cx="105534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B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RAG</a:t>
              </a:r>
              <a:endParaRPr b="1" sz="52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7" name="Google Shape;587;p38"/>
          <p:cNvSpPr txBox="1"/>
          <p:nvPr/>
        </p:nvSpPr>
        <p:spPr>
          <a:xfrm>
            <a:off x="11298554" y="6506725"/>
            <a:ext cx="4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588" name="Google Shape;588;p38"/>
          <p:cNvSpPr txBox="1"/>
          <p:nvPr/>
        </p:nvSpPr>
        <p:spPr>
          <a:xfrm>
            <a:off x="868425" y="3429000"/>
            <a:ext cx="1116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Retrieval</a:t>
            </a: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Augmented</a:t>
            </a:r>
            <a:r>
              <a:rPr lang="en-US" sz="4400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 Generation</a:t>
            </a:r>
            <a:endParaRPr sz="4400"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9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594" name="Google Shape;594;p39"/>
          <p:cNvSpPr txBox="1"/>
          <p:nvPr/>
        </p:nvSpPr>
        <p:spPr>
          <a:xfrm>
            <a:off x="1930350" y="3245625"/>
            <a:ext cx="85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r>
              <a:rPr b="1" lang="en-US" sz="3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- Building Retrieval Systems</a:t>
            </a:r>
            <a:endParaRPr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0"/>
          <p:cNvSpPr txBox="1"/>
          <p:nvPr/>
        </p:nvSpPr>
        <p:spPr>
          <a:xfrm>
            <a:off x="11030049" y="5927100"/>
            <a:ext cx="6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600" name="Google Shape;600;p40"/>
          <p:cNvSpPr txBox="1"/>
          <p:nvPr/>
        </p:nvSpPr>
        <p:spPr>
          <a:xfrm>
            <a:off x="356880" y="48483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Retrieval</a:t>
            </a:r>
            <a:r>
              <a:rPr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Augmented Generation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1" name="Google Shape;601;p4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2" name="Google Shape;60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899" y="2392075"/>
            <a:ext cx="900750" cy="90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170" y="2325102"/>
            <a:ext cx="967700" cy="9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3373" y="4931250"/>
            <a:ext cx="793275" cy="79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3225" y="3982301"/>
            <a:ext cx="359950" cy="35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18526" y="2358578"/>
            <a:ext cx="900750" cy="9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57201" y="2325100"/>
            <a:ext cx="967700" cy="967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8" name="Google Shape;608;p40"/>
          <p:cNvCxnSpPr/>
          <p:nvPr/>
        </p:nvCxnSpPr>
        <p:spPr>
          <a:xfrm>
            <a:off x="2227820" y="2946475"/>
            <a:ext cx="1191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40"/>
          <p:cNvCxnSpPr/>
          <p:nvPr/>
        </p:nvCxnSpPr>
        <p:spPr>
          <a:xfrm>
            <a:off x="5488445" y="2946475"/>
            <a:ext cx="1770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40"/>
          <p:cNvCxnSpPr/>
          <p:nvPr/>
        </p:nvCxnSpPr>
        <p:spPr>
          <a:xfrm>
            <a:off x="8818658" y="2946475"/>
            <a:ext cx="11910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1" name="Google Shape;61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6650" y="2513676"/>
            <a:ext cx="359950" cy="35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2" name="Google Shape;612;p40"/>
          <p:cNvCxnSpPr/>
          <p:nvPr/>
        </p:nvCxnSpPr>
        <p:spPr>
          <a:xfrm>
            <a:off x="4320595" y="3499275"/>
            <a:ext cx="0" cy="1326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40"/>
          <p:cNvCxnSpPr/>
          <p:nvPr/>
        </p:nvCxnSpPr>
        <p:spPr>
          <a:xfrm rot="10800000">
            <a:off x="4758268" y="3425925"/>
            <a:ext cx="0" cy="1372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4" name="Google Shape;614;p40"/>
          <p:cNvSpPr txBox="1"/>
          <p:nvPr/>
        </p:nvSpPr>
        <p:spPr>
          <a:xfrm>
            <a:off x="740875" y="3354075"/>
            <a:ext cx="1191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Question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15" name="Google Shape;615;p40"/>
          <p:cNvSpPr txBox="1"/>
          <p:nvPr/>
        </p:nvSpPr>
        <p:spPr>
          <a:xfrm>
            <a:off x="2135525" y="2513650"/>
            <a:ext cx="1191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Ask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16" name="Google Shape;616;p40"/>
          <p:cNvSpPr txBox="1"/>
          <p:nvPr/>
        </p:nvSpPr>
        <p:spPr>
          <a:xfrm>
            <a:off x="5152100" y="2513650"/>
            <a:ext cx="1671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Question +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17" name="Google Shape;617;p40"/>
          <p:cNvSpPr txBox="1"/>
          <p:nvPr/>
        </p:nvSpPr>
        <p:spPr>
          <a:xfrm rot="-5400000">
            <a:off x="3397875" y="3982275"/>
            <a:ext cx="1191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look-up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18" name="Google Shape;618;p40"/>
          <p:cNvSpPr txBox="1"/>
          <p:nvPr/>
        </p:nvSpPr>
        <p:spPr>
          <a:xfrm>
            <a:off x="2928109" y="5637850"/>
            <a:ext cx="3283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Specific Knowledge base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19" name="Google Shape;619;p40"/>
          <p:cNvSpPr txBox="1"/>
          <p:nvPr/>
        </p:nvSpPr>
        <p:spPr>
          <a:xfrm>
            <a:off x="5195950" y="3845325"/>
            <a:ext cx="16713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Relevant </a:t>
            </a:r>
            <a:b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</a:b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documents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7518450" y="3259325"/>
            <a:ext cx="900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LLM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8731138" y="2513650"/>
            <a:ext cx="1191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Generate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9752800" y="3354075"/>
            <a:ext cx="21765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Black"/>
                <a:ea typeface="Poppins Black"/>
                <a:cs typeface="Poppins Black"/>
                <a:sym typeface="Poppins Black"/>
              </a:rPr>
              <a:t>Explicit source informed answer</a:t>
            </a:r>
            <a:endParaRPr sz="1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23" name="Google Shape;623;p40"/>
          <p:cNvSpPr txBox="1"/>
          <p:nvPr/>
        </p:nvSpPr>
        <p:spPr>
          <a:xfrm>
            <a:off x="2227825" y="1615500"/>
            <a:ext cx="1452300" cy="4464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1.</a:t>
            </a:r>
            <a:r>
              <a:rPr b="1" lang="en-US" sz="17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Retrieval</a:t>
            </a:r>
            <a:endParaRPr b="1" sz="17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24" name="Google Shape;624;p40"/>
          <p:cNvSpPr txBox="1"/>
          <p:nvPr/>
        </p:nvSpPr>
        <p:spPr>
          <a:xfrm>
            <a:off x="5195950" y="1615500"/>
            <a:ext cx="2049900" cy="4464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Augmentation</a:t>
            </a:r>
            <a:endParaRPr b="1" sz="17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8441650" y="1615500"/>
            <a:ext cx="1770000" cy="4464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Generation</a:t>
            </a:r>
            <a:endParaRPr b="1" sz="1700">
              <a:solidFill>
                <a:srgbClr val="00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1"/>
          <p:cNvSpPr txBox="1"/>
          <p:nvPr/>
        </p:nvSpPr>
        <p:spPr>
          <a:xfrm>
            <a:off x="11009524" y="6235100"/>
            <a:ext cx="633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631" name="Google Shape;631;p41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(Retrieval Augmented Generation)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? </a:t>
            </a:r>
            <a:endParaRPr b="1" sz="30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3" name="Google Shape;63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5550" y="1174325"/>
            <a:ext cx="7006141" cy="492657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1"/>
          <p:cNvSpPr txBox="1"/>
          <p:nvPr/>
        </p:nvSpPr>
        <p:spPr>
          <a:xfrm>
            <a:off x="223400" y="1735050"/>
            <a:ext cx="3770400" cy="4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The Problem with Traditional LLMs</a:t>
            </a:r>
            <a:endParaRPr b="1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2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640" name="Google Shape;640;p42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Overview of a Retrieval System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41" name="Google Shape;641;p42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2" name="Google Shape;6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25" y="1570158"/>
            <a:ext cx="11887200" cy="4664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3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648" name="Google Shape;648;p43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Step 1: Loading Data -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49" name="Google Shape;649;p43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350" y="1069208"/>
            <a:ext cx="6160611" cy="5565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4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</p:txBody>
      </p:sp>
      <p:sp>
        <p:nvSpPr>
          <p:cNvPr id="656" name="Google Shape;656;p44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Data Types for Retrieval Systems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8325"/>
            <a:ext cx="11701649" cy="500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5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  <p:sp>
        <p:nvSpPr>
          <p:cNvPr id="664" name="Google Shape;664;p45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Working with Structured Data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65" name="Google Shape;665;p45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6" name="Google Shape;66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50" y="1569583"/>
            <a:ext cx="10763627" cy="4942418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5"/>
          <p:cNvSpPr txBox="1"/>
          <p:nvPr/>
        </p:nvSpPr>
        <p:spPr>
          <a:xfrm>
            <a:off x="345157" y="1078625"/>
            <a:ext cx="9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Structured data has a predefined format and organization, making it easier to process and query.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6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</p:txBody>
      </p:sp>
      <p:sp>
        <p:nvSpPr>
          <p:cNvPr id="673" name="Google Shape;673;p46"/>
          <p:cNvSpPr txBox="1"/>
          <p:nvPr/>
        </p:nvSpPr>
        <p:spPr>
          <a:xfrm>
            <a:off x="328251" y="433775"/>
            <a:ext cx="678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Working with Unstructured Data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74" name="Google Shape;674;p46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5" name="Google Shape;67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431" y="1221487"/>
            <a:ext cx="11227473" cy="503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7"/>
          <p:cNvSpPr txBox="1"/>
          <p:nvPr/>
        </p:nvSpPr>
        <p:spPr>
          <a:xfrm>
            <a:off x="4493825" y="3013200"/>
            <a:ext cx="26751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Poppins"/>
              <a:buAutoNum type="arabicPeriod"/>
            </a:pPr>
            <a:r>
              <a:rPr b="1" lang="en-US" sz="3000">
                <a:latin typeface="Poppins"/>
                <a:ea typeface="Poppins"/>
                <a:cs typeface="Poppins"/>
                <a:sym typeface="Poppins"/>
              </a:rPr>
              <a:t>Practice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8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</p:txBody>
      </p:sp>
      <p:sp>
        <p:nvSpPr>
          <p:cNvPr id="686" name="Google Shape;686;p48"/>
          <p:cNvSpPr txBox="1"/>
          <p:nvPr/>
        </p:nvSpPr>
        <p:spPr>
          <a:xfrm>
            <a:off x="328255" y="433783"/>
            <a:ext cx="886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Step 2: Splitting and Chunking - </a:t>
            </a:r>
            <a:r>
              <a:rPr b="1"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1000">
              <a:solidFill>
                <a:schemeClr val="accent1"/>
              </a:solidFill>
            </a:endParaRPr>
          </a:p>
        </p:txBody>
      </p:sp>
      <p:sp>
        <p:nvSpPr>
          <p:cNvPr id="687" name="Google Shape;687;p48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8" name="Google Shape;6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25" y="1180433"/>
            <a:ext cx="10748392" cy="4973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9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694" name="Google Shape;694;p49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Chunking Strategies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95" name="Google Shape;695;p49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9"/>
          <p:cNvSpPr txBox="1"/>
          <p:nvPr/>
        </p:nvSpPr>
        <p:spPr>
          <a:xfrm>
            <a:off x="395900" y="977607"/>
            <a:ext cx="739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Different approaches to breaking down documents: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7" name="Google Shape;69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725" y="1408700"/>
            <a:ext cx="5449924" cy="528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0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/>
          </a:p>
        </p:txBody>
      </p:sp>
      <p:sp>
        <p:nvSpPr>
          <p:cNvPr id="703" name="Google Shape;703;p50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Semantic Chunking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04" name="Google Shape;704;p5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" name="Google Shape;7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00" y="987883"/>
            <a:ext cx="10953178" cy="549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1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/>
          </a:p>
        </p:txBody>
      </p:sp>
      <p:sp>
        <p:nvSpPr>
          <p:cNvPr id="711" name="Google Shape;711;p51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Chunking Tools and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Implementation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12" name="Google Shape;712;p51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3" name="Google Shape;71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00" y="946683"/>
            <a:ext cx="5660181" cy="5565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1223" y="2116098"/>
            <a:ext cx="5109496" cy="30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2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/>
          </a:p>
        </p:txBody>
      </p:sp>
      <p:sp>
        <p:nvSpPr>
          <p:cNvPr id="720" name="Google Shape;720;p52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Chunking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Best Practices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21" name="Google Shape;721;p52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83" y="1720346"/>
            <a:ext cx="11887201" cy="3782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3"/>
          <p:cNvSpPr txBox="1"/>
          <p:nvPr/>
        </p:nvSpPr>
        <p:spPr>
          <a:xfrm>
            <a:off x="4696200" y="3013200"/>
            <a:ext cx="2799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-US" sz="3000">
                <a:latin typeface="Poppins"/>
                <a:ea typeface="Poppins"/>
                <a:cs typeface="Poppins"/>
                <a:sym typeface="Poppins"/>
              </a:rPr>
              <a:t>Practice </a:t>
            </a:r>
            <a:endParaRPr b="1" sz="3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4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4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b="1" lang="en-US" sz="4000"/>
              <a:t>/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4"/>
          <p:cNvSpPr txBox="1"/>
          <p:nvPr/>
        </p:nvSpPr>
        <p:spPr>
          <a:xfrm>
            <a:off x="11244290" y="6285501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5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endParaRPr/>
          </a:p>
        </p:txBody>
      </p:sp>
      <p:sp>
        <p:nvSpPr>
          <p:cNvPr id="740" name="Google Shape;740;p55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Step 3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: Vector Databases -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41" name="Google Shape;741;p55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0283"/>
            <a:ext cx="10953176" cy="5266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6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/>
          </a:p>
        </p:txBody>
      </p:sp>
      <p:sp>
        <p:nvSpPr>
          <p:cNvPr id="748" name="Google Shape;748;p56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 Embeddings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49" name="Google Shape;749;p56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0" name="Google Shape;7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25" y="1140275"/>
            <a:ext cx="10944850" cy="53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7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/>
          </a:p>
        </p:txBody>
      </p:sp>
      <p:sp>
        <p:nvSpPr>
          <p:cNvPr id="756" name="Google Shape;756;p57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Types of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Vector Databases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57" name="Google Shape;757;p57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8" name="Google Shape;75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3597"/>
            <a:ext cx="11766501" cy="503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8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endParaRPr/>
          </a:p>
        </p:txBody>
      </p:sp>
      <p:sp>
        <p:nvSpPr>
          <p:cNvPr id="764" name="Google Shape;764;p58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Retrievers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Search Techniques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765" name="Google Shape;765;p58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6" name="Google Shape;76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0283"/>
            <a:ext cx="10953177" cy="5359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9"/>
          <p:cNvSpPr txBox="1"/>
          <p:nvPr/>
        </p:nvSpPr>
        <p:spPr>
          <a:xfrm>
            <a:off x="3866975" y="2315000"/>
            <a:ext cx="38010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FAISS</a:t>
            </a:r>
            <a:endParaRPr b="1" sz="7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2" name="Google Shape;772;p59"/>
          <p:cNvSpPr txBox="1"/>
          <p:nvPr/>
        </p:nvSpPr>
        <p:spPr>
          <a:xfrm>
            <a:off x="3353675" y="3459825"/>
            <a:ext cx="482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Facebook AI Similarity Search </a:t>
            </a:r>
            <a:endParaRPr b="1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0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Introduction to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FAISS </a:t>
            </a:r>
            <a:r>
              <a:rPr lang="en-US" sz="2000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(High Performance Vector </a:t>
            </a:r>
            <a:r>
              <a:rPr lang="en-US" sz="2000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Search</a:t>
            </a:r>
            <a:r>
              <a:rPr lang="en-US" sz="2000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)</a:t>
            </a:r>
            <a:endParaRPr sz="2000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78" name="Google Shape;778;p6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0"/>
          <p:cNvSpPr txBox="1"/>
          <p:nvPr/>
        </p:nvSpPr>
        <p:spPr>
          <a:xfrm>
            <a:off x="420925" y="1406475"/>
            <a:ext cx="628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FAISS = Facebook AI Similarity Search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Open-source library by Meta (Facebook)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Designed for efficient similarity search at massive scale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0" name="Google Shape;78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25" y="2502800"/>
            <a:ext cx="6953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5250" y="2336121"/>
            <a:ext cx="4448175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1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FAISS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 useful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7" name="Google Shape;787;p61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8" name="Google Shape;78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250" y="1756283"/>
            <a:ext cx="11630025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2"/>
          <p:cNvSpPr txBox="1"/>
          <p:nvPr/>
        </p:nvSpPr>
        <p:spPr>
          <a:xfrm>
            <a:off x="328254" y="433775"/>
            <a:ext cx="129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FAISS</a:t>
            </a:r>
            <a:endParaRPr sz="20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5" name="Google Shape;7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9" y="1745550"/>
            <a:ext cx="11887199" cy="2483992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2"/>
          <p:cNvSpPr txBox="1"/>
          <p:nvPr/>
        </p:nvSpPr>
        <p:spPr>
          <a:xfrm>
            <a:off x="2381825" y="4737900"/>
            <a:ext cx="87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  Discuss how your choice might change based on different business constraints </a:t>
            </a:r>
            <a:endParaRPr sz="1600"/>
          </a:p>
        </p:txBody>
      </p:sp>
      <p:pic>
        <p:nvPicPr>
          <p:cNvPr id="797" name="Google Shape;79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6425" y="4691753"/>
            <a:ext cx="400200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3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FAISS in Practice -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What You Can Build</a:t>
            </a:r>
            <a:endParaRPr sz="2000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03" name="Google Shape;803;p63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4" name="Google Shape;8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3" y="2197733"/>
            <a:ext cx="11887201" cy="3647361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3"/>
          <p:cNvSpPr txBox="1"/>
          <p:nvPr/>
        </p:nvSpPr>
        <p:spPr>
          <a:xfrm>
            <a:off x="194025" y="1550250"/>
            <a:ext cx="835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SemiBold"/>
                <a:ea typeface="Poppins SemiBold"/>
                <a:cs typeface="Poppins SemiBold"/>
                <a:sym typeface="Poppins SemiBold"/>
              </a:rPr>
              <a:t>Real applications using FAISS (RAG-focused):</a:t>
            </a:r>
            <a:endParaRPr sz="16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4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/>
          </a:p>
        </p:txBody>
      </p:sp>
      <p:sp>
        <p:nvSpPr>
          <p:cNvPr id="811" name="Google Shape;811;p64"/>
          <p:cNvSpPr txBox="1"/>
          <p:nvPr/>
        </p:nvSpPr>
        <p:spPr>
          <a:xfrm>
            <a:off x="328255" y="4337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Next Steps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812" name="Google Shape;812;p64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0275"/>
            <a:ext cx="11725517" cy="509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5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65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 </a:t>
            </a:r>
            <a:r>
              <a:rPr b="1" lang="en-US" sz="4000"/>
              <a:t>/</a:t>
            </a: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5"/>
          <p:cNvSpPr txBox="1"/>
          <p:nvPr/>
        </p:nvSpPr>
        <p:spPr>
          <a:xfrm>
            <a:off x="11244290" y="6285501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66"/>
          <p:cNvSpPr/>
          <p:nvPr/>
        </p:nvSpPr>
        <p:spPr>
          <a:xfrm>
            <a:off x="2882500" y="1941285"/>
            <a:ext cx="6850200" cy="923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66"/>
          <p:cNvSpPr txBox="1"/>
          <p:nvPr/>
        </p:nvSpPr>
        <p:spPr>
          <a:xfrm>
            <a:off x="2858050" y="1941276"/>
            <a:ext cx="68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import faiss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import numpy as np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from sentence_transformers import SentenceTransformer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7" name="Google Shape;827;p66"/>
          <p:cNvSpPr/>
          <p:nvPr/>
        </p:nvSpPr>
        <p:spPr>
          <a:xfrm>
            <a:off x="360875" y="37077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66"/>
          <p:cNvSpPr txBox="1"/>
          <p:nvPr/>
        </p:nvSpPr>
        <p:spPr>
          <a:xfrm>
            <a:off x="11244290" y="6285501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/>
          </a:p>
        </p:txBody>
      </p:sp>
      <p:sp>
        <p:nvSpPr>
          <p:cNvPr id="829" name="Google Shape;829;p66"/>
          <p:cNvSpPr/>
          <p:nvPr/>
        </p:nvSpPr>
        <p:spPr>
          <a:xfrm>
            <a:off x="2874600" y="3085946"/>
            <a:ext cx="6850200" cy="923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1. Load pre-trained embedding model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model = SentenceTransformer('all-MiniLM-L6-v2')</a:t>
            </a:r>
            <a:endParaRPr sz="1600"/>
          </a:p>
        </p:txBody>
      </p:sp>
      <p:sp>
        <p:nvSpPr>
          <p:cNvPr id="830" name="Google Shape;830;p66"/>
          <p:cNvSpPr/>
          <p:nvPr/>
        </p:nvSpPr>
        <p:spPr>
          <a:xfrm>
            <a:off x="2874600" y="4179351"/>
            <a:ext cx="6850200" cy="1220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2. Create sample FAQ dataset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faqs = ["How do I reset my password?", 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 "Where can I download the app?",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       "What payment methods do you accept?"]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1" name="Google Shape;831;p66"/>
          <p:cNvSpPr/>
          <p:nvPr/>
        </p:nvSpPr>
        <p:spPr>
          <a:xfrm>
            <a:off x="2858050" y="5570051"/>
            <a:ext cx="6899100" cy="776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3. Generate embeddings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faq_embeddings = model.encode(faqs)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2" name="Google Shape;832;p66"/>
          <p:cNvSpPr txBox="1"/>
          <p:nvPr/>
        </p:nvSpPr>
        <p:spPr>
          <a:xfrm>
            <a:off x="2796425" y="1126025"/>
            <a:ext cx="802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Load a small Q&amp;A dataset (e.g., FAQ embeddings) and run a FAISS search </a:t>
            </a:r>
            <a:endParaRPr sz="16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 Medium"/>
                <a:ea typeface="Poppins Medium"/>
                <a:cs typeface="Poppins Medium"/>
                <a:sym typeface="Poppins Medium"/>
              </a:rPr>
              <a:t>to retrieve the most relevant passages</a:t>
            </a:r>
            <a:endParaRPr sz="160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33" name="Google Shape;833;p66"/>
          <p:cNvSpPr txBox="1"/>
          <p:nvPr/>
        </p:nvSpPr>
        <p:spPr>
          <a:xfrm>
            <a:off x="328252" y="433775"/>
            <a:ext cx="544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-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challenge</a:t>
            </a:r>
            <a:endParaRPr sz="1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67"/>
          <p:cNvSpPr/>
          <p:nvPr/>
        </p:nvSpPr>
        <p:spPr>
          <a:xfrm>
            <a:off x="360875" y="370778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7"/>
          <p:cNvSpPr txBox="1"/>
          <p:nvPr/>
        </p:nvSpPr>
        <p:spPr>
          <a:xfrm>
            <a:off x="11244290" y="6285501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/>
          </a:p>
        </p:txBody>
      </p:sp>
      <p:sp>
        <p:nvSpPr>
          <p:cNvPr id="840" name="Google Shape;840;p67"/>
          <p:cNvSpPr/>
          <p:nvPr/>
        </p:nvSpPr>
        <p:spPr>
          <a:xfrm>
            <a:off x="2882525" y="1601575"/>
            <a:ext cx="7702200" cy="1283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67"/>
          <p:cNvSpPr txBox="1"/>
          <p:nvPr/>
        </p:nvSpPr>
        <p:spPr>
          <a:xfrm>
            <a:off x="2923600" y="1715275"/>
            <a:ext cx="7702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4. Build FAISS index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dimension = faq_embeddings.shape[1]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index = faiss.IndexFlatL2(dimension)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index.add(np.array(faq_embeddings).astype('float32'))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2" name="Google Shape;842;p67"/>
          <p:cNvSpPr/>
          <p:nvPr/>
        </p:nvSpPr>
        <p:spPr>
          <a:xfrm>
            <a:off x="2874625" y="3008075"/>
            <a:ext cx="7710000" cy="1648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5. Search with a query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query = "I forgot my password"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query_vector = model.encode([query])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distances, indices = index.search(np.array(query_vector).astype('float32'), k=1)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3" name="Google Shape;843;p67"/>
          <p:cNvSpPr/>
          <p:nvPr/>
        </p:nvSpPr>
        <p:spPr>
          <a:xfrm>
            <a:off x="2882525" y="4784775"/>
            <a:ext cx="7710000" cy="856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# 6. Display results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print(f"Query: {query}")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print(f"Best match: {faqs[indices[0][0]]}")</a:t>
            </a:r>
            <a:endParaRPr b="1"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4" name="Google Shape;844;p67"/>
          <p:cNvSpPr txBox="1"/>
          <p:nvPr/>
        </p:nvSpPr>
        <p:spPr>
          <a:xfrm>
            <a:off x="256387" y="433775"/>
            <a:ext cx="544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Practice -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challenge</a:t>
            </a:r>
            <a:endParaRPr sz="1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8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68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8"/>
          <p:cNvSpPr txBox="1"/>
          <p:nvPr/>
        </p:nvSpPr>
        <p:spPr>
          <a:xfrm>
            <a:off x="11089904" y="6285500"/>
            <a:ext cx="49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