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6858000" cy="9144000"/>
  <p:embeddedFontLst>
    <p:embeddedFont>
      <p:font typeface="Poppins"/>
      <p:regular r:id="rId32"/>
      <p:bold r:id="rId33"/>
      <p:italic r:id="rId34"/>
      <p:boldItalic r:id="rId35"/>
    </p:embeddedFont>
    <p:embeddedFont>
      <p:font typeface="IBM Plex Mono Light"/>
      <p:regular r:id="rId36"/>
      <p:bold r:id="rId37"/>
      <p:italic r:id="rId38"/>
      <p:boldItalic r:id="rId39"/>
    </p:embeddedFont>
    <p:embeddedFont>
      <p:font typeface="Poppins Light"/>
      <p:regular r:id="rId40"/>
      <p:bold r:id="rId41"/>
      <p:italic r:id="rId42"/>
      <p:boldItalic r:id="rId43"/>
    </p:embeddedFont>
    <p:embeddedFont>
      <p:font typeface="Open Sans Light"/>
      <p:regular r:id="rId44"/>
      <p:bold r:id="rId45"/>
      <p:italic r:id="rId46"/>
      <p:boldItalic r:id="rId47"/>
    </p:embeddedFont>
    <p:embeddedFont>
      <p:font typeface="Open Sans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134">
          <p15:clr>
            <a:srgbClr val="A4A3A4"/>
          </p15:clr>
        </p15:guide>
        <p15:guide id="2" pos="7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134" orient="horz"/>
        <p:guide pos="7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Light-regular.fntdata"/><Relationship Id="rId42" Type="http://schemas.openxmlformats.org/officeDocument/2006/relationships/font" Target="fonts/PoppinsLight-italic.fntdata"/><Relationship Id="rId41" Type="http://schemas.openxmlformats.org/officeDocument/2006/relationships/font" Target="fonts/PoppinsLight-bold.fntdata"/><Relationship Id="rId44" Type="http://schemas.openxmlformats.org/officeDocument/2006/relationships/font" Target="fonts/OpenSansLight-regular.fntdata"/><Relationship Id="rId43" Type="http://schemas.openxmlformats.org/officeDocument/2006/relationships/font" Target="fonts/PoppinsLight-boldItalic.fntdata"/><Relationship Id="rId46" Type="http://schemas.openxmlformats.org/officeDocument/2006/relationships/font" Target="fonts/OpenSansLight-italic.fntdata"/><Relationship Id="rId45" Type="http://schemas.openxmlformats.org/officeDocument/2006/relationships/font" Target="fonts/OpenSans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OpenSans-regular.fntdata"/><Relationship Id="rId47" Type="http://schemas.openxmlformats.org/officeDocument/2006/relationships/font" Target="fonts/OpenSansLight-boldItalic.fntdata"/><Relationship Id="rId49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font" Target="fonts/Poppins-bold.fntdata"/><Relationship Id="rId32" Type="http://schemas.openxmlformats.org/officeDocument/2006/relationships/font" Target="fonts/Poppins-regular.fntdata"/><Relationship Id="rId35" Type="http://schemas.openxmlformats.org/officeDocument/2006/relationships/font" Target="fonts/Poppins-boldItalic.fntdata"/><Relationship Id="rId34" Type="http://schemas.openxmlformats.org/officeDocument/2006/relationships/font" Target="fonts/Poppins-italic.fntdata"/><Relationship Id="rId37" Type="http://schemas.openxmlformats.org/officeDocument/2006/relationships/font" Target="fonts/IBMPlexMonoLight-bold.fntdata"/><Relationship Id="rId36" Type="http://schemas.openxmlformats.org/officeDocument/2006/relationships/font" Target="fonts/IBMPlexMonoLight-regular.fntdata"/><Relationship Id="rId39" Type="http://schemas.openxmlformats.org/officeDocument/2006/relationships/font" Target="fonts/IBMPlexMonoLight-boldItalic.fntdata"/><Relationship Id="rId38" Type="http://schemas.openxmlformats.org/officeDocument/2006/relationships/font" Target="fonts/IBMPlexMonoLight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-boldItalic.fntdata"/><Relationship Id="rId5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7271c6c3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g37271c6c3d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3ad1dca89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3ad1dca89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77a497b5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g377a497b51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7271c6c3d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g37271c6c3d9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778818203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g3778818203e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778818203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g3778818203e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778818203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g3778818203e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778818203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g3778818203e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48c93a3e68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g348c93a3e68_1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48c93a3e68_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g348c93a3e68_1_1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48c93a3e68_1_2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348c93a3e68_1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48c93a3e68_1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g348c93a3e68_1_1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48c93a3e68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g348c93a3e68_1_1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48c93a3e68_1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g348c93a3e68_1_2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48c93a3e68_1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g348c93a3e68_1_2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48c93a3e68_1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g348c93a3e68_1_2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48c93a3e68_1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g348c93a3e68_1_2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48c93a3e68_1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g348c93a3e68_1_2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48c93a3e68_1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g348c93a3e68_1_3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48c93a3e68_1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g348c93a3e68_1_3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77a497b513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377a497b51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48c93a3e68_1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g348c93a3e68_1_3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48c93a3e68_1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g348c93a3e68_1_3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72a7ed5a81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3" name="Google Shape;893;g372a7ed5a8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48c93a3e68_1_3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0" name="Google Shape;900;g348c93a3e68_1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/>
          <p:nvPr>
            <p:ph idx="2" type="pic"/>
          </p:nvPr>
        </p:nvSpPr>
        <p:spPr>
          <a:xfrm>
            <a:off x="1068777" y="837967"/>
            <a:ext cx="2873830" cy="518206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9" name="Google Shape;9;p2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10" name="Google Shape;10;p2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" name="Google Shape;14;p2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" name="Google Shape;16;p2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" name="Google Shape;20;p2"/>
          <p:cNvGrpSpPr/>
          <p:nvPr/>
        </p:nvGrpSpPr>
        <p:grpSpPr>
          <a:xfrm>
            <a:off x="10058981" y="-228028"/>
            <a:ext cx="4669343" cy="7413455"/>
            <a:chOff x="7392021" y="-171025"/>
            <a:chExt cx="3502095" cy="5560230"/>
          </a:xfrm>
        </p:grpSpPr>
        <p:grpSp>
          <p:nvGrpSpPr>
            <p:cNvPr id="21" name="Google Shape;21;p2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22" name="Google Shape;22;p2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" name="Google Shape;24;p2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" name="Google Shape;25;p2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26" name="Google Shape;26;p2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" name="Google Shape;27;p2"/>
              <p:cNvGrpSpPr/>
              <p:nvPr/>
            </p:nvGrpSpPr>
            <p:grpSpPr>
              <a:xfrm>
                <a:off x="8192875" y="4736396"/>
                <a:ext cx="134004" cy="134004"/>
                <a:chOff x="8356813" y="1074288"/>
                <a:chExt cx="351900" cy="351900"/>
              </a:xfrm>
            </p:grpSpPr>
            <p:sp>
              <p:nvSpPr>
                <p:cNvPr id="28" name="Google Shape;28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" name="Google Shape;29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5568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0" name="Google Shape;30;p2"/>
              <p:cNvGrpSpPr/>
              <p:nvPr/>
            </p:nvGrpSpPr>
            <p:grpSpPr>
              <a:xfrm>
                <a:off x="8788200" y="3794721"/>
                <a:ext cx="134004" cy="134004"/>
                <a:chOff x="8356813" y="1074288"/>
                <a:chExt cx="351900" cy="351900"/>
              </a:xfrm>
            </p:grpSpPr>
            <p:sp>
              <p:nvSpPr>
                <p:cNvPr id="31" name="Google Shape;31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27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8654175" y="2424671"/>
                <a:ext cx="134004" cy="134004"/>
                <a:chOff x="8356813" y="1074288"/>
                <a:chExt cx="351900" cy="3519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2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pic>
        <p:nvPicPr>
          <p:cNvPr id="36" name="Google Shape;36;p2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>
            <a:off x="9819959" y="-1595786"/>
            <a:ext cx="4977375" cy="3798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" name="Google Shape;39;p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1" name="Google Shape;41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" name="Google Shape;43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4" name="Google Shape;44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" name="Google Shape;46;p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7" name="Google Shape;4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" name="Google Shape;49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50" name="Google Shape;5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" name="Google Shape;5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" name="Google Shape;5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" name="Google Shape;5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" name="Google Shape;5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5" name="Google Shape;5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" name="Google Shape;56;p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57" name="Google Shape;5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8" name="Google Shape;5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9" name="Google Shape;59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0" name="Google Shape;6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" name="Google Shape;6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" name="Google Shape;6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" name="Google Shape;6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" name="Google Shape;6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5" name="Google Shape;6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" name="Google Shape;66;p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67" name="Google Shape;6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8" name="Google Shape;6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9" name="Google Shape;69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0" name="Google Shape;7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" name="Google Shape;7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" name="Google Shape;7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" name="Google Shape;7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" name="Google Shape;7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5" name="Google Shape;7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0" name="Google Shape;80;p3"/>
          <p:cNvSpPr txBox="1"/>
          <p:nvPr/>
        </p:nvSpPr>
        <p:spPr>
          <a:xfrm>
            <a:off x="7489150" y="2225275"/>
            <a:ext cx="1952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4"/>
          <p:cNvGrpSpPr/>
          <p:nvPr/>
        </p:nvGrpSpPr>
        <p:grpSpPr>
          <a:xfrm>
            <a:off x="-528423" y="-2138180"/>
            <a:ext cx="5862778" cy="5562070"/>
            <a:chOff x="-494405" y="-1584824"/>
            <a:chExt cx="4397194" cy="4171657"/>
          </a:xfrm>
        </p:grpSpPr>
        <p:grpSp>
          <p:nvGrpSpPr>
            <p:cNvPr id="84" name="Google Shape;84;p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85" name="Google Shape;85;p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" name="Google Shape;87;p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88" name="Google Shape;88;p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" name="Google Shape;90;p4"/>
            <p:cNvGrpSpPr/>
            <p:nvPr/>
          </p:nvGrpSpPr>
          <p:grpSpPr>
            <a:xfrm>
              <a:off x="441575" y="-36652"/>
              <a:ext cx="699940" cy="478601"/>
              <a:chOff x="39723" y="4349022"/>
              <a:chExt cx="1061963" cy="726143"/>
            </a:xfrm>
          </p:grpSpPr>
          <p:grpSp>
            <p:nvGrpSpPr>
              <p:cNvPr id="91" name="Google Shape;91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92" name="Google Shape;92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3" name="Google Shape;93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94" name="Google Shape;94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5" name="Google Shape;95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" name="Google Shape;96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" name="Google Shape;97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" name="Google Shape;98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99" name="Google Shape;99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0" name="Google Shape;100;p4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3" cy="726143"/>
            </a:xfrm>
          </p:grpSpPr>
          <p:grpSp>
            <p:nvGrpSpPr>
              <p:cNvPr id="101" name="Google Shape;101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2" name="Google Shape;102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3" name="Google Shape;103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04" name="Google Shape;104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5" name="Google Shape;105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6" name="Google Shape;106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" name="Google Shape;107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" name="Google Shape;108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9" name="Google Shape;109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0" name="Google Shape;110;p4"/>
            <p:cNvGrpSpPr/>
            <p:nvPr/>
          </p:nvGrpSpPr>
          <p:grpSpPr>
            <a:xfrm>
              <a:off x="0" y="621223"/>
              <a:ext cx="699940" cy="478601"/>
              <a:chOff x="39723" y="4349022"/>
              <a:chExt cx="1061963" cy="726143"/>
            </a:xfrm>
          </p:grpSpPr>
          <p:grpSp>
            <p:nvGrpSpPr>
              <p:cNvPr id="111" name="Google Shape;111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2" name="Google Shape;112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3" name="Google Shape;113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4" name="Google Shape;114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5" name="Google Shape;115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" name="Google Shape;116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" name="Google Shape;117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" name="Google Shape;118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9" name="Google Shape;119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" name="Google Shape;120;p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21" name="Google Shape;121;p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4" name="Google Shape;124;p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" name="Google Shape;136;p7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137" name="Google Shape;137;p7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7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" name="Google Shape;143;p7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44" name="Google Shape;144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6" name="Google Shape;146;p7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147" name="Google Shape;147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9" name="Google Shape;149;p7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150" name="Google Shape;150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" name="Google Shape;152;p7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153" name="Google Shape;153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" name="Google Shape;155;p7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156" name="Google Shape;156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8" name="Google Shape;158;p7"/>
          <p:cNvSpPr/>
          <p:nvPr/>
        </p:nvSpPr>
        <p:spPr>
          <a:xfrm rot="10800000">
            <a:off x="10148865" y="418381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1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64"/>
                  <a:pt x="23632" y="11321"/>
                  <a:pt x="23632" y="11808"/>
                </a:cubicBezTo>
                <a:cubicBezTo>
                  <a:pt x="23632" y="12311"/>
                  <a:pt x="23434" y="12768"/>
                  <a:pt x="23098" y="13104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5"/>
                </a:lnTo>
                <a:cubicBezTo>
                  <a:pt x="16547" y="11489"/>
                  <a:pt x="16029" y="11260"/>
                  <a:pt x="15435" y="11260"/>
                </a:cubicBezTo>
                <a:cubicBezTo>
                  <a:pt x="14841" y="11260"/>
                  <a:pt x="14307" y="11489"/>
                  <a:pt x="13911" y="11885"/>
                </a:cubicBezTo>
                <a:lnTo>
                  <a:pt x="12525" y="13271"/>
                </a:lnTo>
                <a:cubicBezTo>
                  <a:pt x="12129" y="13698"/>
                  <a:pt x="11900" y="14231"/>
                  <a:pt x="11900" y="14795"/>
                </a:cubicBezTo>
                <a:cubicBezTo>
                  <a:pt x="11900" y="15374"/>
                  <a:pt x="12129" y="15922"/>
                  <a:pt x="12525" y="16318"/>
                </a:cubicBezTo>
                <a:cubicBezTo>
                  <a:pt x="12860" y="16669"/>
                  <a:pt x="13058" y="17126"/>
                  <a:pt x="13058" y="17629"/>
                </a:cubicBezTo>
                <a:cubicBezTo>
                  <a:pt x="13058" y="18116"/>
                  <a:pt x="12860" y="18573"/>
                  <a:pt x="12525" y="18924"/>
                </a:cubicBezTo>
                <a:lnTo>
                  <a:pt x="11489" y="19944"/>
                </a:lnTo>
                <a:cubicBezTo>
                  <a:pt x="11154" y="20295"/>
                  <a:pt x="10696" y="20478"/>
                  <a:pt x="10209" y="20478"/>
                </a:cubicBezTo>
                <a:lnTo>
                  <a:pt x="9569" y="20478"/>
                </a:lnTo>
                <a:cubicBezTo>
                  <a:pt x="8990" y="20478"/>
                  <a:pt x="8457" y="20706"/>
                  <a:pt x="8045" y="21102"/>
                </a:cubicBezTo>
                <a:lnTo>
                  <a:pt x="3353" y="25810"/>
                </a:lnTo>
                <a:cubicBezTo>
                  <a:pt x="2515" y="26648"/>
                  <a:pt x="2515" y="28004"/>
                  <a:pt x="3353" y="28842"/>
                </a:cubicBezTo>
                <a:lnTo>
                  <a:pt x="10529" y="36018"/>
                </a:lnTo>
                <a:cubicBezTo>
                  <a:pt x="10864" y="36369"/>
                  <a:pt x="11062" y="36826"/>
                  <a:pt x="11062" y="37313"/>
                </a:cubicBezTo>
                <a:cubicBezTo>
                  <a:pt x="11062" y="37801"/>
                  <a:pt x="10864" y="38273"/>
                  <a:pt x="10529" y="38608"/>
                </a:cubicBezTo>
                <a:lnTo>
                  <a:pt x="8198" y="40940"/>
                </a:lnTo>
                <a:cubicBezTo>
                  <a:pt x="7802" y="41351"/>
                  <a:pt x="7573" y="41884"/>
                  <a:pt x="7573" y="42463"/>
                </a:cubicBezTo>
                <a:lnTo>
                  <a:pt x="7573" y="47720"/>
                </a:lnTo>
                <a:cubicBezTo>
                  <a:pt x="7573" y="48207"/>
                  <a:pt x="7390" y="48664"/>
                  <a:pt x="7040" y="49015"/>
                </a:cubicBezTo>
                <a:lnTo>
                  <a:pt x="1" y="56054"/>
                </a:lnTo>
                <a:lnTo>
                  <a:pt x="199" y="56267"/>
                </a:lnTo>
                <a:lnTo>
                  <a:pt x="7268" y="49274"/>
                </a:lnTo>
                <a:cubicBezTo>
                  <a:pt x="7664" y="48862"/>
                  <a:pt x="7893" y="48329"/>
                  <a:pt x="7893" y="47750"/>
                </a:cubicBezTo>
                <a:lnTo>
                  <a:pt x="7893" y="42494"/>
                </a:lnTo>
                <a:cubicBezTo>
                  <a:pt x="7893" y="42006"/>
                  <a:pt x="8091" y="41549"/>
                  <a:pt x="8426" y="41199"/>
                </a:cubicBezTo>
                <a:lnTo>
                  <a:pt x="10757" y="38883"/>
                </a:lnTo>
                <a:cubicBezTo>
                  <a:pt x="11154" y="38456"/>
                  <a:pt x="11382" y="37923"/>
                  <a:pt x="11382" y="37359"/>
                </a:cubicBezTo>
                <a:cubicBezTo>
                  <a:pt x="11382" y="36765"/>
                  <a:pt x="11154" y="36232"/>
                  <a:pt x="10757" y="35835"/>
                </a:cubicBezTo>
                <a:lnTo>
                  <a:pt x="3581" y="28644"/>
                </a:lnTo>
                <a:cubicBezTo>
                  <a:pt x="2850" y="27943"/>
                  <a:pt x="2850" y="26785"/>
                  <a:pt x="3581" y="26054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67"/>
                </a:lnTo>
                <a:cubicBezTo>
                  <a:pt x="13149" y="18741"/>
                  <a:pt x="13378" y="18208"/>
                  <a:pt x="13378" y="17644"/>
                </a:cubicBezTo>
                <a:cubicBezTo>
                  <a:pt x="13378" y="17050"/>
                  <a:pt x="13149" y="16516"/>
                  <a:pt x="12753" y="16120"/>
                </a:cubicBezTo>
                <a:cubicBezTo>
                  <a:pt x="12418" y="15770"/>
                  <a:pt x="12220" y="15313"/>
                  <a:pt x="12220" y="14825"/>
                </a:cubicBezTo>
                <a:cubicBezTo>
                  <a:pt x="12220" y="14322"/>
                  <a:pt x="12418" y="13865"/>
                  <a:pt x="12753" y="13530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8" y="11595"/>
                  <a:pt x="16395" y="11793"/>
                  <a:pt x="16730" y="12128"/>
                </a:cubicBezTo>
                <a:lnTo>
                  <a:pt x="19107" y="14520"/>
                </a:lnTo>
                <a:cubicBezTo>
                  <a:pt x="19526" y="14939"/>
                  <a:pt x="20074" y="15149"/>
                  <a:pt x="20623" y="15149"/>
                </a:cubicBezTo>
                <a:cubicBezTo>
                  <a:pt x="21171" y="15149"/>
                  <a:pt x="21720" y="14939"/>
                  <a:pt x="22139" y="14520"/>
                </a:cubicBezTo>
                <a:lnTo>
                  <a:pt x="23297" y="13347"/>
                </a:lnTo>
                <a:cubicBezTo>
                  <a:pt x="23708" y="12936"/>
                  <a:pt x="23936" y="12403"/>
                  <a:pt x="23936" y="11824"/>
                </a:cubicBezTo>
                <a:cubicBezTo>
                  <a:pt x="23936" y="11260"/>
                  <a:pt x="23708" y="10711"/>
                  <a:pt x="23297" y="10300"/>
                </a:cubicBezTo>
                <a:lnTo>
                  <a:pt x="12997" y="1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 rot="10800000">
            <a:off x="10361327" y="418463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0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48"/>
                  <a:pt x="23632" y="11305"/>
                  <a:pt x="23632" y="11808"/>
                </a:cubicBezTo>
                <a:cubicBezTo>
                  <a:pt x="23632" y="12296"/>
                  <a:pt x="23434" y="12753"/>
                  <a:pt x="23098" y="13103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4"/>
                </a:lnTo>
                <a:cubicBezTo>
                  <a:pt x="16547" y="11488"/>
                  <a:pt x="16029" y="11260"/>
                  <a:pt x="15435" y="11260"/>
                </a:cubicBezTo>
                <a:cubicBezTo>
                  <a:pt x="14840" y="11260"/>
                  <a:pt x="14307" y="11488"/>
                  <a:pt x="13911" y="11884"/>
                </a:cubicBezTo>
                <a:lnTo>
                  <a:pt x="12525" y="13271"/>
                </a:lnTo>
                <a:cubicBezTo>
                  <a:pt x="11687" y="14109"/>
                  <a:pt x="11687" y="15465"/>
                  <a:pt x="12525" y="16303"/>
                </a:cubicBezTo>
                <a:cubicBezTo>
                  <a:pt x="12860" y="16638"/>
                  <a:pt x="13058" y="17095"/>
                  <a:pt x="13058" y="17598"/>
                </a:cubicBezTo>
                <a:cubicBezTo>
                  <a:pt x="13058" y="18085"/>
                  <a:pt x="12860" y="18543"/>
                  <a:pt x="12525" y="18893"/>
                </a:cubicBezTo>
                <a:lnTo>
                  <a:pt x="11489" y="19914"/>
                </a:lnTo>
                <a:cubicBezTo>
                  <a:pt x="11153" y="20264"/>
                  <a:pt x="10696" y="20447"/>
                  <a:pt x="10193" y="20447"/>
                </a:cubicBezTo>
                <a:lnTo>
                  <a:pt x="9569" y="20447"/>
                </a:lnTo>
                <a:cubicBezTo>
                  <a:pt x="8975" y="20447"/>
                  <a:pt x="8441" y="20676"/>
                  <a:pt x="8045" y="21087"/>
                </a:cubicBezTo>
                <a:lnTo>
                  <a:pt x="3337" y="25780"/>
                </a:lnTo>
                <a:cubicBezTo>
                  <a:pt x="2941" y="26206"/>
                  <a:pt x="2713" y="26739"/>
                  <a:pt x="2713" y="27303"/>
                </a:cubicBezTo>
                <a:cubicBezTo>
                  <a:pt x="2713" y="27897"/>
                  <a:pt x="2941" y="28431"/>
                  <a:pt x="3337" y="28827"/>
                </a:cubicBezTo>
                <a:lnTo>
                  <a:pt x="10529" y="36018"/>
                </a:lnTo>
                <a:cubicBezTo>
                  <a:pt x="11245" y="36719"/>
                  <a:pt x="11245" y="37877"/>
                  <a:pt x="10529" y="38608"/>
                </a:cubicBezTo>
                <a:lnTo>
                  <a:pt x="8198" y="40924"/>
                </a:lnTo>
                <a:cubicBezTo>
                  <a:pt x="7801" y="41351"/>
                  <a:pt x="7573" y="41884"/>
                  <a:pt x="7573" y="42448"/>
                </a:cubicBezTo>
                <a:lnTo>
                  <a:pt x="7573" y="47704"/>
                </a:lnTo>
                <a:cubicBezTo>
                  <a:pt x="7573" y="48207"/>
                  <a:pt x="7375" y="48664"/>
                  <a:pt x="7040" y="48999"/>
                </a:cubicBezTo>
                <a:lnTo>
                  <a:pt x="1" y="56053"/>
                </a:lnTo>
                <a:lnTo>
                  <a:pt x="199" y="56267"/>
                </a:lnTo>
                <a:lnTo>
                  <a:pt x="7268" y="49212"/>
                </a:lnTo>
                <a:cubicBezTo>
                  <a:pt x="7664" y="48801"/>
                  <a:pt x="7893" y="48268"/>
                  <a:pt x="7893" y="47689"/>
                </a:cubicBezTo>
                <a:lnTo>
                  <a:pt x="7893" y="42432"/>
                </a:lnTo>
                <a:cubicBezTo>
                  <a:pt x="7893" y="41945"/>
                  <a:pt x="8091" y="41473"/>
                  <a:pt x="8426" y="41137"/>
                </a:cubicBezTo>
                <a:lnTo>
                  <a:pt x="10757" y="38806"/>
                </a:lnTo>
                <a:cubicBezTo>
                  <a:pt x="11595" y="37984"/>
                  <a:pt x="11595" y="36628"/>
                  <a:pt x="10757" y="35790"/>
                </a:cubicBezTo>
                <a:lnTo>
                  <a:pt x="3581" y="28598"/>
                </a:lnTo>
                <a:cubicBezTo>
                  <a:pt x="3231" y="28263"/>
                  <a:pt x="3048" y="27806"/>
                  <a:pt x="3048" y="27318"/>
                </a:cubicBezTo>
                <a:cubicBezTo>
                  <a:pt x="3048" y="26816"/>
                  <a:pt x="3231" y="26359"/>
                  <a:pt x="3581" y="26023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52"/>
                </a:lnTo>
                <a:cubicBezTo>
                  <a:pt x="13149" y="18741"/>
                  <a:pt x="13378" y="18207"/>
                  <a:pt x="13378" y="17628"/>
                </a:cubicBezTo>
                <a:cubicBezTo>
                  <a:pt x="13378" y="17049"/>
                  <a:pt x="13149" y="16516"/>
                  <a:pt x="12753" y="16105"/>
                </a:cubicBezTo>
                <a:cubicBezTo>
                  <a:pt x="12037" y="15404"/>
                  <a:pt x="12037" y="14246"/>
                  <a:pt x="12753" y="13515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7" y="11595"/>
                  <a:pt x="16395" y="11793"/>
                  <a:pt x="16730" y="12128"/>
                </a:cubicBezTo>
                <a:lnTo>
                  <a:pt x="19106" y="14505"/>
                </a:lnTo>
                <a:cubicBezTo>
                  <a:pt x="19525" y="14924"/>
                  <a:pt x="20074" y="15133"/>
                  <a:pt x="20622" y="15133"/>
                </a:cubicBezTo>
                <a:cubicBezTo>
                  <a:pt x="21171" y="15133"/>
                  <a:pt x="21719" y="14924"/>
                  <a:pt x="22138" y="14505"/>
                </a:cubicBezTo>
                <a:lnTo>
                  <a:pt x="23296" y="13347"/>
                </a:lnTo>
                <a:cubicBezTo>
                  <a:pt x="23708" y="12936"/>
                  <a:pt x="23936" y="12402"/>
                  <a:pt x="23936" y="11823"/>
                </a:cubicBezTo>
                <a:cubicBezTo>
                  <a:pt x="23936" y="11229"/>
                  <a:pt x="23708" y="10696"/>
                  <a:pt x="23296" y="10300"/>
                </a:cubicBezTo>
                <a:lnTo>
                  <a:pt x="12997" y="0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" name="Google Shape;160;p7"/>
          <p:cNvGrpSpPr/>
          <p:nvPr/>
        </p:nvGrpSpPr>
        <p:grpSpPr>
          <a:xfrm>
            <a:off x="9808800" y="5221734"/>
            <a:ext cx="776067" cy="776567"/>
            <a:chOff x="959750" y="3039275"/>
            <a:chExt cx="582050" cy="582425"/>
          </a:xfrm>
        </p:grpSpPr>
        <p:sp>
          <p:nvSpPr>
            <p:cNvPr id="161" name="Google Shape;161;p7"/>
            <p:cNvSpPr/>
            <p:nvPr/>
          </p:nvSpPr>
          <p:spPr>
            <a:xfrm>
              <a:off x="959750" y="3498275"/>
              <a:ext cx="123450" cy="123425"/>
            </a:xfrm>
            <a:custGeom>
              <a:rect b="b" l="l" r="r" t="t"/>
              <a:pathLst>
                <a:path extrusionOk="0" h="4937" w="4938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1035950" y="3421700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7"/>
            <p:cNvSpPr/>
            <p:nvPr/>
          </p:nvSpPr>
          <p:spPr>
            <a:xfrm>
              <a:off x="1112500" y="3345525"/>
              <a:ext cx="123825" cy="123450"/>
            </a:xfrm>
            <a:custGeom>
              <a:rect b="b" l="l" r="r" t="t"/>
              <a:pathLst>
                <a:path extrusionOk="0" h="4938" w="4953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7"/>
            <p:cNvSpPr/>
            <p:nvPr/>
          </p:nvSpPr>
          <p:spPr>
            <a:xfrm>
              <a:off x="1188675" y="3268975"/>
              <a:ext cx="123825" cy="123425"/>
            </a:xfrm>
            <a:custGeom>
              <a:rect b="b" l="l" r="r" t="t"/>
              <a:pathLst>
                <a:path extrusionOk="0" h="4937" w="4953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7"/>
            <p:cNvSpPr/>
            <p:nvPr/>
          </p:nvSpPr>
          <p:spPr>
            <a:xfrm>
              <a:off x="1265625" y="3192800"/>
              <a:ext cx="123425" cy="123425"/>
            </a:xfrm>
            <a:custGeom>
              <a:rect b="b" l="l" r="r" t="t"/>
              <a:pathLst>
                <a:path extrusionOk="0" h="4937" w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7"/>
            <p:cNvSpPr/>
            <p:nvPr/>
          </p:nvSpPr>
          <p:spPr>
            <a:xfrm>
              <a:off x="1341800" y="3116225"/>
              <a:ext cx="123450" cy="123450"/>
            </a:xfrm>
            <a:custGeom>
              <a:rect b="b" l="l" r="r" t="t"/>
              <a:pathLst>
                <a:path extrusionOk="0" h="4938" w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1418375" y="3039275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p7"/>
          <p:cNvSpPr/>
          <p:nvPr/>
        </p:nvSpPr>
        <p:spPr>
          <a:xfrm>
            <a:off x="11342634" y="4052934"/>
            <a:ext cx="641191" cy="634437"/>
          </a:xfrm>
          <a:custGeom>
            <a:rect b="b" l="l" r="r" t="t"/>
            <a:pathLst>
              <a:path extrusionOk="0" h="35790" w="36171">
                <a:moveTo>
                  <a:pt x="34030" y="1"/>
                </a:moveTo>
                <a:cubicBezTo>
                  <a:pt x="33531" y="1"/>
                  <a:pt x="33032" y="191"/>
                  <a:pt x="32651" y="572"/>
                </a:cubicBezTo>
                <a:cubicBezTo>
                  <a:pt x="31890" y="1334"/>
                  <a:pt x="31890" y="2568"/>
                  <a:pt x="32651" y="3330"/>
                </a:cubicBezTo>
                <a:cubicBezTo>
                  <a:pt x="33032" y="3711"/>
                  <a:pt x="33531" y="3901"/>
                  <a:pt x="34030" y="3901"/>
                </a:cubicBezTo>
                <a:cubicBezTo>
                  <a:pt x="34529" y="3901"/>
                  <a:pt x="35028" y="3711"/>
                  <a:pt x="35409" y="3330"/>
                </a:cubicBezTo>
                <a:cubicBezTo>
                  <a:pt x="36171" y="2568"/>
                  <a:pt x="36171" y="1334"/>
                  <a:pt x="35409" y="572"/>
                </a:cubicBezTo>
                <a:cubicBezTo>
                  <a:pt x="35028" y="191"/>
                  <a:pt x="34529" y="1"/>
                  <a:pt x="34030" y="1"/>
                </a:cubicBezTo>
                <a:close/>
                <a:moveTo>
                  <a:pt x="27662" y="6385"/>
                </a:moveTo>
                <a:cubicBezTo>
                  <a:pt x="27163" y="6385"/>
                  <a:pt x="26664" y="6575"/>
                  <a:pt x="26283" y="6956"/>
                </a:cubicBezTo>
                <a:cubicBezTo>
                  <a:pt x="25521" y="7718"/>
                  <a:pt x="25521" y="8952"/>
                  <a:pt x="26283" y="9714"/>
                </a:cubicBezTo>
                <a:cubicBezTo>
                  <a:pt x="26664" y="10095"/>
                  <a:pt x="27163" y="10285"/>
                  <a:pt x="27662" y="10285"/>
                </a:cubicBezTo>
                <a:cubicBezTo>
                  <a:pt x="28161" y="10285"/>
                  <a:pt x="28660" y="10095"/>
                  <a:pt x="29040" y="9714"/>
                </a:cubicBezTo>
                <a:cubicBezTo>
                  <a:pt x="29802" y="8952"/>
                  <a:pt x="29802" y="7718"/>
                  <a:pt x="29040" y="6956"/>
                </a:cubicBezTo>
                <a:cubicBezTo>
                  <a:pt x="28660" y="6575"/>
                  <a:pt x="28161" y="6385"/>
                  <a:pt x="27662" y="6385"/>
                </a:cubicBezTo>
                <a:close/>
                <a:moveTo>
                  <a:pt x="21285" y="12753"/>
                </a:moveTo>
                <a:cubicBezTo>
                  <a:pt x="20783" y="12753"/>
                  <a:pt x="20280" y="12944"/>
                  <a:pt x="19899" y="13325"/>
                </a:cubicBezTo>
                <a:cubicBezTo>
                  <a:pt x="19137" y="14086"/>
                  <a:pt x="19137" y="15336"/>
                  <a:pt x="19899" y="16097"/>
                </a:cubicBezTo>
                <a:cubicBezTo>
                  <a:pt x="20280" y="16478"/>
                  <a:pt x="20783" y="16669"/>
                  <a:pt x="21285" y="16669"/>
                </a:cubicBezTo>
                <a:cubicBezTo>
                  <a:pt x="21788" y="16669"/>
                  <a:pt x="22291" y="16478"/>
                  <a:pt x="22672" y="16097"/>
                </a:cubicBezTo>
                <a:cubicBezTo>
                  <a:pt x="23434" y="15336"/>
                  <a:pt x="23434" y="14086"/>
                  <a:pt x="22672" y="13325"/>
                </a:cubicBezTo>
                <a:cubicBezTo>
                  <a:pt x="22291" y="12944"/>
                  <a:pt x="21788" y="12753"/>
                  <a:pt x="21285" y="12753"/>
                </a:cubicBezTo>
                <a:close/>
                <a:moveTo>
                  <a:pt x="14917" y="19128"/>
                </a:moveTo>
                <a:cubicBezTo>
                  <a:pt x="14415" y="19128"/>
                  <a:pt x="13913" y="19318"/>
                  <a:pt x="13530" y="19693"/>
                </a:cubicBezTo>
                <a:cubicBezTo>
                  <a:pt x="12768" y="20455"/>
                  <a:pt x="12768" y="21689"/>
                  <a:pt x="13530" y="22451"/>
                </a:cubicBezTo>
                <a:cubicBezTo>
                  <a:pt x="13911" y="22832"/>
                  <a:pt x="14410" y="23022"/>
                  <a:pt x="14909" y="23022"/>
                </a:cubicBezTo>
                <a:cubicBezTo>
                  <a:pt x="15408" y="23022"/>
                  <a:pt x="15907" y="22832"/>
                  <a:pt x="16288" y="22451"/>
                </a:cubicBezTo>
                <a:cubicBezTo>
                  <a:pt x="17050" y="21689"/>
                  <a:pt x="17050" y="20455"/>
                  <a:pt x="16288" y="19693"/>
                </a:cubicBezTo>
                <a:cubicBezTo>
                  <a:pt x="15909" y="19314"/>
                  <a:pt x="15413" y="19128"/>
                  <a:pt x="14917" y="19128"/>
                </a:cubicBezTo>
                <a:close/>
                <a:moveTo>
                  <a:pt x="8525" y="25506"/>
                </a:moveTo>
                <a:cubicBezTo>
                  <a:pt x="8026" y="25506"/>
                  <a:pt x="7527" y="25696"/>
                  <a:pt x="7146" y="26077"/>
                </a:cubicBezTo>
                <a:cubicBezTo>
                  <a:pt x="6385" y="26839"/>
                  <a:pt x="6385" y="28073"/>
                  <a:pt x="7146" y="28835"/>
                </a:cubicBezTo>
                <a:cubicBezTo>
                  <a:pt x="7527" y="29216"/>
                  <a:pt x="8026" y="29406"/>
                  <a:pt x="8525" y="29406"/>
                </a:cubicBezTo>
                <a:cubicBezTo>
                  <a:pt x="9024" y="29406"/>
                  <a:pt x="9523" y="29216"/>
                  <a:pt x="9904" y="28835"/>
                </a:cubicBezTo>
                <a:cubicBezTo>
                  <a:pt x="10666" y="28073"/>
                  <a:pt x="10666" y="26839"/>
                  <a:pt x="9904" y="26077"/>
                </a:cubicBezTo>
                <a:cubicBezTo>
                  <a:pt x="9523" y="25696"/>
                  <a:pt x="9024" y="25506"/>
                  <a:pt x="8525" y="25506"/>
                </a:cubicBezTo>
                <a:close/>
                <a:moveTo>
                  <a:pt x="2141" y="31874"/>
                </a:moveTo>
                <a:cubicBezTo>
                  <a:pt x="1642" y="31874"/>
                  <a:pt x="1143" y="32065"/>
                  <a:pt x="763" y="32446"/>
                </a:cubicBezTo>
                <a:cubicBezTo>
                  <a:pt x="1" y="33207"/>
                  <a:pt x="1" y="34457"/>
                  <a:pt x="763" y="35219"/>
                </a:cubicBezTo>
                <a:cubicBezTo>
                  <a:pt x="1143" y="35599"/>
                  <a:pt x="1642" y="35790"/>
                  <a:pt x="2141" y="35790"/>
                </a:cubicBezTo>
                <a:cubicBezTo>
                  <a:pt x="2640" y="35790"/>
                  <a:pt x="3139" y="35599"/>
                  <a:pt x="3520" y="35219"/>
                </a:cubicBezTo>
                <a:cubicBezTo>
                  <a:pt x="4282" y="34457"/>
                  <a:pt x="4282" y="33207"/>
                  <a:pt x="3520" y="32446"/>
                </a:cubicBezTo>
                <a:cubicBezTo>
                  <a:pt x="3139" y="32065"/>
                  <a:pt x="2640" y="31874"/>
                  <a:pt x="2141" y="31874"/>
                </a:cubicBezTo>
                <a:close/>
              </a:path>
            </a:pathLst>
          </a:custGeom>
          <a:gradFill>
            <a:gsLst>
              <a:gs pos="0">
                <a:srgbClr val="EB9109">
                  <a:alpha val="46666"/>
                </a:srgbClr>
              </a:gs>
              <a:gs pos="78000">
                <a:srgbClr val="F5F8FF">
                  <a:alpha val="46666"/>
                </a:srgbClr>
              </a:gs>
              <a:gs pos="100000">
                <a:srgbClr val="F5F8FF">
                  <a:alpha val="46666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9" name="Google Shape;169;p7"/>
          <p:cNvGrpSpPr/>
          <p:nvPr/>
        </p:nvGrpSpPr>
        <p:grpSpPr>
          <a:xfrm>
            <a:off x="11218683" y="4918944"/>
            <a:ext cx="933237" cy="2201365"/>
            <a:chOff x="8337812" y="3492483"/>
            <a:chExt cx="699928" cy="1651024"/>
          </a:xfrm>
        </p:grpSpPr>
        <p:sp>
          <p:nvSpPr>
            <p:cNvPr id="170" name="Google Shape;170;p7"/>
            <p:cNvSpPr/>
            <p:nvPr/>
          </p:nvSpPr>
          <p:spPr>
            <a:xfrm>
              <a:off x="8337812" y="3492483"/>
              <a:ext cx="483116" cy="1013645"/>
            </a:xfrm>
            <a:custGeom>
              <a:rect b="b" l="l" r="r" t="t"/>
              <a:pathLst>
                <a:path extrusionOk="0" h="24714" w="11779">
                  <a:moveTo>
                    <a:pt x="6735" y="1"/>
                  </a:moveTo>
                  <a:lnTo>
                    <a:pt x="1" y="6750"/>
                  </a:lnTo>
                  <a:lnTo>
                    <a:pt x="229" y="6964"/>
                  </a:lnTo>
                  <a:lnTo>
                    <a:pt x="6415" y="763"/>
                  </a:lnTo>
                  <a:lnTo>
                    <a:pt x="6415" y="13165"/>
                  </a:lnTo>
                  <a:lnTo>
                    <a:pt x="11458" y="13165"/>
                  </a:lnTo>
                  <a:lnTo>
                    <a:pt x="11458" y="24713"/>
                  </a:lnTo>
                  <a:lnTo>
                    <a:pt x="11778" y="24713"/>
                  </a:lnTo>
                  <a:lnTo>
                    <a:pt x="11778" y="12860"/>
                  </a:lnTo>
                  <a:lnTo>
                    <a:pt x="6735" y="12860"/>
                  </a:lnTo>
                  <a:lnTo>
                    <a:pt x="6735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8698380" y="3916789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6"/>
                  </a:lnTo>
                  <a:lnTo>
                    <a:pt x="5699" y="306"/>
                  </a:lnTo>
                  <a:lnTo>
                    <a:pt x="5699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8790871" y="3823684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5"/>
                  </a:lnTo>
                  <a:lnTo>
                    <a:pt x="5714" y="305"/>
                  </a:lnTo>
                  <a:lnTo>
                    <a:pt x="5714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" name="Google Shape;173;p7"/>
          <p:cNvGrpSpPr/>
          <p:nvPr/>
        </p:nvGrpSpPr>
        <p:grpSpPr>
          <a:xfrm>
            <a:off x="10695234" y="5998301"/>
            <a:ext cx="1206221" cy="968161"/>
            <a:chOff x="7945225" y="4302000"/>
            <a:chExt cx="904666" cy="726121"/>
          </a:xfrm>
        </p:grpSpPr>
        <p:sp>
          <p:nvSpPr>
            <p:cNvPr id="174" name="Google Shape;174;p7"/>
            <p:cNvSpPr/>
            <p:nvPr/>
          </p:nvSpPr>
          <p:spPr>
            <a:xfrm>
              <a:off x="8176775" y="4445200"/>
              <a:ext cx="673116" cy="582921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8164350" y="43020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7945225" y="44452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7" name="Google Shape;177;p7"/>
          <p:cNvGrpSpPr/>
          <p:nvPr/>
        </p:nvGrpSpPr>
        <p:grpSpPr>
          <a:xfrm>
            <a:off x="-413180" y="4823208"/>
            <a:ext cx="1931765" cy="2985073"/>
            <a:chOff x="-309885" y="3617406"/>
            <a:chExt cx="1448824" cy="2238805"/>
          </a:xfrm>
        </p:grpSpPr>
        <p:grpSp>
          <p:nvGrpSpPr>
            <p:cNvPr id="178" name="Google Shape;178;p7"/>
            <p:cNvGrpSpPr/>
            <p:nvPr/>
          </p:nvGrpSpPr>
          <p:grpSpPr>
            <a:xfrm>
              <a:off x="-277007" y="3870159"/>
              <a:ext cx="981772" cy="1986052"/>
              <a:chOff x="-293545" y="3454371"/>
              <a:chExt cx="981772" cy="1986052"/>
            </a:xfrm>
          </p:grpSpPr>
          <p:sp>
            <p:nvSpPr>
              <p:cNvPr id="179" name="Google Shape;179;p7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7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1" name="Google Shape;181;p7"/>
            <p:cNvGrpSpPr/>
            <p:nvPr/>
          </p:nvGrpSpPr>
          <p:grpSpPr>
            <a:xfrm>
              <a:off x="363249" y="4906873"/>
              <a:ext cx="699940" cy="478601"/>
              <a:chOff x="39723" y="4349021"/>
              <a:chExt cx="1061964" cy="726143"/>
            </a:xfrm>
          </p:grpSpPr>
          <p:grpSp>
            <p:nvGrpSpPr>
              <p:cNvPr id="182" name="Google Shape;182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83" name="Google Shape;183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84" name="Google Shape;184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85" name="Google Shape;185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7" name="Google Shape;187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8" name="Google Shape;188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9" name="Google Shape;189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90" name="Google Shape;190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" name="Google Shape;191;p7"/>
            <p:cNvGrpSpPr/>
            <p:nvPr/>
          </p:nvGrpSpPr>
          <p:grpSpPr>
            <a:xfrm rot="-5400000">
              <a:off x="-461872" y="3769394"/>
              <a:ext cx="1351491" cy="1047516"/>
              <a:chOff x="-2460210" y="2758494"/>
              <a:chExt cx="1351491" cy="1047516"/>
            </a:xfrm>
          </p:grpSpPr>
          <p:sp>
            <p:nvSpPr>
              <p:cNvPr id="192" name="Google Shape;192;p7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7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7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7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6" name="Google Shape;196;p7"/>
            <p:cNvGrpSpPr/>
            <p:nvPr/>
          </p:nvGrpSpPr>
          <p:grpSpPr>
            <a:xfrm>
              <a:off x="438999" y="4567398"/>
              <a:ext cx="699940" cy="478601"/>
              <a:chOff x="39723" y="4349021"/>
              <a:chExt cx="1061964" cy="726143"/>
            </a:xfrm>
          </p:grpSpPr>
          <p:grpSp>
            <p:nvGrpSpPr>
              <p:cNvPr id="197" name="Google Shape;197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1" name="Google Shape;201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2" name="Google Shape;202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3" name="Google Shape;203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4" name="Google Shape;204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05" name="Google Shape;205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6" name="Google Shape;206;p7"/>
            <p:cNvGrpSpPr/>
            <p:nvPr/>
          </p:nvGrpSpPr>
          <p:grpSpPr>
            <a:xfrm>
              <a:off x="-65076" y="4623886"/>
              <a:ext cx="699940" cy="478601"/>
              <a:chOff x="39723" y="4349021"/>
              <a:chExt cx="1061964" cy="726143"/>
            </a:xfrm>
          </p:grpSpPr>
          <p:grpSp>
            <p:nvGrpSpPr>
              <p:cNvPr id="207" name="Google Shape;207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08" name="Google Shape;208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9" name="Google Shape;209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10" name="Google Shape;210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1" name="Google Shape;211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2" name="Google Shape;212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3" name="Google Shape;213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4" name="Google Shape;214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15" name="Google Shape;215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16" name="Google Shape;216;p7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"/>
          <p:cNvSpPr/>
          <p:nvPr>
            <p:ph idx="2" type="pic"/>
          </p:nvPr>
        </p:nvSpPr>
        <p:spPr>
          <a:xfrm>
            <a:off x="5841479" y="953468"/>
            <a:ext cx="4868084" cy="495106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19" name="Google Shape;219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0" name="Google Shape;220;p8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221" name="Google Shape;221;p8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222" name="Google Shape;222;p8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8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4" name="Google Shape;224;p8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225" name="Google Shape;225;p8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8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7" name="Google Shape;227;p8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228" name="Google Shape;228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29" name="Google Shape;229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30" name="Google Shape;230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31" name="Google Shape;231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" name="Google Shape;232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3" name="Google Shape;233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" name="Google Shape;234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5" name="Google Shape;235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36" name="Google Shape;236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7" name="Google Shape;237;p8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238" name="Google Shape;238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39" name="Google Shape;239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40" name="Google Shape;240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41" name="Google Shape;241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2" name="Google Shape;242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3" name="Google Shape;243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4" name="Google Shape;244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5" name="Google Shape;245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46" name="Google Shape;246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7" name="Google Shape;247;p8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248" name="Google Shape;248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49" name="Google Shape;249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50" name="Google Shape;250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51" name="Google Shape;251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" name="Google Shape;252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3" name="Google Shape;253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4" name="Google Shape;254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5" name="Google Shape;255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56" name="Google Shape;256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7" name="Google Shape;257;p8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258" name="Google Shape;258;p8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8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8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"/>
          <p:cNvSpPr/>
          <p:nvPr>
            <p:ph idx="2" type="pic"/>
          </p:nvPr>
        </p:nvSpPr>
        <p:spPr>
          <a:xfrm>
            <a:off x="4310745" y="2238827"/>
            <a:ext cx="4920335" cy="32982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63" name="Google Shape;26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9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265" name="Google Shape;265;p9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9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9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9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9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9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1" name="Google Shape;271;p9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272" name="Google Shape;272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4" name="Google Shape;274;p9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75" name="Google Shape;275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7" name="Google Shape;277;p9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78" name="Google Shape;278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0" name="Google Shape;280;p9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1" name="Google Shape;281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3" name="Google Shape;283;p9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284" name="Google Shape;284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86" name="Google Shape;286;p9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"/>
          <p:cNvSpPr/>
          <p:nvPr>
            <p:ph idx="2" type="pic"/>
          </p:nvPr>
        </p:nvSpPr>
        <p:spPr>
          <a:xfrm>
            <a:off x="610699" y="0"/>
            <a:ext cx="3680335" cy="398246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89" name="Google Shape;28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0" name="Google Shape;290;p10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291" name="Google Shape;291;p10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292" name="Google Shape;292;p1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5" name="Google Shape;295;p10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0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7" name="Google Shape;297;p10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298" name="Google Shape;298;p1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1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1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"/>
          <p:cNvSpPr/>
          <p:nvPr>
            <p:ph idx="2" type="pic"/>
          </p:nvPr>
        </p:nvSpPr>
        <p:spPr>
          <a:xfrm>
            <a:off x="727217" y="622898"/>
            <a:ext cx="8333385" cy="287014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03" name="Google Shape;30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" name="Google Shape;306;p12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07" name="Google Shape;307;p12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08" name="Google Shape;308;p1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1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0" name="Google Shape;310;p12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11" name="Google Shape;311;p1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1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3" name="Google Shape;313;p12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14" name="Google Shape;314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15" name="Google Shape;315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16" name="Google Shape;316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17" name="Google Shape;317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8" name="Google Shape;318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9" name="Google Shape;319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0" name="Google Shape;320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1" name="Google Shape;321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22" name="Google Shape;322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3" name="Google Shape;323;p12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24" name="Google Shape;324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5" name="Google Shape;325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6" name="Google Shape;326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27" name="Google Shape;327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8" name="Google Shape;328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9" name="Google Shape;329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0" name="Google Shape;330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1" name="Google Shape;331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32" name="Google Shape;332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3" name="Google Shape;333;p12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34" name="Google Shape;334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35" name="Google Shape;335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36" name="Google Shape;336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37" name="Google Shape;337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8" name="Google Shape;338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9" name="Google Shape;339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0" name="Google Shape;340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1" name="Google Shape;341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42" name="Google Shape;342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3" name="Google Shape;343;p12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344" name="Google Shape;344;p1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1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1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3"/>
          <p:cNvSpPr/>
          <p:nvPr>
            <p:ph idx="2" type="pic"/>
          </p:nvPr>
        </p:nvSpPr>
        <p:spPr>
          <a:xfrm>
            <a:off x="0" y="3061252"/>
            <a:ext cx="2969753" cy="37967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9" name="Google Shape;349;p13"/>
          <p:cNvSpPr/>
          <p:nvPr>
            <p:ph idx="3" type="pic"/>
          </p:nvPr>
        </p:nvSpPr>
        <p:spPr>
          <a:xfrm>
            <a:off x="6870763" y="-3517"/>
            <a:ext cx="3838800" cy="31629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50" name="Google Shape;350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4"/>
          <p:cNvSpPr/>
          <p:nvPr>
            <p:ph idx="2" type="pic"/>
          </p:nvPr>
        </p:nvSpPr>
        <p:spPr>
          <a:xfrm>
            <a:off x="6524779" y="742950"/>
            <a:ext cx="3488597" cy="43092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53" name="Google Shape;35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4" name="Google Shape;354;p14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55" name="Google Shape;355;p1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56" name="Google Shape;356;p1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1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8" name="Google Shape;358;p1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59" name="Google Shape;359;p1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1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1" name="Google Shape;361;p14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62" name="Google Shape;362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63" name="Google Shape;363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64" name="Google Shape;364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65" name="Google Shape;365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6" name="Google Shape;366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7" name="Google Shape;367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8" name="Google Shape;368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9" name="Google Shape;369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70" name="Google Shape;370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1" name="Google Shape;371;p14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72" name="Google Shape;372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73" name="Google Shape;373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74" name="Google Shape;374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75" name="Google Shape;375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6" name="Google Shape;376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7" name="Google Shape;377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8" name="Google Shape;378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9" name="Google Shape;379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80" name="Google Shape;380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1" name="Google Shape;381;p14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82" name="Google Shape;382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83" name="Google Shape;383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4" name="Google Shape;384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85" name="Google Shape;385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6" name="Google Shape;386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7" name="Google Shape;387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8" name="Google Shape;388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9" name="Google Shape;389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90" name="Google Shape;390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1" name="Google Shape;391;p1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392" name="Google Shape;392;p1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1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1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5"/>
          <p:cNvSpPr/>
          <p:nvPr>
            <p:ph idx="2" type="pic"/>
          </p:nvPr>
        </p:nvSpPr>
        <p:spPr>
          <a:xfrm>
            <a:off x="-1" y="622897"/>
            <a:ext cx="9337882" cy="219703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97" name="Google Shape;39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6"/>
          <p:cNvSpPr/>
          <p:nvPr>
            <p:ph idx="2" type="pic"/>
          </p:nvPr>
        </p:nvSpPr>
        <p:spPr>
          <a:xfrm>
            <a:off x="148126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00" name="Google Shape;400;p16"/>
          <p:cNvSpPr/>
          <p:nvPr>
            <p:ph idx="3" type="pic"/>
          </p:nvPr>
        </p:nvSpPr>
        <p:spPr>
          <a:xfrm>
            <a:off x="416939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01" name="Google Shape;401;p16"/>
          <p:cNvSpPr/>
          <p:nvPr>
            <p:ph idx="4" type="pic"/>
          </p:nvPr>
        </p:nvSpPr>
        <p:spPr>
          <a:xfrm>
            <a:off x="6857527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02" name="Google Shape;40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7"/>
          <p:cNvSpPr/>
          <p:nvPr>
            <p:ph idx="2" type="pic"/>
          </p:nvPr>
        </p:nvSpPr>
        <p:spPr>
          <a:xfrm>
            <a:off x="5653560" y="672033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05" name="Google Shape;405;p17"/>
          <p:cNvSpPr/>
          <p:nvPr>
            <p:ph idx="3" type="pic"/>
          </p:nvPr>
        </p:nvSpPr>
        <p:spPr>
          <a:xfrm>
            <a:off x="5653560" y="2583602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06" name="Google Shape;406;p17"/>
          <p:cNvSpPr/>
          <p:nvPr>
            <p:ph idx="4" type="pic"/>
          </p:nvPr>
        </p:nvSpPr>
        <p:spPr>
          <a:xfrm>
            <a:off x="5653560" y="4495171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07" name="Google Shape;40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8"/>
          <p:cNvSpPr/>
          <p:nvPr>
            <p:ph idx="2" type="pic"/>
          </p:nvPr>
        </p:nvSpPr>
        <p:spPr>
          <a:xfrm>
            <a:off x="8231618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0" name="Google Shape;410;p18"/>
          <p:cNvSpPr/>
          <p:nvPr>
            <p:ph idx="3" type="pic"/>
          </p:nvPr>
        </p:nvSpPr>
        <p:spPr>
          <a:xfrm>
            <a:off x="5935846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1" name="Google Shape;411;p18"/>
          <p:cNvSpPr/>
          <p:nvPr>
            <p:ph idx="4" type="pic"/>
          </p:nvPr>
        </p:nvSpPr>
        <p:spPr>
          <a:xfrm>
            <a:off x="-1" y="3366773"/>
            <a:ext cx="4525530" cy="243547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2" name="Google Shape;41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9"/>
          <p:cNvSpPr/>
          <p:nvPr>
            <p:ph idx="2" type="pic"/>
          </p:nvPr>
        </p:nvSpPr>
        <p:spPr>
          <a:xfrm>
            <a:off x="889964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5" name="Google Shape;415;p19"/>
          <p:cNvSpPr/>
          <p:nvPr>
            <p:ph idx="3" type="pic"/>
          </p:nvPr>
        </p:nvSpPr>
        <p:spPr>
          <a:xfrm>
            <a:off x="3210142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6" name="Google Shape;41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0"/>
          <p:cNvSpPr/>
          <p:nvPr>
            <p:ph idx="2" type="pic"/>
          </p:nvPr>
        </p:nvSpPr>
        <p:spPr>
          <a:xfrm>
            <a:off x="6896192" y="1655804"/>
            <a:ext cx="2800470" cy="52021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9" name="Google Shape;41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1"/>
          <p:cNvSpPr/>
          <p:nvPr>
            <p:ph idx="2" type="pic"/>
          </p:nvPr>
        </p:nvSpPr>
        <p:spPr>
          <a:xfrm>
            <a:off x="1179006" y="1014481"/>
            <a:ext cx="2768300" cy="412251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2" name="Google Shape;42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2"/>
          <p:cNvSpPr/>
          <p:nvPr>
            <p:ph idx="2" type="pic"/>
          </p:nvPr>
        </p:nvSpPr>
        <p:spPr>
          <a:xfrm>
            <a:off x="4930282" y="1031838"/>
            <a:ext cx="5779279" cy="293482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5" name="Google Shape;42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ustom Layout">
  <p:cSld name="20_Custom Layou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3"/>
          <p:cNvSpPr/>
          <p:nvPr>
            <p:ph idx="2" type="pic"/>
          </p:nvPr>
        </p:nvSpPr>
        <p:spPr>
          <a:xfrm>
            <a:off x="3220234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8" name="Google Shape;428;p23"/>
          <p:cNvSpPr/>
          <p:nvPr>
            <p:ph idx="3" type="pic"/>
          </p:nvPr>
        </p:nvSpPr>
        <p:spPr>
          <a:xfrm>
            <a:off x="5712651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9" name="Google Shape;429;p23"/>
          <p:cNvSpPr/>
          <p:nvPr>
            <p:ph idx="4" type="pic"/>
          </p:nvPr>
        </p:nvSpPr>
        <p:spPr>
          <a:xfrm>
            <a:off x="8205068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0" name="Google Shape;430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2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32" name="Google Shape;432;p2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33" name="Google Shape;433;p2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2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5" name="Google Shape;435;p2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36" name="Google Shape;436;p2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2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8" name="Google Shape;438;p2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39" name="Google Shape;439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40" name="Google Shape;440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41" name="Google Shape;441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42" name="Google Shape;442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3" name="Google Shape;443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4" name="Google Shape;444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5" name="Google Shape;445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6" name="Google Shape;446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47" name="Google Shape;447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8" name="Google Shape;448;p2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449" name="Google Shape;449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50" name="Google Shape;450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51" name="Google Shape;451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52" name="Google Shape;452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3" name="Google Shape;453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4" name="Google Shape;454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5" name="Google Shape;455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6" name="Google Shape;456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57" name="Google Shape;457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8" name="Google Shape;458;p2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459" name="Google Shape;459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60" name="Google Shape;460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61" name="Google Shape;461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62" name="Google Shape;462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3" name="Google Shape;463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4" name="Google Shape;464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5" name="Google Shape;465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6" name="Google Shape;466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67" name="Google Shape;467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8" name="Google Shape;468;p2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69" name="Google Shape;469;p2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2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2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4"/>
          <p:cNvSpPr/>
          <p:nvPr>
            <p:ph idx="2" type="pic"/>
          </p:nvPr>
        </p:nvSpPr>
        <p:spPr>
          <a:xfrm>
            <a:off x="1" y="833261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74" name="Google Shape;474;p24"/>
          <p:cNvSpPr/>
          <p:nvPr>
            <p:ph idx="3" type="pic"/>
          </p:nvPr>
        </p:nvSpPr>
        <p:spPr>
          <a:xfrm>
            <a:off x="1" y="3520340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75" name="Google Shape;47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Custom Layout">
  <p:cSld name="22_Custom Layout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5"/>
          <p:cNvSpPr/>
          <p:nvPr>
            <p:ph idx="2" type="pic"/>
          </p:nvPr>
        </p:nvSpPr>
        <p:spPr>
          <a:xfrm>
            <a:off x="7405685" y="757036"/>
            <a:ext cx="3303874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78" name="Google Shape;478;p25"/>
          <p:cNvSpPr/>
          <p:nvPr>
            <p:ph idx="3" type="pic"/>
          </p:nvPr>
        </p:nvSpPr>
        <p:spPr>
          <a:xfrm>
            <a:off x="4975112" y="757036"/>
            <a:ext cx="2235200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79" name="Google Shape;479;p25"/>
          <p:cNvSpPr/>
          <p:nvPr>
            <p:ph idx="4" type="pic"/>
          </p:nvPr>
        </p:nvSpPr>
        <p:spPr>
          <a:xfrm>
            <a:off x="1372980" y="3265714"/>
            <a:ext cx="2430322" cy="35922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80" name="Google Shape;48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Custom Layout">
  <p:cSld name="23_Custom Layout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6"/>
          <p:cNvSpPr/>
          <p:nvPr>
            <p:ph idx="2" type="pic"/>
          </p:nvPr>
        </p:nvSpPr>
        <p:spPr>
          <a:xfrm>
            <a:off x="945565" y="4375786"/>
            <a:ext cx="1642576" cy="16425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83" name="Google Shape;483;p26"/>
          <p:cNvSpPr/>
          <p:nvPr>
            <p:ph idx="3" type="pic"/>
          </p:nvPr>
        </p:nvSpPr>
        <p:spPr>
          <a:xfrm>
            <a:off x="6786169" y="839634"/>
            <a:ext cx="2952916" cy="517872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84" name="Google Shape;48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Custom Layout">
  <p:cSld name="24_Custom Layout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7"/>
          <p:cNvSpPr/>
          <p:nvPr>
            <p:ph idx="2" type="pic"/>
          </p:nvPr>
        </p:nvSpPr>
        <p:spPr>
          <a:xfrm>
            <a:off x="6231818" y="3918532"/>
            <a:ext cx="4477745" cy="20461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87" name="Google Shape;487;p27"/>
          <p:cNvSpPr/>
          <p:nvPr>
            <p:ph idx="3" type="pic"/>
          </p:nvPr>
        </p:nvSpPr>
        <p:spPr>
          <a:xfrm>
            <a:off x="1" y="512772"/>
            <a:ext cx="5393169" cy="26934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88" name="Google Shape;488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Custom Layout">
  <p:cSld name="25_Custom Layout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8"/>
          <p:cNvSpPr/>
          <p:nvPr>
            <p:ph idx="2" type="pic"/>
          </p:nvPr>
        </p:nvSpPr>
        <p:spPr>
          <a:xfrm>
            <a:off x="5370288" y="616476"/>
            <a:ext cx="2965624" cy="562504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1" name="Google Shape;491;p28"/>
          <p:cNvSpPr/>
          <p:nvPr>
            <p:ph idx="3" type="pic"/>
          </p:nvPr>
        </p:nvSpPr>
        <p:spPr>
          <a:xfrm>
            <a:off x="8505736" y="616474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2" name="Google Shape;492;p28"/>
          <p:cNvSpPr/>
          <p:nvPr>
            <p:ph idx="4" type="pic"/>
          </p:nvPr>
        </p:nvSpPr>
        <p:spPr>
          <a:xfrm>
            <a:off x="8505736" y="2539633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3" name="Google Shape;493;p28"/>
          <p:cNvSpPr/>
          <p:nvPr>
            <p:ph idx="5" type="pic"/>
          </p:nvPr>
        </p:nvSpPr>
        <p:spPr>
          <a:xfrm>
            <a:off x="8505736" y="4462792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94" name="Google Shape;494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Custom Layout">
  <p:cSld name="26_Custom Layout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9"/>
          <p:cNvSpPr/>
          <p:nvPr>
            <p:ph idx="2" type="pic"/>
          </p:nvPr>
        </p:nvSpPr>
        <p:spPr>
          <a:xfrm>
            <a:off x="1323522" y="1123950"/>
            <a:ext cx="2120149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7" name="Google Shape;497;p29"/>
          <p:cNvSpPr/>
          <p:nvPr>
            <p:ph idx="3" type="pic"/>
          </p:nvPr>
        </p:nvSpPr>
        <p:spPr>
          <a:xfrm>
            <a:off x="7849986" y="0"/>
            <a:ext cx="2120149" cy="297070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98" name="Google Shape;498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Custom Layout">
  <p:cSld name="27_Custom Layout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/>
          <p:cNvSpPr/>
          <p:nvPr>
            <p:ph idx="2" type="pic"/>
          </p:nvPr>
        </p:nvSpPr>
        <p:spPr>
          <a:xfrm>
            <a:off x="1451036" y="3571877"/>
            <a:ext cx="3685820" cy="233362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1" name="Google Shape;50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Custom Layout">
  <p:cSld name="28_Custom Layout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1"/>
          <p:cNvSpPr/>
          <p:nvPr>
            <p:ph idx="2" type="pic"/>
          </p:nvPr>
        </p:nvSpPr>
        <p:spPr>
          <a:xfrm>
            <a:off x="0" y="4094373"/>
            <a:ext cx="3536627" cy="21565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4" name="Google Shape;504;p31"/>
          <p:cNvSpPr/>
          <p:nvPr>
            <p:ph idx="3" type="pic"/>
          </p:nvPr>
        </p:nvSpPr>
        <p:spPr>
          <a:xfrm>
            <a:off x="7199085" y="1"/>
            <a:ext cx="2577954" cy="331671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5" name="Google Shape;50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2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pic>
        <p:nvPicPr>
          <p:cNvPr id="508" name="Google Shape;508;p32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2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3" name="Google Shape;513;p3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3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8" name="Google Shape;518;p3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3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5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522" name="Google Shape;522;p35"/>
          <p:cNvSpPr txBox="1"/>
          <p:nvPr>
            <p:ph hasCustomPrompt="1" idx="2" type="title"/>
          </p:nvPr>
        </p:nvSpPr>
        <p:spPr>
          <a:xfrm>
            <a:off x="960000" y="1367634"/>
            <a:ext cx="22701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3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9pPr>
          </a:lstStyle>
          <a:p>
            <a:r>
              <a:t>xx%</a:t>
            </a:r>
          </a:p>
        </p:txBody>
      </p:sp>
      <p:sp>
        <p:nvSpPr>
          <p:cNvPr id="523" name="Google Shape;523;p35"/>
          <p:cNvSpPr txBox="1"/>
          <p:nvPr>
            <p:ph idx="1" type="subTitle"/>
          </p:nvPr>
        </p:nvSpPr>
        <p:spPr>
          <a:xfrm>
            <a:off x="960000" y="4336500"/>
            <a:ext cx="7464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grpSp>
        <p:nvGrpSpPr>
          <p:cNvPr id="524" name="Google Shape;524;p35"/>
          <p:cNvGrpSpPr/>
          <p:nvPr/>
        </p:nvGrpSpPr>
        <p:grpSpPr>
          <a:xfrm>
            <a:off x="-718924" y="-2290580"/>
            <a:ext cx="5862778" cy="5562070"/>
            <a:chOff x="-494406" y="-1584825"/>
            <a:chExt cx="4397193" cy="4171657"/>
          </a:xfrm>
        </p:grpSpPr>
        <p:grpSp>
          <p:nvGrpSpPr>
            <p:cNvPr id="525" name="Google Shape;525;p35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526" name="Google Shape;526;p35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35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8" name="Google Shape;528;p35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529" name="Google Shape;529;p35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35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1" name="Google Shape;531;p35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532" name="Google Shape;532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33" name="Google Shape;533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34" name="Google Shape;534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35" name="Google Shape;535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6" name="Google Shape;536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7" name="Google Shape;537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8" name="Google Shape;538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9" name="Google Shape;539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40" name="Google Shape;540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1" name="Google Shape;541;p35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44" name="Google Shape;544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45" name="Google Shape;545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6" name="Google Shape;546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7" name="Google Shape;547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8" name="Google Shape;548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9" name="Google Shape;549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50" name="Google Shape;550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1" name="Google Shape;551;p35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552" name="Google Shape;552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53" name="Google Shape;553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54" name="Google Shape;554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55" name="Google Shape;555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6" name="Google Shape;556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7" name="Google Shape;557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8" name="Google Shape;558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9" name="Google Shape;559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60" name="Google Shape;560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1" name="Google Shape;561;p35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562" name="Google Shape;562;p3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3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3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 1">
  <p:cSld name="4_Custom Layout_1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6"/>
          <p:cNvSpPr/>
          <p:nvPr>
            <p:ph idx="2" type="pic"/>
          </p:nvPr>
        </p:nvSpPr>
        <p:spPr>
          <a:xfrm>
            <a:off x="0" y="2670629"/>
            <a:ext cx="9243000" cy="4187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67" name="Google Shape;567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2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205350" y="6441875"/>
            <a:ext cx="40533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4747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©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CodeHub AI,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all rights reserved</a:t>
            </a:r>
            <a:endParaRPr sz="1000">
              <a:solidFill>
                <a:srgbClr val="262626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0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9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29.png"/><Relationship Id="rId8" Type="http://schemas.openxmlformats.org/officeDocument/2006/relationships/image" Target="../media/image8.png"/><Relationship Id="rId11" Type="http://schemas.openxmlformats.org/officeDocument/2006/relationships/image" Target="../media/image12.png"/><Relationship Id="rId10" Type="http://schemas.openxmlformats.org/officeDocument/2006/relationships/image" Target="../media/image35.png"/><Relationship Id="rId12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33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image" Target="../media/image38.png"/><Relationship Id="rId6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image" Target="../media/image55.png"/><Relationship Id="rId6" Type="http://schemas.openxmlformats.org/officeDocument/2006/relationships/image" Target="../media/image4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png"/><Relationship Id="rId4" Type="http://schemas.openxmlformats.org/officeDocument/2006/relationships/image" Target="../media/image52.png"/><Relationship Id="rId5" Type="http://schemas.openxmlformats.org/officeDocument/2006/relationships/image" Target="../media/image4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5.png"/><Relationship Id="rId4" Type="http://schemas.openxmlformats.org/officeDocument/2006/relationships/image" Target="../media/image42.png"/><Relationship Id="rId5" Type="http://schemas.openxmlformats.org/officeDocument/2006/relationships/image" Target="../media/image57.png"/><Relationship Id="rId6" Type="http://schemas.openxmlformats.org/officeDocument/2006/relationships/image" Target="../media/image4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4.png"/><Relationship Id="rId4" Type="http://schemas.openxmlformats.org/officeDocument/2006/relationships/image" Target="../media/image50.png"/><Relationship Id="rId5" Type="http://schemas.openxmlformats.org/officeDocument/2006/relationships/image" Target="../media/image48.png"/><Relationship Id="rId6" Type="http://schemas.openxmlformats.org/officeDocument/2006/relationships/image" Target="../media/image4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6.png"/><Relationship Id="rId4" Type="http://schemas.openxmlformats.org/officeDocument/2006/relationships/image" Target="../media/image5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9.png"/><Relationship Id="rId4" Type="http://schemas.openxmlformats.org/officeDocument/2006/relationships/image" Target="../media/image65.png"/><Relationship Id="rId5" Type="http://schemas.openxmlformats.org/officeDocument/2006/relationships/image" Target="../media/image4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3.png"/><Relationship Id="rId4" Type="http://schemas.openxmlformats.org/officeDocument/2006/relationships/image" Target="../media/image63.png"/><Relationship Id="rId5" Type="http://schemas.openxmlformats.org/officeDocument/2006/relationships/image" Target="../media/image6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1.png"/><Relationship Id="rId4" Type="http://schemas.openxmlformats.org/officeDocument/2006/relationships/image" Target="../media/image58.png"/><Relationship Id="rId5" Type="http://schemas.openxmlformats.org/officeDocument/2006/relationships/image" Target="../media/image67.png"/><Relationship Id="rId6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0.png"/><Relationship Id="rId4" Type="http://schemas.openxmlformats.org/officeDocument/2006/relationships/image" Target="../media/image64.png"/><Relationship Id="rId5" Type="http://schemas.openxmlformats.org/officeDocument/2006/relationships/image" Target="../media/image69.png"/><Relationship Id="rId6" Type="http://schemas.openxmlformats.org/officeDocument/2006/relationships/image" Target="../media/image6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0.png"/><Relationship Id="rId4" Type="http://schemas.openxmlformats.org/officeDocument/2006/relationships/image" Target="../media/image68.png"/><Relationship Id="rId5" Type="http://schemas.openxmlformats.org/officeDocument/2006/relationships/image" Target="../media/image59.png"/><Relationship Id="rId6" Type="http://schemas.openxmlformats.org/officeDocument/2006/relationships/image" Target="../media/image6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1323" y="760452"/>
            <a:ext cx="3742753" cy="3742753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37"/>
          <p:cNvSpPr txBox="1"/>
          <p:nvPr/>
        </p:nvSpPr>
        <p:spPr>
          <a:xfrm>
            <a:off x="3954538" y="3682248"/>
            <a:ext cx="50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rPr>
              <a:t>Generative AI </a:t>
            </a:r>
            <a:endParaRPr/>
          </a:p>
        </p:txBody>
      </p:sp>
      <p:sp>
        <p:nvSpPr>
          <p:cNvPr id="576" name="Google Shape;576;p37"/>
          <p:cNvSpPr txBox="1"/>
          <p:nvPr/>
        </p:nvSpPr>
        <p:spPr>
          <a:xfrm>
            <a:off x="4044650" y="4418675"/>
            <a:ext cx="8187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Full Stack Developer</a:t>
            </a:r>
            <a:endParaRPr sz="4800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7" name="Google Shape;577;p37"/>
          <p:cNvSpPr txBox="1"/>
          <p:nvPr/>
        </p:nvSpPr>
        <p:spPr>
          <a:xfrm>
            <a:off x="11298540" y="6506726"/>
            <a:ext cx="343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/>
          </a:p>
        </p:txBody>
      </p:sp>
      <p:sp>
        <p:nvSpPr>
          <p:cNvPr id="578" name="Google Shape;578;p37"/>
          <p:cNvSpPr/>
          <p:nvPr/>
        </p:nvSpPr>
        <p:spPr>
          <a:xfrm>
            <a:off x="4080325" y="3723225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9" name="Google Shape;57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7275" y="3026375"/>
            <a:ext cx="2811375" cy="216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4" name="Google Shape;584;p38"/>
          <p:cNvGrpSpPr/>
          <p:nvPr/>
        </p:nvGrpSpPr>
        <p:grpSpPr>
          <a:xfrm>
            <a:off x="868414" y="2469824"/>
            <a:ext cx="10553400" cy="892801"/>
            <a:chOff x="800239" y="1467172"/>
            <a:chExt cx="10553400" cy="892801"/>
          </a:xfrm>
        </p:grpSpPr>
        <p:sp>
          <p:nvSpPr>
            <p:cNvPr id="585" name="Google Shape;585;p38"/>
            <p:cNvSpPr txBox="1"/>
            <p:nvPr/>
          </p:nvSpPr>
          <p:spPr>
            <a:xfrm>
              <a:off x="800239" y="1467173"/>
              <a:ext cx="10553400" cy="89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20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Course B</a:t>
              </a:r>
              <a:r>
                <a:rPr b="1" lang="en-US" sz="5200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 : RAG</a:t>
              </a:r>
              <a:endParaRPr b="1" sz="52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86" name="Google Shape;586;p38"/>
            <p:cNvSpPr/>
            <p:nvPr/>
          </p:nvSpPr>
          <p:spPr>
            <a:xfrm>
              <a:off x="937845" y="1467172"/>
              <a:ext cx="995100" cy="105600"/>
            </a:xfrm>
            <a:prstGeom prst="roundRect">
              <a:avLst>
                <a:gd fmla="val 50000" name="adj"/>
              </a:avLst>
            </a:prstGeom>
            <a:solidFill>
              <a:srgbClr val="06B3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6B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7" name="Google Shape;587;p38"/>
          <p:cNvSpPr txBox="1"/>
          <p:nvPr/>
        </p:nvSpPr>
        <p:spPr>
          <a:xfrm>
            <a:off x="11298554" y="6506725"/>
            <a:ext cx="46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/>
          </a:p>
        </p:txBody>
      </p:sp>
      <p:sp>
        <p:nvSpPr>
          <p:cNvPr id="588" name="Google Shape;588;p38"/>
          <p:cNvSpPr txBox="1"/>
          <p:nvPr/>
        </p:nvSpPr>
        <p:spPr>
          <a:xfrm>
            <a:off x="868425" y="3429000"/>
            <a:ext cx="11166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262626"/>
                </a:solidFill>
                <a:latin typeface="Poppins Light"/>
                <a:ea typeface="Poppins Light"/>
                <a:cs typeface="Poppins Light"/>
                <a:sym typeface="Poppins Light"/>
              </a:rPr>
              <a:t>Retrieval</a:t>
            </a:r>
            <a:r>
              <a:rPr lang="en-US" sz="4400">
                <a:solidFill>
                  <a:srgbClr val="262626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4400">
                <a:solidFill>
                  <a:srgbClr val="262626"/>
                </a:solidFill>
                <a:latin typeface="Poppins Light"/>
                <a:ea typeface="Poppins Light"/>
                <a:cs typeface="Poppins Light"/>
                <a:sym typeface="Poppins Light"/>
              </a:rPr>
              <a:t>Augmented</a:t>
            </a:r>
            <a:r>
              <a:rPr lang="en-US" sz="4400">
                <a:solidFill>
                  <a:srgbClr val="262626"/>
                </a:solidFill>
                <a:latin typeface="Poppins Light"/>
                <a:ea typeface="Poppins Light"/>
                <a:cs typeface="Poppins Light"/>
                <a:sym typeface="Poppins Light"/>
              </a:rPr>
              <a:t> Generation</a:t>
            </a:r>
            <a:endParaRPr sz="4400"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9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/>
          </a:p>
        </p:txBody>
      </p:sp>
      <p:sp>
        <p:nvSpPr>
          <p:cNvPr id="594" name="Google Shape;594;p39"/>
          <p:cNvSpPr txBox="1"/>
          <p:nvPr/>
        </p:nvSpPr>
        <p:spPr>
          <a:xfrm>
            <a:off x="1930350" y="3245625"/>
            <a:ext cx="853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r>
              <a:rPr b="1" lang="en-US" sz="34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- Implementing RAG Systems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595" name="Google Shape;595;p39"/>
          <p:cNvSpPr txBox="1"/>
          <p:nvPr/>
        </p:nvSpPr>
        <p:spPr>
          <a:xfrm>
            <a:off x="2820737" y="3812287"/>
            <a:ext cx="6201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r>
              <a:rPr lang="en-US" sz="1700">
                <a:latin typeface="Poppins Light"/>
                <a:ea typeface="Poppins Light"/>
                <a:cs typeface="Poppins Light"/>
                <a:sym typeface="Poppins Light"/>
              </a:rPr>
              <a:t>Combining </a:t>
            </a:r>
            <a:r>
              <a:rPr lang="en-US" sz="1700">
                <a:solidFill>
                  <a:srgbClr val="F50403"/>
                </a:solidFill>
                <a:latin typeface="Poppins Light"/>
                <a:ea typeface="Poppins Light"/>
                <a:cs typeface="Poppins Light"/>
                <a:sym typeface="Poppins Light"/>
              </a:rPr>
              <a:t>Retrieval </a:t>
            </a:r>
            <a:r>
              <a:rPr lang="en-US" sz="1700">
                <a:latin typeface="Poppins Light"/>
                <a:ea typeface="Poppins Light"/>
                <a:cs typeface="Poppins Light"/>
                <a:sym typeface="Poppins Light"/>
              </a:rPr>
              <a:t>and </a:t>
            </a:r>
            <a:r>
              <a:rPr lang="en-US" sz="1700">
                <a:solidFill>
                  <a:srgbClr val="F50403"/>
                </a:solidFill>
                <a:latin typeface="Poppins Light"/>
                <a:ea typeface="Poppins Light"/>
                <a:cs typeface="Poppins Light"/>
                <a:sym typeface="Poppins Light"/>
              </a:rPr>
              <a:t>Generation </a:t>
            </a:r>
            <a:r>
              <a:rPr lang="en-US" sz="1700">
                <a:latin typeface="Poppins Light"/>
                <a:ea typeface="Poppins Light"/>
                <a:cs typeface="Poppins Light"/>
                <a:sym typeface="Poppins Light"/>
              </a:rPr>
              <a:t>in One System</a:t>
            </a:r>
            <a:endParaRPr sz="1700"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0"/>
          <p:cNvSpPr txBox="1"/>
          <p:nvPr/>
        </p:nvSpPr>
        <p:spPr>
          <a:xfrm>
            <a:off x="11009524" y="6235100"/>
            <a:ext cx="63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/>
          </a:p>
        </p:txBody>
      </p:sp>
      <p:sp>
        <p:nvSpPr>
          <p:cNvPr id="601" name="Google Shape;601;p40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Why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RAG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Matters?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30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2" name="Google Shape;602;p40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3" name="Google Shape;60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625" y="1735200"/>
            <a:ext cx="276900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625" y="2842575"/>
            <a:ext cx="276900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625" y="4154000"/>
            <a:ext cx="276900" cy="2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0"/>
          <p:cNvSpPr/>
          <p:nvPr/>
        </p:nvSpPr>
        <p:spPr>
          <a:xfrm>
            <a:off x="6725175" y="1524000"/>
            <a:ext cx="4795800" cy="17490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7" name="Google Shape;607;p40"/>
          <p:cNvSpPr txBox="1"/>
          <p:nvPr/>
        </p:nvSpPr>
        <p:spPr>
          <a:xfrm>
            <a:off x="950750" y="1524000"/>
            <a:ext cx="464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LLMs can hallucinate </a:t>
            </a:r>
            <a:br>
              <a:rPr lang="en-US" sz="1600">
                <a:latin typeface="Poppins"/>
                <a:ea typeface="Poppins"/>
                <a:cs typeface="Poppins"/>
                <a:sym typeface="Poppins"/>
              </a:rPr>
            </a:b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They make up information when uncertain, producing plausible but incorrect answers.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8" name="Google Shape;608;p40"/>
          <p:cNvSpPr txBox="1"/>
          <p:nvPr/>
        </p:nvSpPr>
        <p:spPr>
          <a:xfrm>
            <a:off x="998300" y="2709850"/>
            <a:ext cx="4648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RAG grounds answers in real knowledge</a:t>
            </a:r>
            <a:br>
              <a:rPr lang="en-US" sz="1600">
                <a:latin typeface="Poppins"/>
                <a:ea typeface="Poppins"/>
                <a:cs typeface="Poppins"/>
                <a:sym typeface="Poppins"/>
              </a:rPr>
            </a:b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Retrieves relevant information first, then generates answers based on that information.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9" name="Google Shape;609;p40"/>
          <p:cNvSpPr txBox="1"/>
          <p:nvPr/>
        </p:nvSpPr>
        <p:spPr>
          <a:xfrm>
            <a:off x="998300" y="4055200"/>
            <a:ext cx="4209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Poppins"/>
                <a:ea typeface="Poppins"/>
                <a:cs typeface="Poppins"/>
                <a:sym typeface="Poppins"/>
              </a:rPr>
              <a:t>Example</a:t>
            </a:r>
            <a:br>
              <a:rPr lang="en-US" sz="1800">
                <a:latin typeface="Poppins"/>
                <a:ea typeface="Poppins"/>
                <a:cs typeface="Poppins"/>
                <a:sym typeface="Poppins"/>
              </a:rPr>
            </a:br>
            <a:br>
              <a:rPr lang="en-US" sz="1800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Prompt: </a:t>
            </a:r>
            <a:br>
              <a:rPr lang="en-US" sz="1800">
                <a:latin typeface="Poppins"/>
                <a:ea typeface="Poppins"/>
                <a:cs typeface="Poppins"/>
                <a:sym typeface="Poppins"/>
              </a:rPr>
            </a:b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“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What's in our company's HR policy?”</a:t>
            </a:r>
            <a:b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LLM Response: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Without RAG = educated guess 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With RAG = exact answer from policy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0" name="Google Shape;610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4525" y="4667725"/>
            <a:ext cx="276900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4525" y="5309475"/>
            <a:ext cx="276900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60688" y="2049775"/>
            <a:ext cx="276900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60688" y="2447400"/>
            <a:ext cx="276900" cy="2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40"/>
          <p:cNvSpPr txBox="1"/>
          <p:nvPr/>
        </p:nvSpPr>
        <p:spPr>
          <a:xfrm>
            <a:off x="7193550" y="1524000"/>
            <a:ext cx="43275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Without RAG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"What's our parental leave policy?"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"Most companies offer 6-8 weeks of parental leave, so I believe that would be your policy too."</a:t>
            </a:r>
            <a:endParaRPr/>
          </a:p>
        </p:txBody>
      </p:sp>
      <p:sp>
        <p:nvSpPr>
          <p:cNvPr id="615" name="Google Shape;615;p40"/>
          <p:cNvSpPr/>
          <p:nvPr/>
        </p:nvSpPr>
        <p:spPr>
          <a:xfrm>
            <a:off x="6725138" y="3879550"/>
            <a:ext cx="4795800" cy="17490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6" name="Google Shape;616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60650" y="4405325"/>
            <a:ext cx="276900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60650" y="4802950"/>
            <a:ext cx="276900" cy="2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40"/>
          <p:cNvSpPr txBox="1"/>
          <p:nvPr/>
        </p:nvSpPr>
        <p:spPr>
          <a:xfrm>
            <a:off x="7193513" y="3879550"/>
            <a:ext cx="43275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 RAG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"What's our parental leave policy?"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"According to section 3.2 of your HR policy,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employees are entitled to 12 weeks of paid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parental leave after 1 year of employment."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1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/>
          </a:p>
        </p:txBody>
      </p:sp>
      <p:sp>
        <p:nvSpPr>
          <p:cNvPr id="624" name="Google Shape;624;p41"/>
          <p:cNvSpPr txBox="1"/>
          <p:nvPr/>
        </p:nvSpPr>
        <p:spPr>
          <a:xfrm>
            <a:off x="337853" y="433775"/>
            <a:ext cx="326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RAG Workflow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625" name="Google Shape;625;p41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41"/>
          <p:cNvSpPr/>
          <p:nvPr/>
        </p:nvSpPr>
        <p:spPr>
          <a:xfrm>
            <a:off x="471525" y="2495775"/>
            <a:ext cx="1737600" cy="201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1"/>
          <p:cNvSpPr/>
          <p:nvPr/>
        </p:nvSpPr>
        <p:spPr>
          <a:xfrm>
            <a:off x="2637375" y="2495775"/>
            <a:ext cx="1737600" cy="201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41"/>
          <p:cNvSpPr/>
          <p:nvPr/>
        </p:nvSpPr>
        <p:spPr>
          <a:xfrm>
            <a:off x="4803150" y="2495775"/>
            <a:ext cx="1737600" cy="201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41"/>
          <p:cNvSpPr/>
          <p:nvPr/>
        </p:nvSpPr>
        <p:spPr>
          <a:xfrm>
            <a:off x="6968925" y="2495775"/>
            <a:ext cx="1737600" cy="201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1"/>
          <p:cNvSpPr/>
          <p:nvPr/>
        </p:nvSpPr>
        <p:spPr>
          <a:xfrm>
            <a:off x="9134700" y="2495775"/>
            <a:ext cx="1737600" cy="201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1" name="Google Shape;631;p41"/>
          <p:cNvCxnSpPr>
            <a:stCxn id="626" idx="3"/>
            <a:endCxn id="627" idx="1"/>
          </p:cNvCxnSpPr>
          <p:nvPr/>
        </p:nvCxnSpPr>
        <p:spPr>
          <a:xfrm>
            <a:off x="2209125" y="3502425"/>
            <a:ext cx="428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2" name="Google Shape;632;p41"/>
          <p:cNvCxnSpPr/>
          <p:nvPr/>
        </p:nvCxnSpPr>
        <p:spPr>
          <a:xfrm>
            <a:off x="4375000" y="3502425"/>
            <a:ext cx="428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3" name="Google Shape;633;p41"/>
          <p:cNvCxnSpPr/>
          <p:nvPr/>
        </p:nvCxnSpPr>
        <p:spPr>
          <a:xfrm>
            <a:off x="6540788" y="3502425"/>
            <a:ext cx="428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4" name="Google Shape;634;p41"/>
          <p:cNvCxnSpPr/>
          <p:nvPr/>
        </p:nvCxnSpPr>
        <p:spPr>
          <a:xfrm>
            <a:off x="8706525" y="3502425"/>
            <a:ext cx="428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5" name="Google Shape;635;p41"/>
          <p:cNvSpPr txBox="1"/>
          <p:nvPr/>
        </p:nvSpPr>
        <p:spPr>
          <a:xfrm>
            <a:off x="747900" y="2495775"/>
            <a:ext cx="146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Encode docs with Gemini embeddings</a:t>
            </a:r>
            <a:endParaRPr b="1" sz="1200"/>
          </a:p>
        </p:txBody>
      </p:sp>
      <p:sp>
        <p:nvSpPr>
          <p:cNvPr id="636" name="Google Shape;636;p41"/>
          <p:cNvSpPr txBox="1"/>
          <p:nvPr/>
        </p:nvSpPr>
        <p:spPr>
          <a:xfrm>
            <a:off x="539175" y="3282075"/>
            <a:ext cx="1602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Convert document text into vector representations that capture semantic meaning.</a:t>
            </a:r>
            <a:endParaRPr sz="1200"/>
          </a:p>
        </p:txBody>
      </p:sp>
      <p:pic>
        <p:nvPicPr>
          <p:cNvPr id="637" name="Google Shape;63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170" y="2702941"/>
            <a:ext cx="384900" cy="3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41"/>
          <p:cNvSpPr txBox="1"/>
          <p:nvPr/>
        </p:nvSpPr>
        <p:spPr>
          <a:xfrm>
            <a:off x="2913675" y="2680575"/>
            <a:ext cx="146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Store in FAISS</a:t>
            </a:r>
            <a:endParaRPr b="1" sz="1200"/>
          </a:p>
        </p:txBody>
      </p:sp>
      <p:sp>
        <p:nvSpPr>
          <p:cNvPr id="639" name="Google Shape;639;p41"/>
          <p:cNvSpPr txBox="1"/>
          <p:nvPr/>
        </p:nvSpPr>
        <p:spPr>
          <a:xfrm>
            <a:off x="2671163" y="3282075"/>
            <a:ext cx="160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Index embeddings in FAISS for efficient similarity search and retrieval</a:t>
            </a:r>
            <a:endParaRPr sz="1200"/>
          </a:p>
        </p:txBody>
      </p:sp>
      <p:pic>
        <p:nvPicPr>
          <p:cNvPr id="640" name="Google Shape;64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0524" y="2732311"/>
            <a:ext cx="326175" cy="326175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41"/>
          <p:cNvSpPr txBox="1"/>
          <p:nvPr/>
        </p:nvSpPr>
        <p:spPr>
          <a:xfrm>
            <a:off x="5183249" y="2620625"/>
            <a:ext cx="135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Retrieve chunks</a:t>
            </a:r>
            <a:endParaRPr b="1" sz="1200"/>
          </a:p>
        </p:txBody>
      </p:sp>
      <p:sp>
        <p:nvSpPr>
          <p:cNvPr id="642" name="Google Shape;642;p41"/>
          <p:cNvSpPr txBox="1"/>
          <p:nvPr/>
        </p:nvSpPr>
        <p:spPr>
          <a:xfrm>
            <a:off x="4870788" y="3282075"/>
            <a:ext cx="160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Find most relevant document passages based on query similarity.</a:t>
            </a:r>
            <a:endParaRPr sz="1200"/>
          </a:p>
        </p:txBody>
      </p:sp>
      <p:pic>
        <p:nvPicPr>
          <p:cNvPr id="643" name="Google Shape;643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0804" y="2702950"/>
            <a:ext cx="511500" cy="511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1"/>
          <p:cNvSpPr txBox="1"/>
          <p:nvPr/>
        </p:nvSpPr>
        <p:spPr>
          <a:xfrm>
            <a:off x="7490025" y="2681650"/>
            <a:ext cx="129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Feed to LLM 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for processing</a:t>
            </a:r>
            <a:endParaRPr b="1" sz="1200"/>
          </a:p>
        </p:txBody>
      </p:sp>
      <p:sp>
        <p:nvSpPr>
          <p:cNvPr id="645" name="Google Shape;645;p41"/>
          <p:cNvSpPr txBox="1"/>
          <p:nvPr/>
        </p:nvSpPr>
        <p:spPr>
          <a:xfrm>
            <a:off x="7036600" y="3341475"/>
            <a:ext cx="160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Combine query with retrieved passages to create context rich prompt.</a:t>
            </a:r>
            <a:endParaRPr sz="1200"/>
          </a:p>
        </p:txBody>
      </p:sp>
      <p:pic>
        <p:nvPicPr>
          <p:cNvPr id="646" name="Google Shape;646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36600" y="2702924"/>
            <a:ext cx="511500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1"/>
          <p:cNvSpPr txBox="1"/>
          <p:nvPr/>
        </p:nvSpPr>
        <p:spPr>
          <a:xfrm>
            <a:off x="9640350" y="2555175"/>
            <a:ext cx="123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</a:rPr>
              <a:t>Generate grounded answer</a:t>
            </a:r>
            <a:endParaRPr b="1" sz="1200"/>
          </a:p>
        </p:txBody>
      </p:sp>
      <p:sp>
        <p:nvSpPr>
          <p:cNvPr id="648" name="Google Shape;648;p41"/>
          <p:cNvSpPr txBox="1"/>
          <p:nvPr/>
        </p:nvSpPr>
        <p:spPr>
          <a:xfrm>
            <a:off x="9202250" y="3341475"/>
            <a:ext cx="1602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LLM produces responses based on retrieved information rather than hallucinating.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649" name="Google Shape;649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93284" y="2720287"/>
            <a:ext cx="476826" cy="47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4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63650" y="1764988"/>
            <a:ext cx="476826" cy="47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4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61425" y="1764997"/>
            <a:ext cx="476826" cy="476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4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382300" y="1793287"/>
            <a:ext cx="511500" cy="51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4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490025" y="1831875"/>
            <a:ext cx="511500" cy="51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4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640350" y="1849213"/>
            <a:ext cx="476826" cy="47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2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/>
          </a:p>
        </p:txBody>
      </p:sp>
      <p:sp>
        <p:nvSpPr>
          <p:cNvPr id="660" name="Google Shape;660;p42"/>
          <p:cNvSpPr txBox="1"/>
          <p:nvPr/>
        </p:nvSpPr>
        <p:spPr>
          <a:xfrm>
            <a:off x="328255" y="433783"/>
            <a:ext cx="886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RAG System -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Architecture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661" name="Google Shape;661;p42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2" name="Google Shape;66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688" y="1284975"/>
            <a:ext cx="11602625" cy="3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2"/>
          <p:cNvSpPr txBox="1"/>
          <p:nvPr/>
        </p:nvSpPr>
        <p:spPr>
          <a:xfrm>
            <a:off x="671125" y="5204675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End-to-End Pipeline </a:t>
            </a:r>
            <a:br>
              <a:rPr lang="en-US" sz="1200"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The RAG system integrates multiple components to retrieve and generate accurate information.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p42"/>
          <p:cNvSpPr txBox="1"/>
          <p:nvPr/>
        </p:nvSpPr>
        <p:spPr>
          <a:xfrm>
            <a:off x="4194475" y="5204675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Data Flow </a:t>
            </a:r>
            <a:br>
              <a:rPr b="1" lang="en-US" sz="1200"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Documents are encoded as embeddings, stored in vector indices, retrieved when relevant, and used to ground the LLM's responses.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5" name="Google Shape;665;p42"/>
          <p:cNvSpPr txBox="1"/>
          <p:nvPr/>
        </p:nvSpPr>
        <p:spPr>
          <a:xfrm>
            <a:off x="8079288" y="5204675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Modular Design </a:t>
            </a:r>
            <a:br>
              <a:rPr lang="en-US" sz="1200"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Each component can be optimized independently, allowing for flexible implementation across different use cases and domains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3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  <a:endParaRPr/>
          </a:p>
        </p:txBody>
      </p:sp>
      <p:sp>
        <p:nvSpPr>
          <p:cNvPr id="671" name="Google Shape;671;p43"/>
          <p:cNvSpPr txBox="1"/>
          <p:nvPr/>
        </p:nvSpPr>
        <p:spPr>
          <a:xfrm>
            <a:off x="328255" y="433783"/>
            <a:ext cx="886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FAISS –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Vector Search Engine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672" name="Google Shape;672;p43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3" name="Google Shape;67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9000" y="636925"/>
            <a:ext cx="4181900" cy="599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43"/>
          <p:cNvSpPr txBox="1"/>
          <p:nvPr/>
        </p:nvSpPr>
        <p:spPr>
          <a:xfrm>
            <a:off x="1209425" y="1464300"/>
            <a:ext cx="4411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Fast AI Similarity Search 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FAISS = Facebook AI Similarity Search: 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a library for efficient similarity search and clustering of dense vectors.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5" name="Google Shape;675;p43"/>
          <p:cNvSpPr txBox="1"/>
          <p:nvPr/>
        </p:nvSpPr>
        <p:spPr>
          <a:xfrm>
            <a:off x="1181100" y="3202800"/>
            <a:ext cx="4488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Scalable Vector Search 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Finds top-matching chunks from millions of documents in milliseconds through optimized indexing.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6" name="Google Shape;676;p43"/>
          <p:cNvSpPr txBox="1"/>
          <p:nvPr/>
        </p:nvSpPr>
        <p:spPr>
          <a:xfrm>
            <a:off x="1181100" y="4907525"/>
            <a:ext cx="4411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Key Features 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Billion-scale vector similarity search 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Efficient nearest neighbor algorithms 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GPU acceleration for faster processing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77" name="Google Shape;67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700" y="1584100"/>
            <a:ext cx="303850" cy="30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2325" y="331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7075" y="4970050"/>
            <a:ext cx="303850" cy="30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44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08</a:t>
            </a:r>
            <a:endParaRPr/>
          </a:p>
        </p:txBody>
      </p:sp>
      <p:sp>
        <p:nvSpPr>
          <p:cNvPr id="685" name="Google Shape;685;p44"/>
          <p:cNvSpPr txBox="1"/>
          <p:nvPr/>
        </p:nvSpPr>
        <p:spPr>
          <a:xfrm>
            <a:off x="328255" y="433783"/>
            <a:ext cx="886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Gemini Embeddings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686" name="Google Shape;686;p44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7" name="Google Shape;68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6648" y="1204586"/>
            <a:ext cx="5524500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6648" y="3027015"/>
            <a:ext cx="5601300" cy="3065475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44"/>
          <p:cNvSpPr txBox="1"/>
          <p:nvPr/>
        </p:nvSpPr>
        <p:spPr>
          <a:xfrm>
            <a:off x="782976" y="1370212"/>
            <a:ext cx="3998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Converts text → vectors </a:t>
            </a:r>
            <a:br>
              <a:rPr b="1"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Transforms text documents and queries into numerical vector representations that computers can process efficiently.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0" name="Google Shape;690;p44"/>
          <p:cNvSpPr txBox="1"/>
          <p:nvPr/>
        </p:nvSpPr>
        <p:spPr>
          <a:xfrm>
            <a:off x="782976" y="2764887"/>
            <a:ext cx="3907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Captures semantic meaning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Similar concepts appear close together in vector space, even when using different words or phrasing.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1" name="Google Shape;691;p44"/>
          <p:cNvSpPr txBox="1"/>
          <p:nvPr/>
        </p:nvSpPr>
        <p:spPr>
          <a:xfrm>
            <a:off x="782976" y="4096612"/>
            <a:ext cx="4739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Why Gemini?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Reliable, optimized embeddings with state-of-the-art performance. 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High-dimensional representations </a:t>
            </a:r>
            <a:r>
              <a:rPr lang="en-US" sz="900">
                <a:latin typeface="Poppins"/>
                <a:ea typeface="Poppins"/>
                <a:cs typeface="Poppins"/>
                <a:sym typeface="Poppins"/>
              </a:rPr>
              <a:t>(up to 768 dimensions)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Context-aware understanding of language 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Optimized for retrieval tasks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92" name="Google Shape;692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476" y="1492360"/>
            <a:ext cx="339775" cy="33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5000" y="2890700"/>
            <a:ext cx="446725" cy="44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4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5000" y="4137150"/>
            <a:ext cx="446725" cy="44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5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09</a:t>
            </a:r>
            <a:endParaRPr/>
          </a:p>
        </p:txBody>
      </p:sp>
      <p:sp>
        <p:nvSpPr>
          <p:cNvPr id="700" name="Google Shape;700;p45"/>
          <p:cNvSpPr txBox="1"/>
          <p:nvPr/>
        </p:nvSpPr>
        <p:spPr>
          <a:xfrm>
            <a:off x="328250" y="433775"/>
            <a:ext cx="339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Retrieval Step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701" name="Google Shape;701;p45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2" name="Google Shape;70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2650" y="1146525"/>
            <a:ext cx="4680225" cy="5127826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45"/>
          <p:cNvSpPr txBox="1"/>
          <p:nvPr/>
        </p:nvSpPr>
        <p:spPr>
          <a:xfrm>
            <a:off x="873850" y="1195425"/>
            <a:ext cx="5358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Query to Documents Process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The retrieval step transforms user queries into embeddings, then finds the most semantically similar documents in the vector database.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4" name="Google Shape;704;p45"/>
          <p:cNvSpPr txBox="1"/>
          <p:nvPr/>
        </p:nvSpPr>
        <p:spPr>
          <a:xfrm>
            <a:off x="873850" y="4096625"/>
            <a:ext cx="56286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Example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Query: 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"ETF advantages"</a:t>
            </a:r>
            <a:b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System retrieves top-3 passages containing relevant information about ETF benefits, tax advantages, and trading flexibility.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05" name="Google Shape;70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650" y="2882853"/>
            <a:ext cx="5384599" cy="788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69368">
            <a:off x="520025" y="1505914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3975" y="4161100"/>
            <a:ext cx="276900" cy="27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6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endParaRPr/>
          </a:p>
        </p:txBody>
      </p:sp>
      <p:sp>
        <p:nvSpPr>
          <p:cNvPr id="713" name="Google Shape;713;p46"/>
          <p:cNvSpPr txBox="1"/>
          <p:nvPr/>
        </p:nvSpPr>
        <p:spPr>
          <a:xfrm>
            <a:off x="328250" y="433775"/>
            <a:ext cx="339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Feeding into LLM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714" name="Google Shape;714;p46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46"/>
          <p:cNvSpPr txBox="1"/>
          <p:nvPr/>
        </p:nvSpPr>
        <p:spPr>
          <a:xfrm>
            <a:off x="873850" y="1536900"/>
            <a:ext cx="5358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Combining Components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Merge user query with retrieved text chunks into a structured prompt that the LLM can process effectively.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6" name="Google Shape;716;p46"/>
          <p:cNvSpPr txBox="1"/>
          <p:nvPr/>
        </p:nvSpPr>
        <p:spPr>
          <a:xfrm>
            <a:off x="873850" y="4648950"/>
            <a:ext cx="562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Benefits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Well-structured prompts improve accuracy and reduce hallucinations by giving the LLM clear boundaries and reliable source material.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7" name="Google Shape;71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0350" y="1226800"/>
            <a:ext cx="4627624" cy="5285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46"/>
          <p:cNvSpPr txBox="1"/>
          <p:nvPr/>
        </p:nvSpPr>
        <p:spPr>
          <a:xfrm>
            <a:off x="873850" y="2769825"/>
            <a:ext cx="3835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Prompt Structure 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Create clear separation between: 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User query 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Retrieved context 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Instructions for LLM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9" name="Google Shape;71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875" y="1606875"/>
            <a:ext cx="338476" cy="338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1663" y="2899200"/>
            <a:ext cx="276900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875" y="4758425"/>
            <a:ext cx="338476" cy="33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7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  <a:endParaRPr/>
          </a:p>
        </p:txBody>
      </p:sp>
      <p:sp>
        <p:nvSpPr>
          <p:cNvPr id="727" name="Google Shape;727;p47"/>
          <p:cNvSpPr txBox="1"/>
          <p:nvPr/>
        </p:nvSpPr>
        <p:spPr>
          <a:xfrm>
            <a:off x="328250" y="433775"/>
            <a:ext cx="590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RAG Prompt Engineering Tips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728" name="Google Shape;728;p47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47"/>
          <p:cNvSpPr txBox="1"/>
          <p:nvPr/>
        </p:nvSpPr>
        <p:spPr>
          <a:xfrm>
            <a:off x="873850" y="1764550"/>
            <a:ext cx="5034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Separate retrieved context clearly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Use clear formatting to distinguish between retrieved information and user query in your prompt.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0" name="Google Shape;730;p47"/>
          <p:cNvSpPr txBox="1"/>
          <p:nvPr/>
        </p:nvSpPr>
        <p:spPr>
          <a:xfrm>
            <a:off x="873850" y="4648950"/>
            <a:ext cx="5034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Avoid too many chunks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More isn't always better - focus on quality and relevance of retrieved content to stay within token limits.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1" name="Google Shape;731;p47"/>
          <p:cNvSpPr txBox="1"/>
          <p:nvPr/>
        </p:nvSpPr>
        <p:spPr>
          <a:xfrm>
            <a:off x="843050" y="3199636"/>
            <a:ext cx="4732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Tell LLM: 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"Use only provided context"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Explicit instructions prevent the model from adding outside information and reduce hallucinations.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32" name="Google Shape;73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6050" y="909625"/>
            <a:ext cx="4878550" cy="5756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3" name="Google Shape;73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875" y="1899626"/>
            <a:ext cx="327775" cy="327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313" y="3292104"/>
            <a:ext cx="276900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6325" y="4828225"/>
            <a:ext cx="276876" cy="276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48"/>
          <p:cNvSpPr txBox="1"/>
          <p:nvPr/>
        </p:nvSpPr>
        <p:spPr>
          <a:xfrm>
            <a:off x="4493825" y="3013200"/>
            <a:ext cx="26751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Poppins"/>
              <a:buAutoNum type="arabicPeriod"/>
            </a:pPr>
            <a:r>
              <a:rPr b="1" lang="en-US" sz="3000">
                <a:latin typeface="Poppins"/>
                <a:ea typeface="Poppins"/>
                <a:cs typeface="Poppins"/>
                <a:sym typeface="Poppins"/>
              </a:rPr>
              <a:t>Practice</a:t>
            </a:r>
            <a:endParaRPr b="1" sz="3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1" name="Google Shape;741;p48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9"/>
          <p:cNvSpPr/>
          <p:nvPr/>
        </p:nvSpPr>
        <p:spPr>
          <a:xfrm>
            <a:off x="739875" y="2945250"/>
            <a:ext cx="6160800" cy="167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49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13</a:t>
            </a:r>
            <a:endParaRPr/>
          </a:p>
        </p:txBody>
      </p:sp>
      <p:sp>
        <p:nvSpPr>
          <p:cNvPr id="748" name="Google Shape;748;p49"/>
          <p:cNvSpPr txBox="1"/>
          <p:nvPr/>
        </p:nvSpPr>
        <p:spPr>
          <a:xfrm>
            <a:off x="328250" y="433775"/>
            <a:ext cx="662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Practice 1: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Retrieval with FAISS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749" name="Google Shape;749;p49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49"/>
          <p:cNvSpPr txBox="1"/>
          <p:nvPr/>
        </p:nvSpPr>
        <p:spPr>
          <a:xfrm>
            <a:off x="697200" y="1131125"/>
            <a:ext cx="5051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Task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Run a sample query:</a:t>
            </a:r>
            <a:r>
              <a:rPr lang="en-US"/>
              <a:t> 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"Mutual fund tax benefits"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Follow the steps below to complete this exercise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51" name="Google Shape;75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300" y="1222550"/>
            <a:ext cx="276900" cy="2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49"/>
          <p:cNvSpPr txBox="1"/>
          <p:nvPr/>
        </p:nvSpPr>
        <p:spPr>
          <a:xfrm>
            <a:off x="739875" y="3093150"/>
            <a:ext cx="6829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1" lang="en-US" sz="1200">
                <a:latin typeface="Courier New"/>
                <a:ea typeface="Courier New"/>
                <a:cs typeface="Courier New"/>
                <a:sym typeface="Courier New"/>
              </a:rPr>
              <a:t> faiss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Courier New"/>
                <a:ea typeface="Courier New"/>
                <a:cs typeface="Courier New"/>
                <a:sym typeface="Courier New"/>
              </a:rPr>
              <a:t> from google.generativeai </a:t>
            </a: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1" lang="en-US" sz="1200">
                <a:latin typeface="Courier New"/>
                <a:ea typeface="Courier New"/>
                <a:cs typeface="Courier New"/>
                <a:sym typeface="Courier New"/>
              </a:rPr>
              <a:t>embed_content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 # Convert query to embedding vector</a:t>
            </a:r>
            <a:endParaRPr b="1" sz="1200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Courier New"/>
                <a:ea typeface="Courier New"/>
                <a:cs typeface="Courier New"/>
                <a:sym typeface="Courier New"/>
              </a:rPr>
              <a:t> query_embedding = embed_content(query="Mutual fund tax benefits")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 # Search FAISS index</a:t>
            </a:r>
            <a:endParaRPr b="1" sz="12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Courier New"/>
                <a:ea typeface="Courier New"/>
                <a:cs typeface="Courier New"/>
                <a:sym typeface="Courier New"/>
              </a:rPr>
              <a:t> D, I = index.search(query_embedding, k=3)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3" name="Google Shape;753;p49"/>
          <p:cNvSpPr txBox="1"/>
          <p:nvPr/>
        </p:nvSpPr>
        <p:spPr>
          <a:xfrm>
            <a:off x="747000" y="2292600"/>
            <a:ext cx="4894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Procedure: </a:t>
            </a:r>
            <a:br>
              <a:rPr b="1"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Use FAISS search with Gemini embeddings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4" name="Google Shape;754;p49"/>
          <p:cNvSpPr txBox="1"/>
          <p:nvPr/>
        </p:nvSpPr>
        <p:spPr>
          <a:xfrm>
            <a:off x="7064325" y="2329650"/>
            <a:ext cx="5292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Inspect top-3 passages 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Review the retrieved passages and their relevance scores: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55" name="Google Shape;75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9400" y="2945249"/>
            <a:ext cx="2410025" cy="181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49"/>
          <p:cNvSpPr txBox="1"/>
          <p:nvPr/>
        </p:nvSpPr>
        <p:spPr>
          <a:xfrm>
            <a:off x="3389350" y="4965900"/>
            <a:ext cx="6598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Reflection</a:t>
            </a:r>
            <a:br>
              <a:rPr b="1" lang="en-US">
                <a:latin typeface="Poppins"/>
                <a:ea typeface="Poppins"/>
                <a:cs typeface="Poppins"/>
                <a:sym typeface="Poppins"/>
              </a:rPr>
            </a:br>
            <a:br>
              <a:rPr b="1"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Consider the Following questions: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Were the retrieved passages relevant to the query?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Did the embedding capture the semantic meaning correctly?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How would you improve the retrieval results?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57" name="Google Shape;757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76000" y="5470750"/>
            <a:ext cx="313350" cy="31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0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14</a:t>
            </a:r>
            <a:endParaRPr/>
          </a:p>
        </p:txBody>
      </p:sp>
      <p:sp>
        <p:nvSpPr>
          <p:cNvPr id="763" name="Google Shape;763;p50"/>
          <p:cNvSpPr txBox="1"/>
          <p:nvPr/>
        </p:nvSpPr>
        <p:spPr>
          <a:xfrm>
            <a:off x="328250" y="433775"/>
            <a:ext cx="590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Common Issues in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RAG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764" name="Google Shape;764;p50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50"/>
          <p:cNvSpPr txBox="1"/>
          <p:nvPr/>
        </p:nvSpPr>
        <p:spPr>
          <a:xfrm>
            <a:off x="774252" y="1437301"/>
            <a:ext cx="4909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Irrelevant chunks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Retrieval system may return passages that aren't relevant to the query, leading to off-topic responses.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6" name="Google Shape;766;p50"/>
          <p:cNvSpPr txBox="1"/>
          <p:nvPr/>
        </p:nvSpPr>
        <p:spPr>
          <a:xfrm>
            <a:off x="774252" y="4841031"/>
            <a:ext cx="5034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LLM hallucinations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LLMs may still generate inaccurate information even with retrieved context, especially when context is ambiguous.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7" name="Google Shape;767;p50"/>
          <p:cNvSpPr txBox="1"/>
          <p:nvPr/>
        </p:nvSpPr>
        <p:spPr>
          <a:xfrm>
            <a:off x="743452" y="3014669"/>
            <a:ext cx="4732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Token overflow </a:t>
            </a:r>
            <a:br>
              <a:rPr b="1"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Retrieved chunks may exceed LLM context window limits, causing important information to be truncated.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68" name="Google Shape;76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715" y="3107137"/>
            <a:ext cx="276900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2980" y="581700"/>
            <a:ext cx="5109296" cy="5930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940" y="1543276"/>
            <a:ext cx="446450" cy="44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6728" y="4937206"/>
            <a:ext cx="276876" cy="276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51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/>
          </a:p>
        </p:txBody>
      </p:sp>
      <p:sp>
        <p:nvSpPr>
          <p:cNvPr id="777" name="Google Shape;777;p51"/>
          <p:cNvSpPr txBox="1"/>
          <p:nvPr/>
        </p:nvSpPr>
        <p:spPr>
          <a:xfrm>
            <a:off x="328250" y="433775"/>
            <a:ext cx="442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Improving Retrieval</a:t>
            </a:r>
            <a:endParaRPr b="1" sz="30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8" name="Google Shape;778;p51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51"/>
          <p:cNvSpPr txBox="1"/>
          <p:nvPr/>
        </p:nvSpPr>
        <p:spPr>
          <a:xfrm>
            <a:off x="774250" y="1437300"/>
            <a:ext cx="4227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Right chunk size matters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latin typeface="Poppins"/>
                <a:ea typeface="Poppins"/>
                <a:cs typeface="Poppins"/>
                <a:sym typeface="Poppins"/>
              </a:rPr>
              <a:t>Too small: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loses context. 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 u="sng">
                <a:latin typeface="Poppins"/>
                <a:ea typeface="Poppins"/>
                <a:cs typeface="Poppins"/>
                <a:sym typeface="Poppins"/>
              </a:rPr>
              <a:t>Too large: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dilutes relevance. 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Find the optimal balance (typically 100-1000 tokens) for your use case.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0" name="Google Shape;780;p51"/>
          <p:cNvSpPr txBox="1"/>
          <p:nvPr/>
        </p:nvSpPr>
        <p:spPr>
          <a:xfrm>
            <a:off x="774251" y="4841025"/>
            <a:ext cx="3978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Balance precision vs recall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latin typeface="Poppins"/>
                <a:ea typeface="Poppins"/>
                <a:cs typeface="Poppins"/>
                <a:sym typeface="Poppins"/>
              </a:rPr>
              <a:t>Precision: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fewer but more relevant results. </a:t>
            </a:r>
            <a:r>
              <a:rPr lang="en-US" u="sng">
                <a:latin typeface="Poppins"/>
                <a:ea typeface="Poppins"/>
                <a:cs typeface="Poppins"/>
                <a:sym typeface="Poppins"/>
              </a:rPr>
              <a:t>Recall: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more results to avoid missing information. Adjust based on your application needs.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1" name="Google Shape;781;p51"/>
          <p:cNvSpPr txBox="1"/>
          <p:nvPr/>
        </p:nvSpPr>
        <p:spPr>
          <a:xfrm>
            <a:off x="743450" y="3014675"/>
            <a:ext cx="4008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Metadata filtering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Enhance retrieval by filtering on document properties: date, source, author, category, etc. 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Narrows search space for more relevant results.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82" name="Google Shape;78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9327" y="1145225"/>
            <a:ext cx="6078647" cy="5539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725" y="4992900"/>
            <a:ext cx="276900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6725" y="3152100"/>
            <a:ext cx="276900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6412" y="1525200"/>
            <a:ext cx="357524" cy="357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52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16</a:t>
            </a:r>
            <a:endParaRPr/>
          </a:p>
        </p:txBody>
      </p:sp>
      <p:sp>
        <p:nvSpPr>
          <p:cNvPr id="791" name="Google Shape;791;p52"/>
          <p:cNvSpPr txBox="1"/>
          <p:nvPr/>
        </p:nvSpPr>
        <p:spPr>
          <a:xfrm>
            <a:off x="328250" y="433775"/>
            <a:ext cx="487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Why Evaluate RAG?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792" name="Google Shape;792;p52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52"/>
          <p:cNvSpPr txBox="1"/>
          <p:nvPr/>
        </p:nvSpPr>
        <p:spPr>
          <a:xfrm>
            <a:off x="1919600" y="1842775"/>
            <a:ext cx="810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Moving beyond qualitative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assessment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to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measurable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performance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94" name="Google Shape;79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625" y="2601700"/>
            <a:ext cx="3800475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6600" y="2592175"/>
            <a:ext cx="3810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52"/>
          <p:cNvSpPr txBox="1"/>
          <p:nvPr/>
        </p:nvSpPr>
        <p:spPr>
          <a:xfrm>
            <a:off x="5577450" y="3955450"/>
            <a:ext cx="5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Vs.</a:t>
            </a:r>
            <a:endParaRPr b="1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53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17</a:t>
            </a:r>
            <a:endParaRPr/>
          </a:p>
        </p:txBody>
      </p:sp>
      <p:sp>
        <p:nvSpPr>
          <p:cNvPr id="802" name="Google Shape;802;p53"/>
          <p:cNvSpPr txBox="1"/>
          <p:nvPr/>
        </p:nvSpPr>
        <p:spPr>
          <a:xfrm>
            <a:off x="328250" y="433775"/>
            <a:ext cx="539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Evaluation Techniques</a:t>
            </a:r>
            <a:endParaRPr b="1" sz="30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3" name="Google Shape;803;p53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53"/>
          <p:cNvSpPr txBox="1"/>
          <p:nvPr/>
        </p:nvSpPr>
        <p:spPr>
          <a:xfrm>
            <a:off x="745225" y="1487100"/>
            <a:ext cx="4227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Human Review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Expert evaluators assess responses for: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Quality and helpfulness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Factual correctness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Alignment with retrieved context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5" name="Google Shape;805;p53"/>
          <p:cNvSpPr txBox="1"/>
          <p:nvPr/>
        </p:nvSpPr>
        <p:spPr>
          <a:xfrm>
            <a:off x="745225" y="3429000"/>
            <a:ext cx="4612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Automatic Metrics </a:t>
            </a:r>
            <a:br>
              <a:rPr b="1"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Quantitative measures to evaluate RAG system performance: 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Relevance - Does the response address the query? 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Faithfulness - Is the response consistent with retrieved context?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Accuracy - Is the information factually correct?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6" name="Google Shape;80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9850" y="268700"/>
            <a:ext cx="5171851" cy="6105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475" y="1622025"/>
            <a:ext cx="307425" cy="30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324" y="3521475"/>
            <a:ext cx="307425" cy="307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54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/>
          </a:p>
        </p:txBody>
      </p:sp>
      <p:sp>
        <p:nvSpPr>
          <p:cNvPr id="814" name="Google Shape;814;p54"/>
          <p:cNvSpPr txBox="1"/>
          <p:nvPr/>
        </p:nvSpPr>
        <p:spPr>
          <a:xfrm>
            <a:off x="328250" y="433775"/>
            <a:ext cx="539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Evaluation Examples</a:t>
            </a:r>
            <a:endParaRPr b="1" sz="30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54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54"/>
          <p:cNvSpPr txBox="1"/>
          <p:nvPr/>
        </p:nvSpPr>
        <p:spPr>
          <a:xfrm>
            <a:off x="716750" y="2317863"/>
            <a:ext cx="4647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Without RAG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Generates vague, potentially hallucinated information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Generic answers not specific to your data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May confidently state incorrect information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Outdated or incomplete knowledge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54"/>
          <p:cNvSpPr txBox="1"/>
          <p:nvPr/>
        </p:nvSpPr>
        <p:spPr>
          <a:xfrm>
            <a:off x="228900" y="1053700"/>
            <a:ext cx="5135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Side-by-Side Evaluation</a:t>
            </a:r>
            <a:r>
              <a:rPr lang="en-US"/>
              <a:t> </a:t>
            </a:r>
            <a:br>
              <a:rPr lang="en-US"/>
            </a:br>
            <a:br>
              <a:rPr lang="en-US"/>
            </a:br>
            <a:r>
              <a:rPr lang="en-US"/>
              <a:t>Compare the quality and accuracy of answers from systems with and without RAG integration:</a:t>
            </a:r>
            <a:endParaRPr/>
          </a:p>
        </p:txBody>
      </p:sp>
      <p:sp>
        <p:nvSpPr>
          <p:cNvPr id="818" name="Google Shape;818;p54"/>
          <p:cNvSpPr txBox="1"/>
          <p:nvPr/>
        </p:nvSpPr>
        <p:spPr>
          <a:xfrm>
            <a:off x="716750" y="4197925"/>
            <a:ext cx="47895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With 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RAG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Produces specific, grounded answers from your data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Cites specific sources and references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Acknowledges limitations when information is missing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Stays current with your latest documents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19" name="Google Shape;81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7350" y="433775"/>
            <a:ext cx="5233325" cy="6374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750" y="4274300"/>
            <a:ext cx="276900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8750" y="2441475"/>
            <a:ext cx="276900" cy="27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55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20</a:t>
            </a:r>
            <a:endParaRPr/>
          </a:p>
        </p:txBody>
      </p:sp>
      <p:sp>
        <p:nvSpPr>
          <p:cNvPr id="827" name="Google Shape;827;p55"/>
          <p:cNvSpPr txBox="1"/>
          <p:nvPr/>
        </p:nvSpPr>
        <p:spPr>
          <a:xfrm>
            <a:off x="328250" y="433775"/>
            <a:ext cx="777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Practice 2: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Evaluate RAG Answers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828" name="Google Shape;828;p55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55"/>
          <p:cNvSpPr txBox="1"/>
          <p:nvPr/>
        </p:nvSpPr>
        <p:spPr>
          <a:xfrm>
            <a:off x="888750" y="1655950"/>
            <a:ext cx="10302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Task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Compare two answers (with vs without RAG) for the query: 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"What are the key investment strategies in our 2025 financial outlook?".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Judge which answer performs better across three evaluation criteria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30" name="Google Shape;83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850" y="1789925"/>
            <a:ext cx="276900" cy="2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55"/>
          <p:cNvSpPr/>
          <p:nvPr/>
        </p:nvSpPr>
        <p:spPr>
          <a:xfrm>
            <a:off x="611850" y="3013325"/>
            <a:ext cx="5125500" cy="3102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2" name="Google Shape;832;p55"/>
          <p:cNvSpPr txBox="1"/>
          <p:nvPr/>
        </p:nvSpPr>
        <p:spPr>
          <a:xfrm>
            <a:off x="758875" y="3225625"/>
            <a:ext cx="48012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Without RAG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key investment strategies in our 2025 financial outlook include diversification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across asset classes, focus on emerging markets, investment in technology sectors,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particularly AI and renewable energy, and maintaining liquidity for potential market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corrections. We recommend a balanced approach between stocks and bonds with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approximately 60/40 allocation depending on risk tolerance.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3" name="Google Shape;833;p55"/>
          <p:cNvSpPr/>
          <p:nvPr/>
        </p:nvSpPr>
        <p:spPr>
          <a:xfrm>
            <a:off x="6398900" y="3013325"/>
            <a:ext cx="5125500" cy="3102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4" name="Google Shape;834;p55"/>
          <p:cNvSpPr txBox="1"/>
          <p:nvPr/>
        </p:nvSpPr>
        <p:spPr>
          <a:xfrm>
            <a:off x="6525575" y="3098575"/>
            <a:ext cx="50415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 RAG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According to our 2025 Financial Outlook document (updated March 2025), our key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investment strategies are: (1) Defensive positioning in high-quality bonds (40%), (2)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Selective exposure to value stocks in healthcare and consumer staples (35%), (3)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Strategic allocations to gold and inflation-protected securities (15%), and (4) Cash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reserves for opportunistic purchases during volatility (10%). The document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specifically cautions against overexposure to emerging markets due to projected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currency instabilities.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56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21</a:t>
            </a:r>
            <a:endParaRPr/>
          </a:p>
        </p:txBody>
      </p:sp>
      <p:sp>
        <p:nvSpPr>
          <p:cNvPr id="840" name="Google Shape;840;p56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56"/>
          <p:cNvSpPr txBox="1"/>
          <p:nvPr/>
        </p:nvSpPr>
        <p:spPr>
          <a:xfrm>
            <a:off x="1063825" y="1952950"/>
            <a:ext cx="49149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Poppins"/>
                <a:ea typeface="Poppins"/>
                <a:cs typeface="Poppins"/>
                <a:sym typeface="Poppins"/>
              </a:rPr>
              <a:t>Evaluation Criteria:</a:t>
            </a:r>
            <a:r>
              <a:rPr lang="en-US" sz="1800">
                <a:latin typeface="Poppins"/>
                <a:ea typeface="Poppins"/>
                <a:cs typeface="Poppins"/>
                <a:sym typeface="Poppins"/>
              </a:rPr>
              <a:t>  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Relevance 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Does the answer directly address the query about investment strategies?  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Accuracy 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Does the answer contain correct information from company documents? 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Faithfulness to Context 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Is the answer grounded in the provided context without hallucination?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2" name="Google Shape;842;p56"/>
          <p:cNvSpPr txBox="1"/>
          <p:nvPr/>
        </p:nvSpPr>
        <p:spPr>
          <a:xfrm>
            <a:off x="6842725" y="1981325"/>
            <a:ext cx="44256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Poppins"/>
                <a:ea typeface="Poppins"/>
                <a:cs typeface="Poppins"/>
                <a:sym typeface="Poppins"/>
              </a:rPr>
              <a:t>Reflection Questions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:  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Which answer provides more specific investment allocation percentages?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Which answer appears to reference actual company documentation?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Which answer provides insights that could only come from company-specific knowledge?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3" name="Google Shape;84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7275" y="2028350"/>
            <a:ext cx="415450" cy="41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350" y="2563525"/>
            <a:ext cx="276900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7350" y="3372025"/>
            <a:ext cx="276900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7350" y="4180525"/>
            <a:ext cx="276900" cy="27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57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22</a:t>
            </a:r>
            <a:endParaRPr/>
          </a:p>
        </p:txBody>
      </p:sp>
      <p:sp>
        <p:nvSpPr>
          <p:cNvPr id="852" name="Google Shape;852;p57"/>
          <p:cNvSpPr txBox="1"/>
          <p:nvPr/>
        </p:nvSpPr>
        <p:spPr>
          <a:xfrm>
            <a:off x="328250" y="433775"/>
            <a:ext cx="484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Automating 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Evaluation</a:t>
            </a:r>
            <a:endParaRPr b="1" sz="30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3" name="Google Shape;853;p57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57"/>
          <p:cNvSpPr txBox="1"/>
          <p:nvPr/>
        </p:nvSpPr>
        <p:spPr>
          <a:xfrm>
            <a:off x="774250" y="1437300"/>
            <a:ext cx="4227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Keyword overlap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Compares words in the answer with words in the retrieved context.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 Simple but effective baseline metric.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5" name="Google Shape;855;p57"/>
          <p:cNvSpPr txBox="1"/>
          <p:nvPr/>
        </p:nvSpPr>
        <p:spPr>
          <a:xfrm>
            <a:off x="774251" y="4841025"/>
            <a:ext cx="3978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LLM-as-a-judge (advanced)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Uses another LLM to evaluate quality across multiple dimensions like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 relevance, factual accuracy, and hallucination detection.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6" name="Google Shape;856;p57"/>
          <p:cNvSpPr txBox="1"/>
          <p:nvPr/>
        </p:nvSpPr>
        <p:spPr>
          <a:xfrm>
            <a:off x="743450" y="3014675"/>
            <a:ext cx="4008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Embedding similarity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Measures semantic closeness between response and source using vector embeddings. Captures meaning beyond exact words.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7" name="Google Shape;85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725" y="4992900"/>
            <a:ext cx="276900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725" y="1560875"/>
            <a:ext cx="276900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6726" y="3109529"/>
            <a:ext cx="276900" cy="276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7300" y="1437288"/>
            <a:ext cx="6885949" cy="4820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58"/>
          <p:cNvSpPr txBox="1"/>
          <p:nvPr/>
        </p:nvSpPr>
        <p:spPr>
          <a:xfrm>
            <a:off x="4493825" y="3013200"/>
            <a:ext cx="26751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Poppins"/>
                <a:ea typeface="Poppins"/>
                <a:cs typeface="Poppins"/>
                <a:sym typeface="Poppins"/>
              </a:rPr>
              <a:t>2. </a:t>
            </a:r>
            <a:r>
              <a:rPr b="1" lang="en-US" sz="3000">
                <a:latin typeface="Poppins"/>
                <a:ea typeface="Poppins"/>
                <a:cs typeface="Poppins"/>
                <a:sym typeface="Poppins"/>
              </a:rPr>
              <a:t>Practice</a:t>
            </a:r>
            <a:endParaRPr b="1" sz="3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6" name="Google Shape;866;p58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19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9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23</a:t>
            </a:r>
            <a:endParaRPr/>
          </a:p>
        </p:txBody>
      </p:sp>
      <p:sp>
        <p:nvSpPr>
          <p:cNvPr id="872" name="Google Shape;872;p59"/>
          <p:cNvSpPr txBox="1"/>
          <p:nvPr/>
        </p:nvSpPr>
        <p:spPr>
          <a:xfrm>
            <a:off x="328250" y="433775"/>
            <a:ext cx="484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Benefits of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RAG</a:t>
            </a:r>
            <a:endParaRPr b="1" sz="3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3" name="Google Shape;873;p59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59"/>
          <p:cNvSpPr txBox="1"/>
          <p:nvPr/>
        </p:nvSpPr>
        <p:spPr>
          <a:xfrm>
            <a:off x="774250" y="1437300"/>
            <a:ext cx="4227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Reduces hallucinations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Grounds LLM responses in retrieved knowledge rather than generating information from parameters alone.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5" name="Google Shape;875;p59"/>
          <p:cNvSpPr txBox="1"/>
          <p:nvPr/>
        </p:nvSpPr>
        <p:spPr>
          <a:xfrm>
            <a:off x="763701" y="4692100"/>
            <a:ext cx="3978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Flexible across domains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Same architecture works for any knowledge domain by simply changing the document corpus.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6" name="Google Shape;876;p59"/>
          <p:cNvSpPr txBox="1"/>
          <p:nvPr/>
        </p:nvSpPr>
        <p:spPr>
          <a:xfrm>
            <a:off x="743450" y="3092687"/>
            <a:ext cx="4008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Keeps answers updated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External knowledge base can be regularly updated without retraining the entire model.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7" name="Google Shape;87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9550" y="152400"/>
            <a:ext cx="5503415" cy="6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722" y="1562059"/>
            <a:ext cx="276900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6727" y="3230092"/>
            <a:ext cx="276900" cy="276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7963" y="4815075"/>
            <a:ext cx="314426" cy="314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60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24</a:t>
            </a:r>
            <a:endParaRPr/>
          </a:p>
        </p:txBody>
      </p:sp>
      <p:sp>
        <p:nvSpPr>
          <p:cNvPr id="886" name="Google Shape;886;p60"/>
          <p:cNvSpPr txBox="1"/>
          <p:nvPr/>
        </p:nvSpPr>
        <p:spPr>
          <a:xfrm>
            <a:off x="328250" y="433775"/>
            <a:ext cx="484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Wrap-Up &amp; Next Steps</a:t>
            </a:r>
            <a:endParaRPr b="1" sz="30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7" name="Google Shape;887;p60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8" name="Google Shape;88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2688" y="2755906"/>
            <a:ext cx="5645425" cy="344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250" y="1182850"/>
            <a:ext cx="5645426" cy="5015971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60"/>
          <p:cNvSpPr txBox="1"/>
          <p:nvPr/>
        </p:nvSpPr>
        <p:spPr>
          <a:xfrm>
            <a:off x="6292700" y="1029825"/>
            <a:ext cx="5509500" cy="169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7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 a Document Retriever Search Engine from scratch.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Mini Project: Implement a Q&amp;A bot over a PDF knowledge base.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61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61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Q/A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61"/>
          <p:cNvSpPr txBox="1"/>
          <p:nvPr/>
        </p:nvSpPr>
        <p:spPr>
          <a:xfrm>
            <a:off x="11089904" y="6285500"/>
            <a:ext cx="498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25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62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62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Thanks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62"/>
          <p:cNvSpPr txBox="1"/>
          <p:nvPr/>
        </p:nvSpPr>
        <p:spPr>
          <a:xfrm>
            <a:off x="11089904" y="6285500"/>
            <a:ext cx="498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7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6B3F3"/>
      </a:accent1>
      <a:accent2>
        <a:srgbClr val="3BC9FB"/>
      </a:accent2>
      <a:accent3>
        <a:srgbClr val="0492C4"/>
      </a:accent3>
      <a:accent4>
        <a:srgbClr val="035F7F"/>
      </a:accent4>
      <a:accent5>
        <a:srgbClr val="5B9BD5"/>
      </a:accent5>
      <a:accent6>
        <a:srgbClr val="E94C8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