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IBM Plex Mono Light"/>
      <p:regular r:id="rId23"/>
      <p:bold r:id="rId24"/>
      <p:italic r:id="rId25"/>
      <p:boldItalic r:id="rId26"/>
    </p:embeddedFont>
    <p:embeddedFont>
      <p:font typeface="Poppins Light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  <p:embeddedFont>
      <p:font typeface="Open Sans Light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KFTbvOToHoLyDz/cRjkz7rwyP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font" Target="fonts/Poppins-bold.fntdata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43" Type="http://customschemas.google.com/relationships/presentationmetadata" Target="metadata"/><Relationship Id="rId24" Type="http://schemas.openxmlformats.org/officeDocument/2006/relationships/font" Target="fonts/IBMPlexMonoLight-bold.fntdata"/><Relationship Id="rId23" Type="http://schemas.openxmlformats.org/officeDocument/2006/relationships/font" Target="fonts/IBMPlexMono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Light-boldItalic.fntdata"/><Relationship Id="rId25" Type="http://schemas.openxmlformats.org/officeDocument/2006/relationships/font" Target="fonts/IBMPlexMonoLight-italic.fntdata"/><Relationship Id="rId28" Type="http://schemas.openxmlformats.org/officeDocument/2006/relationships/font" Target="fonts/PoppinsLight-bold.fntdata"/><Relationship Id="rId27" Type="http://schemas.openxmlformats.org/officeDocument/2006/relationships/font" Target="fonts/Poppins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Light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35" Type="http://schemas.openxmlformats.org/officeDocument/2006/relationships/font" Target="fonts/OpenSansLight-regular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OpenSansLight-italic.fntdata"/><Relationship Id="rId14" Type="http://schemas.openxmlformats.org/officeDocument/2006/relationships/slide" Target="slides/slide9.xml"/><Relationship Id="rId36" Type="http://schemas.openxmlformats.org/officeDocument/2006/relationships/font" Target="fonts/OpenSansLight-bold.fntdata"/><Relationship Id="rId17" Type="http://schemas.openxmlformats.org/officeDocument/2006/relationships/slide" Target="slides/slide12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1.xml"/><Relationship Id="rId38" Type="http://schemas.openxmlformats.org/officeDocument/2006/relationships/font" Target="fonts/OpenSansLight-boldItalic.fntdata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2" name="Google Shape;58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1" name="Google Shape;59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(e.g., Google Search, ChatGPT w/ RAG).</a:t>
            </a:r>
            <a:endParaRPr/>
          </a:p>
        </p:txBody>
      </p:sp>
      <p:sp>
        <p:nvSpPr>
          <p:cNvPr id="597" name="Google Shape;59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6" name="Google Shape;60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8" name="Google Shape;61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3" name="Google Shape;63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4" name="Google Shape;694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2" name="Google Shape;702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4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9" name="Google Shape;9;p24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0" name="Google Shape;10;p2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1" name="Google Shape;11;p2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490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2;p2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" name="Google Shape;14;p2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568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56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" name="Google Shape;16;p2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" name="Google Shape;17;p2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" name="Google Shape;20;p24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1" name="Google Shape;21;p2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2" name="Google Shape;22;p2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" name="Google Shape;24;p2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" name="Google Shape;25;p2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6" name="Google Shape;26;p2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" name="Google Shape;27;p24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8" name="Google Shape;28;p2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29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" name="Google Shape;30;p24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1" name="Google Shape;31;p2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32;p2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5882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" name="Google Shape;33;p24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4" name="Google Shape;34;p2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35;p2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392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5"/>
          <p:cNvGrpSpPr/>
          <p:nvPr/>
        </p:nvGrpSpPr>
        <p:grpSpPr>
          <a:xfrm>
            <a:off x="-528423" y="-2138181"/>
            <a:ext cx="5862777" cy="5562070"/>
            <a:chOff x="-494405" y="-1584825"/>
            <a:chExt cx="4397193" cy="4171657"/>
          </a:xfrm>
        </p:grpSpPr>
        <p:grpSp>
          <p:nvGrpSpPr>
            <p:cNvPr id="39" name="Google Shape;39;p25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0" name="Google Shape;40;p2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2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3" name="Google Shape;43;p2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25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4" cy="726143"/>
            </a:xfrm>
          </p:grpSpPr>
          <p:grpSp>
            <p:nvGrpSpPr>
              <p:cNvPr id="46" name="Google Shape;46;p25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" name="Google Shape;47;p2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" name="Google Shape;48;p2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9" name="Google Shape;49;p2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" name="Google Shape;50;p2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Google Shape;51;p2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Google Shape;52;p2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2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4" name="Google Shape;54;p2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25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4" cy="726143"/>
            </a:xfrm>
          </p:grpSpPr>
          <p:grpSp>
            <p:nvGrpSpPr>
              <p:cNvPr id="56" name="Google Shape;56;p25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" name="Google Shape;57;p2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8" name="Google Shape;58;p2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9" name="Google Shape;59;p2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Google Shape;60;p2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1" name="Google Shape;61;p2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2" name="Google Shape;62;p2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2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4" name="Google Shape;64;p2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5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4" cy="726143"/>
            </a:xfrm>
          </p:grpSpPr>
          <p:grpSp>
            <p:nvGrpSpPr>
              <p:cNvPr id="66" name="Google Shape;66;p25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67" name="Google Shape;67;p2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8" name="Google Shape;68;p2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9" name="Google Shape;69;p2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" name="Google Shape;70;p2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" name="Google Shape;71;p2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2" name="Google Shape;72;p2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2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4" name="Google Shape;74;p2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2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6" name="Google Shape;76;p2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79" name="Google Shape;79;p2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27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88" name="Google Shape;88;p27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9" name="Google Shape;89;p27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7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7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2" name="Google Shape;92;p27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7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" name="Google Shape;94;p27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95" name="Google Shape;95;p2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" name="Google Shape;96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7" name="Google Shape;97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8" name="Google Shape;98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2" name="Google Shape;102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3" name="Google Shape;103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" name="Google Shape;104;p27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105" name="Google Shape;105;p2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6" name="Google Shape;106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7" name="Google Shape;107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8" name="Google Shape;108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" name="Google Shape;112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3" name="Google Shape;113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" name="Google Shape;114;p27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115" name="Google Shape;115;p2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6" name="Google Shape;116;p2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7" name="Google Shape;117;p2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8" name="Google Shape;118;p2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2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2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2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2" name="Google Shape;122;p2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3" name="Google Shape;123;p2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27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5" name="Google Shape;125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8" name="Google Shape;128;p27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29"/>
          <p:cNvGrpSpPr/>
          <p:nvPr/>
        </p:nvGrpSpPr>
        <p:grpSpPr>
          <a:xfrm>
            <a:off x="-1607562" y="-3646041"/>
            <a:ext cx="10823410" cy="7799545"/>
            <a:chOff x="-1180406" y="-2565680"/>
            <a:chExt cx="8117556" cy="5849659"/>
          </a:xfrm>
        </p:grpSpPr>
        <p:sp>
          <p:nvSpPr>
            <p:cNvPr id="137" name="Google Shape;137;p2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2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44" name="Google Shape;144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" name="Google Shape;146;p2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47" name="Google Shape;147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2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2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2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2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8" name="Google Shape;158;p29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9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29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1" name="Google Shape;161;p29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9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9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9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9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9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9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6862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29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274"/>
                </a:srgbClr>
              </a:gs>
              <a:gs pos="78000">
                <a:srgbClr val="F5F8FF">
                  <a:alpha val="46274"/>
                </a:srgbClr>
              </a:gs>
              <a:gs pos="100000">
                <a:srgbClr val="F5F8FF">
                  <a:alpha val="46274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29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0" name="Google Shape;170;p29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9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29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74" name="Google Shape;174;p29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9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29"/>
          <p:cNvGrpSpPr/>
          <p:nvPr/>
        </p:nvGrpSpPr>
        <p:grpSpPr>
          <a:xfrm>
            <a:off x="-413180" y="4823209"/>
            <a:ext cx="1931764" cy="2985072"/>
            <a:chOff x="-309885" y="3617407"/>
            <a:chExt cx="1448823" cy="2238804"/>
          </a:xfrm>
        </p:grpSpPr>
        <p:grpSp>
          <p:nvGrpSpPr>
            <p:cNvPr id="178" name="Google Shape;178;p29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79" name="Google Shape;179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" name="Google Shape;181;p29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2" name="Google Shape;182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3" name="Google Shape;183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4" name="Google Shape;184;p2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85" name="Google Shape;185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6" name="Google Shape;186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7" name="Google Shape;187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8" name="Google Shape;188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0" name="Google Shape;190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29"/>
            <p:cNvGrpSpPr/>
            <p:nvPr/>
          </p:nvGrpSpPr>
          <p:grpSpPr>
            <a:xfrm rot="-5400000">
              <a:off x="-461872" y="3769395"/>
              <a:ext cx="1351491" cy="1047516"/>
              <a:chOff x="-2460210" y="2758494"/>
              <a:chExt cx="1351491" cy="1047516"/>
            </a:xfrm>
          </p:grpSpPr>
          <p:sp>
            <p:nvSpPr>
              <p:cNvPr id="192" name="Google Shape;192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274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29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197" name="Google Shape;197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98" name="Google Shape;198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9" name="Google Shape;199;p2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0" name="Google Shape;200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1" name="Google Shape;201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2" name="Google Shape;202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3" name="Google Shape;203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4" name="Google Shape;204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05" name="Google Shape;205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29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07" name="Google Shape;207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8" name="Google Shape;208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" name="Google Shape;209;p29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0" name="Google Shape;210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Google Shape;211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Google Shape;212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3" name="Google Shape;213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Google Shape;214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5" name="Google Shape;215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6" name="Google Shape;216;p29"/>
          <p:cNvPicPr preferRelativeResize="0"/>
          <p:nvPr/>
        </p:nvPicPr>
        <p:blipFill rotWithShape="1">
          <a:blip r:embed="rId3">
            <a:alphaModFix/>
          </a:blip>
          <a:srcRect b="17661" l="0" r="0" t="17656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19" name="Google Shape;21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30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221" name="Google Shape;221;p30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2" name="Google Shape;222;p30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30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p30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25" name="Google Shape;225;p30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30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28" name="Google Shape;228;p30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29" name="Google Shape;229;p3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0" name="Google Shape;230;p30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1" name="Google Shape;231;p3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2" name="Google Shape;232;p3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3" name="Google Shape;233;p3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4" name="Google Shape;234;p3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5" name="Google Shape;235;p3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36" name="Google Shape;236;p3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30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38" name="Google Shape;238;p30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9" name="Google Shape;239;p3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0" name="Google Shape;240;p30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1" name="Google Shape;241;p3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3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3" name="Google Shape;243;p3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4" name="Google Shape;244;p3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5" name="Google Shape;245;p3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6" name="Google Shape;246;p3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30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48" name="Google Shape;248;p30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9" name="Google Shape;249;p3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0" name="Google Shape;250;p30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1" name="Google Shape;251;p3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3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3" name="Google Shape;253;p3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4" name="Google Shape;254;p3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5" name="Google Shape;255;p3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6" name="Google Shape;256;p3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30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58" name="Google Shape;258;p30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0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0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63" name="Google Shape;26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31"/>
          <p:cNvGrpSpPr/>
          <p:nvPr/>
        </p:nvGrpSpPr>
        <p:grpSpPr>
          <a:xfrm>
            <a:off x="-1607562" y="-3646041"/>
            <a:ext cx="10823410" cy="7799545"/>
            <a:chOff x="-1180406" y="-2565680"/>
            <a:chExt cx="8117556" cy="5849659"/>
          </a:xfrm>
        </p:grpSpPr>
        <p:sp>
          <p:nvSpPr>
            <p:cNvPr id="265" name="Google Shape;265;p31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31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72" name="Google Shape;272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31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75" name="Google Shape;275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31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78" name="Google Shape;278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31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1" name="Google Shape;281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3" name="Google Shape;283;p31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84" name="Google Shape;284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6" name="Google Shape;286;p31"/>
          <p:cNvPicPr preferRelativeResize="0"/>
          <p:nvPr/>
        </p:nvPicPr>
        <p:blipFill rotWithShape="1">
          <a:blip r:embed="rId3">
            <a:alphaModFix/>
          </a:blip>
          <a:srcRect b="17661" l="0" r="0" t="17656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89" name="Google Shape;28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3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291" name="Google Shape;291;p3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292" name="Google Shape;292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490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5" name="Google Shape;295;p3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568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568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" name="Google Shape;297;p3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298" name="Google Shape;298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47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03" name="Google Shape;30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34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307" name="Google Shape;307;p3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08" name="Google Shape;308;p3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3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11" name="Google Shape;311;p3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" name="Google Shape;313;p3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14" name="Google Shape;314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5" name="Google Shape;315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6" name="Google Shape;316;p3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17" name="Google Shape;317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" name="Google Shape;318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" name="Google Shape;319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0" name="Google Shape;320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" name="Google Shape;321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22" name="Google Shape;322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3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24" name="Google Shape;324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5" name="Google Shape;325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6" name="Google Shape;326;p3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7" name="Google Shape;327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8" name="Google Shape;328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2" name="Google Shape;332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" name="Google Shape;333;p3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34" name="Google Shape;334;p3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5" name="Google Shape;335;p3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6" name="Google Shape;336;p3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7" name="Google Shape;337;p3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8" name="Google Shape;338;p3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3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3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3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2" name="Google Shape;342;p3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3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44" name="Google Shape;344;p3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" name="Google Shape;349;p35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0" name="Google Shape;3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53" name="Google Shape;35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36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355" name="Google Shape;355;p36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56" name="Google Shape;356;p36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6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36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59" name="Google Shape;359;p36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36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62" name="Google Shape;362;p3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63" name="Google Shape;363;p3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4" name="Google Shape;364;p3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65" name="Google Shape;365;p3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6" name="Google Shape;366;p3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7" name="Google Shape;367;p3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8" name="Google Shape;368;p3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9" name="Google Shape;369;p3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70" name="Google Shape;370;p3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36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3" name="Google Shape;373;p3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4" name="Google Shape;374;p3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5" name="Google Shape;375;p3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6" name="Google Shape;376;p3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7" name="Google Shape;377;p3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8" name="Google Shape;378;p3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3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0" name="Google Shape;380;p3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1" name="Google Shape;381;p36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82" name="Google Shape;382;p3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3" name="Google Shape;383;p3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4" name="Google Shape;384;p36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5" name="Google Shape;385;p3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6" name="Google Shape;386;p3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7" name="Google Shape;387;p3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8" name="Google Shape;388;p3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3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0" name="Google Shape;390;p3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36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92" name="Google Shape;392;p36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6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6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97" name="Google Shape;39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0" name="Google Shape;400;p38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1" name="Google Shape;401;p38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2" name="Google Shape;40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5" name="Google Shape;405;p39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6" name="Google Shape;406;p39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07" name="Google Shape;40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0" name="Google Shape;410;p40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1" name="Google Shape;411;p40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2" name="Google Shape;41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41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6" name="Google Shape;41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2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9" name="Google Shape;41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2" name="Google Shape;422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5" name="Google Shape;42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45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9" name="Google Shape;429;p45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0" name="Google Shape;430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45"/>
          <p:cNvGrpSpPr/>
          <p:nvPr/>
        </p:nvGrpSpPr>
        <p:grpSpPr>
          <a:xfrm>
            <a:off x="-680840" y="-2290631"/>
            <a:ext cx="5862926" cy="5562209"/>
            <a:chOff x="-494405" y="-1584825"/>
            <a:chExt cx="4397193" cy="4171657"/>
          </a:xfrm>
        </p:grpSpPr>
        <p:grpSp>
          <p:nvGrpSpPr>
            <p:cNvPr id="432" name="Google Shape;432;p45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3" name="Google Shape;433;p4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4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4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36" name="Google Shape;436;p4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46274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4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274"/>
                    </a:srgbClr>
                  </a:gs>
                  <a:gs pos="78000">
                    <a:srgbClr val="F5F8FF">
                      <a:alpha val="46274"/>
                    </a:srgbClr>
                  </a:gs>
                  <a:gs pos="100000">
                    <a:srgbClr val="F5F8FF">
                      <a:alpha val="46274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" name="Google Shape;438;p45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39" name="Google Shape;439;p4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40" name="Google Shape;440;p4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1" name="Google Shape;441;p4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42" name="Google Shape;442;p4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" name="Google Shape;443;p4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" name="Google Shape;444;p4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" name="Google Shape;445;p4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4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47" name="Google Shape;447;p4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45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49" name="Google Shape;449;p4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50" name="Google Shape;450;p4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51" name="Google Shape;451;p4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52" name="Google Shape;452;p4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3" name="Google Shape;453;p4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4" name="Google Shape;454;p4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4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" name="Google Shape;456;p4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57" name="Google Shape;457;p4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8" name="Google Shape;458;p45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59" name="Google Shape;459;p4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0" name="Google Shape;460;p4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1" name="Google Shape;461;p45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2" name="Google Shape;462;p4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" name="Google Shape;463;p4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4" name="Google Shape;464;p4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4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4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274"/>
                        </a:srgbClr>
                      </a:gs>
                      <a:gs pos="100000">
                        <a:srgbClr val="FFFFFF">
                          <a:alpha val="46274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7" name="Google Shape;467;p4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" name="Google Shape;468;p4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69" name="Google Shape;469;p4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4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4" name="Google Shape;474;p46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75" name="Google Shape;475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7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8" name="Google Shape;478;p47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9" name="Google Shape;479;p47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0" name="Google Shape;480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3" name="Google Shape;483;p48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4" name="Google Shape;48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9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87" name="Google Shape;487;p49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88" name="Google Shape;48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1" name="Google Shape;491;p50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2" name="Google Shape;492;p50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3" name="Google Shape;493;p50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4" name="Google Shape;49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1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51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2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1" name="Google Shape;501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3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4" name="Google Shape;504;p53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5" name="Google Shape;50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08" name="Google Shape;508;p5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5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5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7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6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2" name="Google Shape;522;p57"/>
          <p:cNvSpPr txBox="1"/>
          <p:nvPr>
            <p:ph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●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○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Char char="■"/>
              <a:defRPr b="0" i="0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3" name="Google Shape;523;p57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24" name="Google Shape;524;p57"/>
          <p:cNvGrpSpPr/>
          <p:nvPr/>
        </p:nvGrpSpPr>
        <p:grpSpPr>
          <a:xfrm>
            <a:off x="-718923" y="-2290579"/>
            <a:ext cx="5862779" cy="5562070"/>
            <a:chOff x="-494405" y="-1584825"/>
            <a:chExt cx="4397193" cy="4171657"/>
          </a:xfrm>
        </p:grpSpPr>
        <p:grpSp>
          <p:nvGrpSpPr>
            <p:cNvPr id="525" name="Google Shape;525;p57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526" name="Google Shape;526;p57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57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8" name="Google Shape;528;p57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29" name="Google Shape;529;p57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7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7E6E6">
                      <a:alpha val="46666"/>
                    </a:srgbClr>
                  </a:gs>
                  <a:gs pos="78000">
                    <a:srgbClr val="FFFF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1" name="Google Shape;531;p57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532" name="Google Shape;532;p5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33" name="Google Shape;533;p5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34" name="Google Shape;534;p5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35" name="Google Shape;535;p5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6" name="Google Shape;536;p5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7" name="Google Shape;537;p5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8" name="Google Shape;538;p5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9" name="Google Shape;539;p5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40" name="Google Shape;540;p5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1" name="Google Shape;541;p57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42" name="Google Shape;542;p5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43" name="Google Shape;543;p5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44" name="Google Shape;544;p5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45" name="Google Shape;545;p5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6" name="Google Shape;546;p5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7" name="Google Shape;547;p5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8" name="Google Shape;548;p5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9" name="Google Shape;549;p5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50" name="Google Shape;550;p5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1" name="Google Shape;551;p57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552" name="Google Shape;552;p5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53" name="Google Shape;553;p5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235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54" name="Google Shape;554;p5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55" name="Google Shape;555;p5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6" name="Google Shape;556;p5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7" name="Google Shape;557;p5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8" name="Google Shape;558;p5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9" name="Google Shape;559;p5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60" name="Google Shape;560;p5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27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1" name="Google Shape;561;p57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62" name="Google Shape;562;p5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5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5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8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67" name="Google Shape;567;p5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8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codehubai.com</a:t>
            </a:r>
            <a:endParaRPr b="0" i="0" sz="1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b="0" i="0" lang="en-US" sz="1000" u="none" cap="none" strike="noStrike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all rights reserved</a:t>
            </a:r>
            <a:endParaRPr b="0" i="0" sz="1000" u="none" cap="none" strike="noStrike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b="0" i="0" sz="4800" u="none" cap="none" strike="noStrik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1"/>
          <p:cNvSpPr txBox="1"/>
          <p:nvPr/>
        </p:nvSpPr>
        <p:spPr>
          <a:xfrm>
            <a:off x="11298540" y="6506726"/>
            <a:ext cx="34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9" name="Google Shape;57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4" name="Google Shape;584;p2"/>
          <p:cNvGrpSpPr/>
          <p:nvPr/>
        </p:nvGrpSpPr>
        <p:grpSpPr>
          <a:xfrm>
            <a:off x="868414" y="2469824"/>
            <a:ext cx="10553400" cy="892801"/>
            <a:chOff x="800239" y="1467172"/>
            <a:chExt cx="10553400" cy="892801"/>
          </a:xfrm>
        </p:grpSpPr>
        <p:sp>
          <p:nvSpPr>
            <p:cNvPr id="585" name="Google Shape;585;p2"/>
            <p:cNvSpPr txBox="1"/>
            <p:nvPr/>
          </p:nvSpPr>
          <p:spPr>
            <a:xfrm>
              <a:off x="800239" y="1467173"/>
              <a:ext cx="10553400" cy="8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00"/>
                <a:buFont typeface="Arial"/>
                <a:buNone/>
              </a:pPr>
              <a:r>
                <a:rPr b="1" i="0" lang="en-US" sz="5200" u="none" cap="none" strike="noStrike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B</a:t>
              </a:r>
              <a:r>
                <a:rPr b="1" i="0" lang="en-US" sz="5200" u="none" cap="none" strike="noStrike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RAG</a:t>
              </a:r>
              <a:endParaRPr b="1" i="0" sz="5200" u="none" cap="none" strike="noStrike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7" name="Google Shape;587;p2"/>
          <p:cNvSpPr txBox="1"/>
          <p:nvPr/>
        </p:nvSpPr>
        <p:spPr>
          <a:xfrm>
            <a:off x="11298554" y="6506725"/>
            <a:ext cx="466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"/>
          <p:cNvSpPr txBox="1"/>
          <p:nvPr/>
        </p:nvSpPr>
        <p:spPr>
          <a:xfrm>
            <a:off x="868425" y="3429000"/>
            <a:ext cx="11166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262626"/>
                </a:solidFill>
                <a:latin typeface="Poppins Light"/>
                <a:ea typeface="Poppins Light"/>
                <a:cs typeface="Poppins Light"/>
                <a:sym typeface="Poppins Light"/>
              </a:rPr>
              <a:t>Retrieval Augmented Generation</a:t>
            </a:r>
            <a:endParaRPr b="0" i="0" sz="4400" u="none" cap="none" strike="noStrik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"/>
          <p:cNvSpPr txBox="1"/>
          <p:nvPr/>
        </p:nvSpPr>
        <p:spPr>
          <a:xfrm>
            <a:off x="1930350" y="3245625"/>
            <a:ext cx="853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r>
              <a:rPr b="1" i="0" lang="en-US" sz="3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- Embeddings &amp; Vector Search</a:t>
            </a:r>
            <a:endParaRPr b="0" i="0" sz="16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"/>
          <p:cNvSpPr txBox="1"/>
          <p:nvPr/>
        </p:nvSpPr>
        <p:spPr>
          <a:xfrm>
            <a:off x="11145925" y="6235100"/>
            <a:ext cx="49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"/>
          <p:cNvSpPr txBox="1"/>
          <p:nvPr/>
        </p:nvSpPr>
        <p:spPr>
          <a:xfrm>
            <a:off x="1037030" y="677708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Vector Similarity Search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"/>
          <p:cNvSpPr/>
          <p:nvPr/>
        </p:nvSpPr>
        <p:spPr>
          <a:xfrm>
            <a:off x="1147786" y="49965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"/>
          <p:cNvSpPr txBox="1"/>
          <p:nvPr/>
        </p:nvSpPr>
        <p:spPr>
          <a:xfrm>
            <a:off x="4589525" y="2707200"/>
            <a:ext cx="5815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Exercise (Warm-up):</a:t>
            </a:r>
            <a:b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of 2 apps you use daily that rely on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"finding something similar"</a:t>
            </a:r>
            <a:b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3" name="Google Shape;6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9675" y="2767975"/>
            <a:ext cx="1582749" cy="158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"/>
          <p:cNvSpPr txBox="1"/>
          <p:nvPr/>
        </p:nvSpPr>
        <p:spPr>
          <a:xfrm>
            <a:off x="683555" y="728183"/>
            <a:ext cx="886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Why Do We Need 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Vector Similarity Search</a:t>
            </a: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0" i="0" sz="1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"/>
          <p:cNvSpPr/>
          <p:nvPr/>
        </p:nvSpPr>
        <p:spPr>
          <a:xfrm>
            <a:off x="683561" y="6225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"/>
          <p:cNvSpPr txBox="1"/>
          <p:nvPr/>
        </p:nvSpPr>
        <p:spPr>
          <a:xfrm>
            <a:off x="2492050" y="1665075"/>
            <a:ext cx="9565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Computers don't understand text like humans do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need to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 text into numbers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(vectors) for processing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Goal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Find similar content quickly among millions of items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2" name="Google Shape;6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9225" y="1788031"/>
            <a:ext cx="448200" cy="4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9225" y="2502980"/>
            <a:ext cx="448200" cy="4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9225" y="3329701"/>
            <a:ext cx="448200" cy="4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"/>
          <p:cNvSpPr txBox="1"/>
          <p:nvPr/>
        </p:nvSpPr>
        <p:spPr>
          <a:xfrm>
            <a:off x="1839825" y="4171875"/>
            <a:ext cx="7022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Examples:</a:t>
            </a:r>
            <a:b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"Find documents that answer my question"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"Show me knowledge base articles similar to this query"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"Search for passages with similar meaning"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6"/>
          <p:cNvSpPr/>
          <p:nvPr/>
        </p:nvSpPr>
        <p:spPr>
          <a:xfrm>
            <a:off x="1147786" y="49965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"/>
          <p:cNvSpPr txBox="1"/>
          <p:nvPr/>
        </p:nvSpPr>
        <p:spPr>
          <a:xfrm>
            <a:off x="1091900" y="681675"/>
            <a:ext cx="947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keyword search</a:t>
            </a: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vs. </a:t>
            </a:r>
            <a:r>
              <a:rPr b="1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meaning-based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  <a:endParaRPr b="0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3" name="Google Shape;6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494" y="2391475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100" y="2391475"/>
            <a:ext cx="558749" cy="55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6"/>
          <p:cNvSpPr txBox="1"/>
          <p:nvPr/>
        </p:nvSpPr>
        <p:spPr>
          <a:xfrm>
            <a:off x="1024850" y="3151375"/>
            <a:ext cx="445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Matches exact words only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Misses synonyms and related concepts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understanding of context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"/>
          <p:cNvSpPr txBox="1"/>
          <p:nvPr/>
        </p:nvSpPr>
        <p:spPr>
          <a:xfrm>
            <a:off x="1866250" y="2437225"/>
            <a:ext cx="21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 Search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6"/>
          <p:cNvSpPr txBox="1"/>
          <p:nvPr/>
        </p:nvSpPr>
        <p:spPr>
          <a:xfrm>
            <a:off x="7092119" y="2406925"/>
            <a:ext cx="21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Search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6"/>
          <p:cNvSpPr txBox="1"/>
          <p:nvPr/>
        </p:nvSpPr>
        <p:spPr>
          <a:xfrm>
            <a:off x="6261900" y="3151375"/>
            <a:ext cx="4853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Understands semantic meaning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related concepts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Context-aware matching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"/>
          <p:cNvSpPr txBox="1"/>
          <p:nvPr/>
        </p:nvSpPr>
        <p:spPr>
          <a:xfrm>
            <a:off x="2983750" y="4972900"/>
            <a:ext cx="701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Searching "how to reset password" in a keyword system may 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miss "forgot credentials" — vector search finds both.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0" name="Google Shape;6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150" y="5034400"/>
            <a:ext cx="492600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"/>
          <p:cNvSpPr/>
          <p:nvPr/>
        </p:nvSpPr>
        <p:spPr>
          <a:xfrm>
            <a:off x="9471275" y="3781150"/>
            <a:ext cx="1855500" cy="84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"/>
          <p:cNvSpPr/>
          <p:nvPr/>
        </p:nvSpPr>
        <p:spPr>
          <a:xfrm>
            <a:off x="5031675" y="3844225"/>
            <a:ext cx="1855500" cy="84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7"/>
          <p:cNvSpPr/>
          <p:nvPr/>
        </p:nvSpPr>
        <p:spPr>
          <a:xfrm>
            <a:off x="368775" y="3844225"/>
            <a:ext cx="1855500" cy="84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7"/>
          <p:cNvSpPr txBox="1"/>
          <p:nvPr/>
        </p:nvSpPr>
        <p:spPr>
          <a:xfrm>
            <a:off x="500630" y="555533"/>
            <a:ext cx="8864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What Are </a:t>
            </a:r>
            <a:r>
              <a:rPr b="1" i="0" lang="en-US" sz="3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Text Embeddings</a:t>
            </a:r>
            <a:r>
              <a:rPr b="1" i="0" lang="en-US" sz="3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7"/>
          <p:cNvSpPr/>
          <p:nvPr/>
        </p:nvSpPr>
        <p:spPr>
          <a:xfrm>
            <a:off x="534161" y="49965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7"/>
          <p:cNvSpPr txBox="1"/>
          <p:nvPr/>
        </p:nvSpPr>
        <p:spPr>
          <a:xfrm>
            <a:off x="882825" y="1419225"/>
            <a:ext cx="7911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Embeddings = Converting text into lists of numbers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of it as a "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coordinate system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 for words and sentences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oppin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Similar words get similar numbers</a:t>
            </a:r>
            <a:endParaRPr b="0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2" name="Google Shape;6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949" y="3267825"/>
            <a:ext cx="49260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7"/>
          <p:cNvSpPr txBox="1"/>
          <p:nvPr/>
        </p:nvSpPr>
        <p:spPr>
          <a:xfrm>
            <a:off x="189075" y="3886825"/>
            <a:ext cx="2225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"cat"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[0.2, 0.8, -0.3, ...]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7"/>
          <p:cNvSpPr txBox="1"/>
          <p:nvPr/>
        </p:nvSpPr>
        <p:spPr>
          <a:xfrm>
            <a:off x="2469825" y="4005700"/>
            <a:ext cx="23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Close in vector space</a:t>
            </a:r>
            <a:endParaRPr b="0" i="0" sz="14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45" name="Google Shape;645;p7"/>
          <p:cNvSpPr txBox="1"/>
          <p:nvPr/>
        </p:nvSpPr>
        <p:spPr>
          <a:xfrm>
            <a:off x="5054177" y="3867249"/>
            <a:ext cx="181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"dog"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[0.3, 0.7, -0.2, ...]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"/>
          <p:cNvSpPr txBox="1"/>
          <p:nvPr/>
        </p:nvSpPr>
        <p:spPr>
          <a:xfrm>
            <a:off x="7241625" y="4005700"/>
            <a:ext cx="20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Far in vector space</a:t>
            </a:r>
            <a:endParaRPr b="0" i="0" sz="1400" u="none" cap="none" strike="noStrike">
              <a:solidFill>
                <a:srgbClr val="00000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47" name="Google Shape;647;p7"/>
          <p:cNvSpPr txBox="1"/>
          <p:nvPr/>
        </p:nvSpPr>
        <p:spPr>
          <a:xfrm>
            <a:off x="9286473" y="3819775"/>
            <a:ext cx="2225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"airplane"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[-0.8, 0.1, 0.6, ...]</a:t>
            </a:r>
            <a:endParaRPr b="1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8" name="Google Shape;648;p7"/>
          <p:cNvSpPr txBox="1"/>
          <p:nvPr/>
        </p:nvSpPr>
        <p:spPr>
          <a:xfrm>
            <a:off x="2986950" y="5161325"/>
            <a:ext cx="529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numbers help computers understand meaning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 methods exist - from simple to sophisticated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7"/>
          <p:cNvCxnSpPr/>
          <p:nvPr/>
        </p:nvCxnSpPr>
        <p:spPr>
          <a:xfrm flipH="1" rot="10800000">
            <a:off x="2603800" y="4403050"/>
            <a:ext cx="1888500" cy="111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7"/>
          <p:cNvCxnSpPr/>
          <p:nvPr/>
        </p:nvCxnSpPr>
        <p:spPr>
          <a:xfrm flipH="1" rot="10800000">
            <a:off x="7269675" y="4403050"/>
            <a:ext cx="1888500" cy="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8"/>
          <p:cNvSpPr txBox="1"/>
          <p:nvPr/>
        </p:nvSpPr>
        <p:spPr>
          <a:xfrm>
            <a:off x="448239" y="677700"/>
            <a:ext cx="385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Text Embeddings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8"/>
          <p:cNvSpPr/>
          <p:nvPr/>
        </p:nvSpPr>
        <p:spPr>
          <a:xfrm>
            <a:off x="558997" y="499654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8"/>
          <p:cNvSpPr txBox="1"/>
          <p:nvPr/>
        </p:nvSpPr>
        <p:spPr>
          <a:xfrm>
            <a:off x="776475" y="2265775"/>
            <a:ext cx="517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Capture semantic relationships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Enable mathematical operations on language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Transform text into a form computers can process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9" name="Google Shape;659;p8"/>
          <p:cNvSpPr txBox="1"/>
          <p:nvPr/>
        </p:nvSpPr>
        <p:spPr>
          <a:xfrm>
            <a:off x="5953875" y="2208825"/>
            <a:ext cx="5061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Word2Vec, GloVe (word level)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BERT, GPT (contextual embeddings)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• Sentence-BERT, OpenAI Embeddings, Gemini Embeddings (sentence/paragraph level level)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p8"/>
          <p:cNvSpPr txBox="1"/>
          <p:nvPr/>
        </p:nvSpPr>
        <p:spPr>
          <a:xfrm>
            <a:off x="847825" y="1804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Properties: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p8"/>
          <p:cNvSpPr txBox="1"/>
          <p:nvPr/>
        </p:nvSpPr>
        <p:spPr>
          <a:xfrm>
            <a:off x="6075693" y="18040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Common Models: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8"/>
          <p:cNvSpPr txBox="1"/>
          <p:nvPr/>
        </p:nvSpPr>
        <p:spPr>
          <a:xfrm>
            <a:off x="1222275" y="3464600"/>
            <a:ext cx="925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 Practice:</a:t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Which two words do you think would be closer in embedding space: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8"/>
          <p:cNvSpPr txBox="1"/>
          <p:nvPr/>
        </p:nvSpPr>
        <p:spPr>
          <a:xfrm>
            <a:off x="5412225" y="4617525"/>
            <a:ext cx="5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F50403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1" i="0" sz="1400" u="none" cap="none" strike="noStrike">
              <a:solidFill>
                <a:srgbClr val="F504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8"/>
          <p:cNvSpPr txBox="1"/>
          <p:nvPr/>
        </p:nvSpPr>
        <p:spPr>
          <a:xfrm>
            <a:off x="3503625" y="5555050"/>
            <a:ext cx="51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about semantic relationships versus physical relationships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8"/>
          <p:cNvSpPr/>
          <p:nvPr/>
        </p:nvSpPr>
        <p:spPr>
          <a:xfrm>
            <a:off x="1512575" y="4565675"/>
            <a:ext cx="1208100" cy="61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"/>
          <p:cNvSpPr txBox="1"/>
          <p:nvPr/>
        </p:nvSpPr>
        <p:spPr>
          <a:xfrm>
            <a:off x="1918775" y="4673375"/>
            <a:ext cx="75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7" name="Google Shape;6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695" y="4681025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8"/>
          <p:cNvSpPr/>
          <p:nvPr/>
        </p:nvSpPr>
        <p:spPr>
          <a:xfrm>
            <a:off x="3329828" y="4565675"/>
            <a:ext cx="1208100" cy="6156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"/>
          <p:cNvSpPr txBox="1"/>
          <p:nvPr/>
        </p:nvSpPr>
        <p:spPr>
          <a:xfrm>
            <a:off x="3736028" y="4673375"/>
            <a:ext cx="75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0" name="Google Shape;6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7523" y="4684010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8"/>
          <p:cNvSpPr/>
          <p:nvPr/>
        </p:nvSpPr>
        <p:spPr>
          <a:xfrm>
            <a:off x="6720430" y="4565663"/>
            <a:ext cx="1208100" cy="615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"/>
          <p:cNvSpPr txBox="1"/>
          <p:nvPr/>
        </p:nvSpPr>
        <p:spPr>
          <a:xfrm>
            <a:off x="7126630" y="4673363"/>
            <a:ext cx="75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Coffee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3" name="Google Shape;6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8550" y="4681013"/>
            <a:ext cx="384900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8"/>
          <p:cNvSpPr/>
          <p:nvPr/>
        </p:nvSpPr>
        <p:spPr>
          <a:xfrm>
            <a:off x="8486925" y="4565663"/>
            <a:ext cx="1208100" cy="615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"/>
          <p:cNvSpPr txBox="1"/>
          <p:nvPr/>
        </p:nvSpPr>
        <p:spPr>
          <a:xfrm>
            <a:off x="8893125" y="4673363"/>
            <a:ext cx="75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"/>
          <p:cNvSpPr txBox="1"/>
          <p:nvPr/>
        </p:nvSpPr>
        <p:spPr>
          <a:xfrm>
            <a:off x="2759150" y="4676350"/>
            <a:ext cx="5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8"/>
          <p:cNvSpPr txBox="1"/>
          <p:nvPr/>
        </p:nvSpPr>
        <p:spPr>
          <a:xfrm>
            <a:off x="7941625" y="4725225"/>
            <a:ext cx="5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8" name="Google Shape;67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91345" y="5601251"/>
            <a:ext cx="276900" cy="2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37620" y="4681025"/>
            <a:ext cx="384900" cy="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5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5"/>
          <p:cNvSpPr txBox="1"/>
          <p:nvPr/>
        </p:nvSpPr>
        <p:spPr>
          <a:xfrm>
            <a:off x="326400" y="373175"/>
            <a:ext cx="842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Introduction to Semantic Embeddings</a:t>
            </a:r>
            <a:endParaRPr b="1" i="0" sz="3000" u="none" cap="none" strike="noStrike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437161" y="29662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 txBox="1"/>
          <p:nvPr/>
        </p:nvSpPr>
        <p:spPr>
          <a:xfrm>
            <a:off x="2893150" y="1147122"/>
            <a:ext cx="7116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Modern approach that captures word meaning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Words with similar meanings get similar number representations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using machine learning on large text datasets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8" name="Google Shape;688;p15"/>
          <p:cNvSpPr txBox="1"/>
          <p:nvPr/>
        </p:nvSpPr>
        <p:spPr>
          <a:xfrm>
            <a:off x="437150" y="2669878"/>
            <a:ext cx="220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" y="3078116"/>
            <a:ext cx="11887201" cy="2289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5"/>
          <p:cNvSpPr txBox="1"/>
          <p:nvPr/>
        </p:nvSpPr>
        <p:spPr>
          <a:xfrm>
            <a:off x="2893150" y="5619500"/>
            <a:ext cx="7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vectors are dense (no wasted zeros)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Unlike one-hot encoding, semantic embeddings use all dimensions efficiently</a:t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1" name="Google Shape;6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7050" y="5734844"/>
            <a:ext cx="384900" cy="38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6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 txBox="1"/>
          <p:nvPr/>
        </p:nvSpPr>
        <p:spPr>
          <a:xfrm>
            <a:off x="326401" y="373175"/>
            <a:ext cx="663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Semantic Embeddings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in Action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437161" y="29662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9" name="Google Shape;6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87700"/>
            <a:ext cx="11887198" cy="418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7"/>
          <p:cNvSpPr txBox="1"/>
          <p:nvPr/>
        </p:nvSpPr>
        <p:spPr>
          <a:xfrm>
            <a:off x="11257976" y="6235101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7"/>
          <p:cNvSpPr txBox="1"/>
          <p:nvPr/>
        </p:nvSpPr>
        <p:spPr>
          <a:xfrm>
            <a:off x="326401" y="373175"/>
            <a:ext cx="663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Semantic Embeddings</a:t>
            </a:r>
            <a:r>
              <a:rPr b="1" i="0" lang="en-US" sz="30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in Action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437161" y="29662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7" name="Google Shape;7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2250" y="2521175"/>
            <a:ext cx="9646275" cy="26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7"/>
          <p:cNvSpPr txBox="1"/>
          <p:nvPr/>
        </p:nvSpPr>
        <p:spPr>
          <a:xfrm>
            <a:off x="437150" y="2355175"/>
            <a:ext cx="584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Practice: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Fill in the blank: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1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 / 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1"/>
          <p:cNvSpPr txBox="1"/>
          <p:nvPr/>
        </p:nvSpPr>
        <p:spPr>
          <a:xfrm>
            <a:off x="11257976" y="6344726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2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2"/>
          <p:cNvSpPr txBox="1"/>
          <p:nvPr/>
        </p:nvSpPr>
        <p:spPr>
          <a:xfrm>
            <a:off x="11257976" y="6344726"/>
            <a:ext cx="384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