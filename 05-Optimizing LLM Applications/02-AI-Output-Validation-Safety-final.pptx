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Roboto"/>
      <p:regular r:id="rId35"/>
      <p:bold r:id="rId36"/>
      <p:italic r:id="rId37"/>
      <p:boldItalic r:id="rId38"/>
    </p:embeddedFont>
    <p:embeddedFont>
      <p:font typeface="Poppins"/>
      <p:regular r:id="rId39"/>
      <p:bold r:id="rId40"/>
      <p:italic r:id="rId41"/>
      <p:boldItalic r:id="rId42"/>
    </p:embeddedFont>
    <p:embeddedFont>
      <p:font typeface="IBM Plex Mono Light"/>
      <p:regular r:id="rId43"/>
      <p:bold r:id="rId44"/>
      <p:italic r:id="rId45"/>
      <p:boldItalic r:id="rId46"/>
    </p:embeddedFont>
    <p:embeddedFont>
      <p:font typeface="Open Sans Light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.fntdata"/><Relationship Id="rId42" Type="http://schemas.openxmlformats.org/officeDocument/2006/relationships/font" Target="fonts/Poppins-boldItalic.fntdata"/><Relationship Id="rId41" Type="http://schemas.openxmlformats.org/officeDocument/2006/relationships/font" Target="fonts/Poppins-italic.fntdata"/><Relationship Id="rId44" Type="http://schemas.openxmlformats.org/officeDocument/2006/relationships/font" Target="fonts/IBMPlexMonoLight-bold.fntdata"/><Relationship Id="rId43" Type="http://schemas.openxmlformats.org/officeDocument/2006/relationships/font" Target="fonts/IBMPlexMonoLight-regular.fntdata"/><Relationship Id="rId46" Type="http://schemas.openxmlformats.org/officeDocument/2006/relationships/font" Target="fonts/IBMPlexMonoLight-boldItalic.fntdata"/><Relationship Id="rId45" Type="http://schemas.openxmlformats.org/officeDocument/2006/relationships/font" Target="fonts/IBMPlexMono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Light-bold.fntdata"/><Relationship Id="rId47" Type="http://schemas.openxmlformats.org/officeDocument/2006/relationships/font" Target="fonts/OpenSansLight-regular.fntdata"/><Relationship Id="rId49" Type="http://schemas.openxmlformats.org/officeDocument/2006/relationships/font" Target="fonts/OpenSans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Roboto-regular.fntdata"/><Relationship Id="rId34" Type="http://schemas.openxmlformats.org/officeDocument/2006/relationships/slide" Target="slides/slide29.xml"/><Relationship Id="rId37" Type="http://schemas.openxmlformats.org/officeDocument/2006/relationships/font" Target="fonts/Roboto-italic.fntdata"/><Relationship Id="rId36" Type="http://schemas.openxmlformats.org/officeDocument/2006/relationships/font" Target="fonts/Roboto-bold.fntdata"/><Relationship Id="rId39" Type="http://schemas.openxmlformats.org/officeDocument/2006/relationships/font" Target="fonts/Poppins-regular.fntdata"/><Relationship Id="rId38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regular.fntdata"/><Relationship Id="rId50" Type="http://schemas.openxmlformats.org/officeDocument/2006/relationships/font" Target="fonts/OpenSansLight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271c6c3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7271c6c3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3ad1dca8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3ad1dca8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891ad76481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891ad7648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84610f170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384610f1706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81778fac87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81778fac87_0_4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9d2807763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9d28077637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81778fac87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g381778fac87_0_2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9d2807763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g39d28077637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9d2807763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g39d28077637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9d2807763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g39d28077637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9d2807763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g39d28077637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9d28077637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g39d28077637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9d28077637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39d28077637_0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9d28077637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g39d28077637_0_2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9d28077637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g39d28077637_0_2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9d28077637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9d28077637_0_3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9d28077637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g39d28077637_0_3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9d28077637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g39d28077637_0_3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9d28077637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g39d28077637_0_4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9d28077637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g39d28077637_0_4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9d28077637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g39d28077637_0_4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9d28077637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g39d28077637_0_4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9d28077637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g39d28077637_0_5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9d28077637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g39d28077637_0_5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9d28077637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g39d28077637_0_5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9d28077637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g39d28077637_0_5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72a7ed5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6" name="Google Shape;1096;g372a7ed5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48c93a3e68_1_3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g348c93a3e68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0" name="Google Shape;10;p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1" name="Google Shape;11;p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oogle Shape;17;p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" name="Google Shape;21;p2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2" name="Google Shape;22;p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3" name="Google Shape;23;p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26;p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" name="Google Shape;28;p2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" name="Google Shape;31;p2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" name="Google Shape;34;p2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5" name="Google Shape;35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7" name="Google Shape;37;p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2" name="Google Shape;42;p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" name="Google Shape;43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9" name="Google Shape;4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0" name="Google Shape;5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1" name="Google Shape;5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2" name="Google Shape;5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Google Shape;5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Google Shape;5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7" name="Google Shape;5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9" name="Google Shape;5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" name="Google Shape;6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2" name="Google Shape;6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7" name="Google Shape;6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69" name="Google Shape;6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0" name="Google Shape;7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1" name="Google Shape;7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2" name="Google Shape;7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" name="Google Shape;7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" name="Google Shape;7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528423" y="-2138180"/>
            <a:ext cx="5862778" cy="5562070"/>
            <a:chOff x="-494405" y="-1584824"/>
            <a:chExt cx="4397194" cy="4171657"/>
          </a:xfrm>
        </p:grpSpPr>
        <p:grpSp>
          <p:nvGrpSpPr>
            <p:cNvPr id="87" name="Google Shape;87;p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8" name="Google Shape;88;p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4" name="Google Shape;9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" name="Google Shape;9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" name="Google Shape;9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2" name="Google Shape;10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4" name="Google Shape;10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5" name="Google Shape;10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2" name="Google Shape;11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4" name="Google Shape;11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5" name="Google Shape;11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6" name="Google Shape;11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" name="Google Shape;11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2" name="Google Shape;12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7" name="Google Shape;127;p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7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143" name="Google Shape;143;p7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7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7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7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7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9" name="Google Shape;1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7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62" name="Google Shape;1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4" name="Google Shape;164;p7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7" name="Google Shape;167;p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7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666"/>
                </a:srgbClr>
              </a:gs>
              <a:gs pos="78000">
                <a:srgbClr val="F5F8FF">
                  <a:alpha val="46666"/>
                </a:srgbClr>
              </a:gs>
              <a:gs pos="100000">
                <a:srgbClr val="F5F8FF">
                  <a:alpha val="4666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6" name="Google Shape;176;p7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80" name="Google Shape;180;p7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413180" y="4823208"/>
            <a:ext cx="1931765" cy="2985073"/>
            <a:chOff x="-309885" y="3617406"/>
            <a:chExt cx="1448824" cy="2238805"/>
          </a:xfrm>
        </p:grpSpPr>
        <p:grpSp>
          <p:nvGrpSpPr>
            <p:cNvPr id="184" name="Google Shape;184;p7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85" name="Google Shape;185;p7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8" name="Google Shape;188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9" name="Google Shape;189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0" name="Google Shape;190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1" name="Google Shape;191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6" name="Google Shape;196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7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198" name="Google Shape;198;p7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7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203" name="Google Shape;20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4" name="Google Shape;20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5" name="Google Shape;20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6" name="Google Shape;20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1" name="Google Shape;21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7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13" name="Google Shape;21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4" name="Google Shape;21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5" name="Google Shape;21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6" name="Google Shape;21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Google Shape;21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Google Shape;22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21" name="Google Shape;22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26" name="Google Shape;2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8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228" name="Google Shape;228;p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9" name="Google Shape;229;p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32" name="Google Shape;232;p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35" name="Google Shape;23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6" name="Google Shape;23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7" name="Google Shape;23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8" name="Google Shape;23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" name="Google Shape;24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" name="Google Shape;24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3" name="Google Shape;24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45" name="Google Shape;24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6" name="Google Shape;24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" name="Google Shape;24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8" name="Google Shape;24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" name="Google Shape;24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" name="Google Shape;25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" name="Google Shape;25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3" name="Google Shape;25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55" name="Google Shape;25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56" name="Google Shape;25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7" name="Google Shape;25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8" name="Google Shape;25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" name="Google Shape;26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" name="Google Shape;26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" name="Google Shape;26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63" name="Google Shape;26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71" name="Google Shape;2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9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273" name="Google Shape;273;p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86" name="Google Shape;286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92" name="Google Shape;292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94" name="Google Shape;294;p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98" name="Google Shape;29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0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300" name="Google Shape;300;p1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301" name="Google Shape;301;p1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" name="Google Shape;304;p1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7" name="Google Shape;307;p1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" name="Google Shape;310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13" name="Google Shape;31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2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18" name="Google Shape;318;p1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19" name="Google Shape;319;p1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1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22" name="Google Shape;322;p1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25" name="Google Shape;32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7" name="Google Shape;32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8" name="Google Shape;32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2" name="Google Shape;33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3" name="Google Shape;33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1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35" name="Google Shape;33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6" name="Google Shape;33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7" name="Google Shape;33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8" name="Google Shape;33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3" name="Google Shape;34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1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45" name="Google Shape;34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7" name="Google Shape;34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48" name="Google Shape;34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53" name="Google Shape;35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1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55" name="Google Shape;355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8" name="Google Shape;358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1" name="Google Shape;361;p13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2" name="Google Shape;3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6" name="Google Shape;3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14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68" name="Google Shape;368;p1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69" name="Google Shape;369;p1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75" name="Google Shape;37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6" name="Google Shape;37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" name="Google Shape;37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8" name="Google Shape;37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3" name="Google Shape;38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1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85" name="Google Shape;38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6" name="Google Shape;38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7" name="Google Shape;38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8" name="Google Shape;38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3" name="Google Shape;39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95" name="Google Shape;39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96" name="Google Shape;39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7" name="Google Shape;39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98" name="Google Shape;39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9" name="Google Shape;39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0" name="Google Shape;40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1" name="Google Shape;40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2" name="Google Shape;40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03" name="Google Shape;40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1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05" name="Google Shape;405;p1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1" name="Google Shape;4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16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6" name="Google Shape;416;p16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7" name="Google Shape;4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1" name="Google Shape;421;p17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2" name="Google Shape;422;p17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3" name="Google Shape;4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7" name="Google Shape;427;p18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18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9" name="Google Shape;4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3" name="Google Shape;433;p19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4" name="Google Shape;43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8" name="Google Shape;4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2" name="Google Shape;44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6" name="Google Shape;44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0" name="Google Shape;450;p23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1" name="Google Shape;451;p23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52" name="Google Shape;45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2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54" name="Google Shape;454;p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55" name="Google Shape;455;p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58" name="Google Shape;458;p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" name="Google Shape;460;p2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61" name="Google Shape;46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2" name="Google Shape;46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3" name="Google Shape;46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4" name="Google Shape;46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8" name="Google Shape;46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9" name="Google Shape;46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71" name="Google Shape;47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2" name="Google Shape;47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3" name="Google Shape;47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74" name="Google Shape;47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" name="Google Shape;47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8" name="Google Shape;47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79" name="Google Shape;47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0" name="Google Shape;480;p2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81" name="Google Shape;48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2" name="Google Shape;48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84" name="Google Shape;48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8" name="Google Shape;48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89" name="Google Shape;48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91" name="Google Shape;491;p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4" name="Google Shape;494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24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2" name="Google Shape;502;p25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3" name="Google Shape;503;p25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4" name="Google Shape;50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8" name="Google Shape;508;p26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9" name="Google Shape;50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3" name="Google Shape;513;p27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14" name="Google Shape;5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8" name="Google Shape;518;p28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9" name="Google Shape;519;p28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0" name="Google Shape;520;p28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1" name="Google Shape;5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29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6" name="Google Shape;52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0" name="Google Shape;53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4" name="Google Shape;534;p31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5" name="Google Shape;53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539" name="Google Shape;539;p3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1" name="Google Shape;541;p3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3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7" name="Google Shape;547;p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53" name="Google Shape;553;p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56" name="Google Shape;556;p35"/>
          <p:cNvSpPr txBox="1"/>
          <p:nvPr>
            <p:ph hasCustomPrompt="1"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>
            <a:r>
              <a:t>xx%</a:t>
            </a:r>
          </a:p>
        </p:txBody>
      </p:sp>
      <p:sp>
        <p:nvSpPr>
          <p:cNvPr id="557" name="Google Shape;557;p35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grpSp>
        <p:nvGrpSpPr>
          <p:cNvPr id="558" name="Google Shape;558;p35"/>
          <p:cNvGrpSpPr/>
          <p:nvPr/>
        </p:nvGrpSpPr>
        <p:grpSpPr>
          <a:xfrm>
            <a:off x="-718924" y="-2290580"/>
            <a:ext cx="5862778" cy="5562070"/>
            <a:chOff x="-494406" y="-1584825"/>
            <a:chExt cx="4397193" cy="4171657"/>
          </a:xfrm>
        </p:grpSpPr>
        <p:grpSp>
          <p:nvGrpSpPr>
            <p:cNvPr id="559" name="Google Shape;559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560" name="Google Shape;560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63" name="Google Shape;563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566" name="Google Shape;56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67" name="Google Shape;56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68" name="Google Shape;56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69" name="Google Shape;56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74" name="Google Shape;57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576" name="Google Shape;57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7" name="Google Shape;57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78" name="Google Shape;57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9" name="Google Shape;57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84" name="Google Shape;58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" name="Google Shape;585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586" name="Google Shape;58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88" name="Google Shape;58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9" name="Google Shape;58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1" name="Google Shape;59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2" name="Google Shape;59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3" name="Google Shape;59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94" name="Google Shape;59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96" name="Google Shape;596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3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602" name="Google Shape;602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605" name="Google Shape;605;p3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</a:t>
            </a:r>
            <a:endParaRPr sz="1000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9" Type="http://schemas.openxmlformats.org/officeDocument/2006/relationships/image" Target="../media/image27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42.png"/><Relationship Id="rId5" Type="http://schemas.openxmlformats.org/officeDocument/2006/relationships/image" Target="../media/image39.png"/><Relationship Id="rId6" Type="http://schemas.openxmlformats.org/officeDocument/2006/relationships/image" Target="../media/image44.png"/><Relationship Id="rId7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34.png"/><Relationship Id="rId5" Type="http://schemas.openxmlformats.org/officeDocument/2006/relationships/image" Target="../media/image41.png"/><Relationship Id="rId6" Type="http://schemas.openxmlformats.org/officeDocument/2006/relationships/image" Target="../media/image43.png"/><Relationship Id="rId7" Type="http://schemas.openxmlformats.org/officeDocument/2006/relationships/image" Target="../media/image4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Relationship Id="rId4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40.png"/><Relationship Id="rId7" Type="http://schemas.openxmlformats.org/officeDocument/2006/relationships/image" Target="../media/image55.png"/><Relationship Id="rId8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6.png"/><Relationship Id="rId4" Type="http://schemas.openxmlformats.org/officeDocument/2006/relationships/image" Target="../media/image57.png"/><Relationship Id="rId5" Type="http://schemas.openxmlformats.org/officeDocument/2006/relationships/image" Target="../media/image59.png"/><Relationship Id="rId6" Type="http://schemas.openxmlformats.org/officeDocument/2006/relationships/image" Target="../media/image72.png"/><Relationship Id="rId7" Type="http://schemas.openxmlformats.org/officeDocument/2006/relationships/image" Target="../media/image58.png"/><Relationship Id="rId8" Type="http://schemas.openxmlformats.org/officeDocument/2006/relationships/image" Target="../media/image5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1.png"/><Relationship Id="rId4" Type="http://schemas.openxmlformats.org/officeDocument/2006/relationships/image" Target="../media/image64.png"/><Relationship Id="rId5" Type="http://schemas.openxmlformats.org/officeDocument/2006/relationships/image" Target="../media/image70.png"/><Relationship Id="rId6" Type="http://schemas.openxmlformats.org/officeDocument/2006/relationships/image" Target="../media/image62.png"/><Relationship Id="rId7" Type="http://schemas.openxmlformats.org/officeDocument/2006/relationships/image" Target="../media/image71.png"/><Relationship Id="rId8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0.png"/><Relationship Id="rId4" Type="http://schemas.openxmlformats.org/officeDocument/2006/relationships/image" Target="../media/image69.png"/><Relationship Id="rId5" Type="http://schemas.openxmlformats.org/officeDocument/2006/relationships/image" Target="../media/image65.png"/><Relationship Id="rId6" Type="http://schemas.openxmlformats.org/officeDocument/2006/relationships/image" Target="../media/image63.png"/><Relationship Id="rId7" Type="http://schemas.openxmlformats.org/officeDocument/2006/relationships/image" Target="../media/image34.png"/><Relationship Id="rId8" Type="http://schemas.openxmlformats.org/officeDocument/2006/relationships/image" Target="../media/image6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7.png"/><Relationship Id="rId4" Type="http://schemas.openxmlformats.org/officeDocument/2006/relationships/image" Target="../media/image82.png"/><Relationship Id="rId9" Type="http://schemas.openxmlformats.org/officeDocument/2006/relationships/image" Target="../media/image73.png"/><Relationship Id="rId5" Type="http://schemas.openxmlformats.org/officeDocument/2006/relationships/image" Target="../media/image75.png"/><Relationship Id="rId6" Type="http://schemas.openxmlformats.org/officeDocument/2006/relationships/image" Target="../media/image8.png"/><Relationship Id="rId7" Type="http://schemas.openxmlformats.org/officeDocument/2006/relationships/image" Target="../media/image71.png"/><Relationship Id="rId8" Type="http://schemas.openxmlformats.org/officeDocument/2006/relationships/image" Target="../media/image77.png"/><Relationship Id="rId10" Type="http://schemas.openxmlformats.org/officeDocument/2006/relationships/image" Target="../media/image8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1.png"/><Relationship Id="rId4" Type="http://schemas.openxmlformats.org/officeDocument/2006/relationships/image" Target="../media/image74.png"/><Relationship Id="rId5" Type="http://schemas.openxmlformats.org/officeDocument/2006/relationships/image" Target="../media/image76.png"/><Relationship Id="rId6" Type="http://schemas.openxmlformats.org/officeDocument/2006/relationships/image" Target="../media/image8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6.png"/><Relationship Id="rId4" Type="http://schemas.openxmlformats.org/officeDocument/2006/relationships/image" Target="../media/image57.png"/><Relationship Id="rId5" Type="http://schemas.openxmlformats.org/officeDocument/2006/relationships/image" Target="../media/image59.png"/><Relationship Id="rId6" Type="http://schemas.openxmlformats.org/officeDocument/2006/relationships/image" Target="../media/image72.png"/><Relationship Id="rId7" Type="http://schemas.openxmlformats.org/officeDocument/2006/relationships/image" Target="../media/image58.png"/><Relationship Id="rId8" Type="http://schemas.openxmlformats.org/officeDocument/2006/relationships/image" Target="../media/image5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1.png"/><Relationship Id="rId4" Type="http://schemas.openxmlformats.org/officeDocument/2006/relationships/image" Target="../media/image83.png"/><Relationship Id="rId5" Type="http://schemas.openxmlformats.org/officeDocument/2006/relationships/image" Target="../media/image89.png"/><Relationship Id="rId6" Type="http://schemas.openxmlformats.org/officeDocument/2006/relationships/image" Target="../media/image7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1.png"/><Relationship Id="rId4" Type="http://schemas.openxmlformats.org/officeDocument/2006/relationships/image" Target="../media/image74.png"/><Relationship Id="rId9" Type="http://schemas.openxmlformats.org/officeDocument/2006/relationships/image" Target="../media/image85.png"/><Relationship Id="rId5" Type="http://schemas.openxmlformats.org/officeDocument/2006/relationships/image" Target="../media/image83.png"/><Relationship Id="rId6" Type="http://schemas.openxmlformats.org/officeDocument/2006/relationships/image" Target="../media/image87.png"/><Relationship Id="rId7" Type="http://schemas.openxmlformats.org/officeDocument/2006/relationships/image" Target="../media/image84.png"/><Relationship Id="rId8" Type="http://schemas.openxmlformats.org/officeDocument/2006/relationships/image" Target="../media/image9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4.png"/><Relationship Id="rId4" Type="http://schemas.openxmlformats.org/officeDocument/2006/relationships/image" Target="../media/image76.png"/><Relationship Id="rId5" Type="http://schemas.openxmlformats.org/officeDocument/2006/relationships/image" Target="../media/image83.png"/><Relationship Id="rId6" Type="http://schemas.openxmlformats.org/officeDocument/2006/relationships/image" Target="../media/image90.png"/><Relationship Id="rId7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4.png"/><Relationship Id="rId4" Type="http://schemas.openxmlformats.org/officeDocument/2006/relationships/image" Target="../media/image76.png"/><Relationship Id="rId5" Type="http://schemas.openxmlformats.org/officeDocument/2006/relationships/image" Target="../media/image83.png"/><Relationship Id="rId6" Type="http://schemas.openxmlformats.org/officeDocument/2006/relationships/image" Target="../media/image88.png"/><Relationship Id="rId7" Type="http://schemas.openxmlformats.org/officeDocument/2006/relationships/image" Target="../media/image4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6.png"/><Relationship Id="rId4" Type="http://schemas.openxmlformats.org/officeDocument/2006/relationships/image" Target="../media/image57.png"/><Relationship Id="rId9" Type="http://schemas.openxmlformats.org/officeDocument/2006/relationships/image" Target="../media/image86.png"/><Relationship Id="rId5" Type="http://schemas.openxmlformats.org/officeDocument/2006/relationships/image" Target="../media/image59.png"/><Relationship Id="rId6" Type="http://schemas.openxmlformats.org/officeDocument/2006/relationships/image" Target="../media/image72.png"/><Relationship Id="rId7" Type="http://schemas.openxmlformats.org/officeDocument/2006/relationships/image" Target="../media/image58.png"/><Relationship Id="rId8" Type="http://schemas.openxmlformats.org/officeDocument/2006/relationships/image" Target="../media/image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7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/>
          </a:p>
        </p:txBody>
      </p:sp>
      <p:sp>
        <p:nvSpPr>
          <p:cNvPr id="612" name="Google Shape;612;p37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48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38"/>
          <p:cNvGrpSpPr/>
          <p:nvPr/>
        </p:nvGrpSpPr>
        <p:grpSpPr>
          <a:xfrm>
            <a:off x="868426" y="2469824"/>
            <a:ext cx="11123100" cy="1631701"/>
            <a:chOff x="800251" y="1467172"/>
            <a:chExt cx="11123100" cy="1631701"/>
          </a:xfrm>
        </p:grpSpPr>
        <p:sp>
          <p:nvSpPr>
            <p:cNvPr id="621" name="Google Shape;621;p38"/>
            <p:cNvSpPr txBox="1"/>
            <p:nvPr/>
          </p:nvSpPr>
          <p:spPr>
            <a:xfrm>
              <a:off x="800251" y="1467173"/>
              <a:ext cx="111231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C</a:t>
              </a:r>
              <a:r>
                <a:rPr b="1" lang="en-US" sz="52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</a:t>
              </a:r>
              <a:endParaRPr b="1" sz="5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Developing Applications with LLM</a:t>
              </a:r>
              <a:endParaRPr b="1" sz="48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3" name="Google Shape;623;p38"/>
          <p:cNvSpPr txBox="1"/>
          <p:nvPr>
            <p:ph idx="12" type="sldNum"/>
          </p:nvPr>
        </p:nvSpPr>
        <p:spPr>
          <a:xfrm>
            <a:off x="11674248" y="6428527"/>
            <a:ext cx="466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9"/>
          <p:cNvSpPr txBox="1"/>
          <p:nvPr/>
        </p:nvSpPr>
        <p:spPr>
          <a:xfrm>
            <a:off x="2380200" y="2357200"/>
            <a:ext cx="69168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r>
              <a:rPr b="1" lang="en-US" sz="3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34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Output Validation &amp; Safety</a:t>
            </a:r>
            <a:endParaRPr b="1" sz="3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39"/>
          <p:cNvSpPr txBox="1"/>
          <p:nvPr>
            <p:ph idx="12" type="sldNum"/>
          </p:nvPr>
        </p:nvSpPr>
        <p:spPr>
          <a:xfrm>
            <a:off x="11676048" y="6415126"/>
            <a:ext cx="4647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0" name="Google Shape;630;p39"/>
          <p:cNvSpPr txBox="1"/>
          <p:nvPr/>
        </p:nvSpPr>
        <p:spPr>
          <a:xfrm>
            <a:off x="1796700" y="3549875"/>
            <a:ext cx="859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Reducing Hallucinations, Mitigating Risks, and Ensuring Fair, Safe AI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0"/>
          <p:cNvSpPr txBox="1"/>
          <p:nvPr/>
        </p:nvSpPr>
        <p:spPr>
          <a:xfrm>
            <a:off x="337851" y="433775"/>
            <a:ext cx="237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0"/>
          <p:cNvSpPr txBox="1"/>
          <p:nvPr/>
        </p:nvSpPr>
        <p:spPr>
          <a:xfrm>
            <a:off x="2239188" y="1821025"/>
            <a:ext cx="767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goals: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reduce hallucinations, improve safety, enhance fairness.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8" name="Google Shape;63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7737" y="1900750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0115" y="2488062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8925" y="3056975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47750" y="3650112"/>
            <a:ext cx="234851" cy="234851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40"/>
          <p:cNvSpPr txBox="1"/>
          <p:nvPr/>
        </p:nvSpPr>
        <p:spPr>
          <a:xfrm>
            <a:off x="2239203" y="2389950"/>
            <a:ext cx="739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Planning: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 an evaluation plan across lifecycle stages.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3" name="Google Shape;643;p40"/>
          <p:cNvSpPr txBox="1"/>
          <p:nvPr/>
        </p:nvSpPr>
        <p:spPr>
          <a:xfrm>
            <a:off x="2238016" y="2958875"/>
            <a:ext cx="733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Choose key metrics: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accuracy, groundedness, safety, fairness.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4" name="Google Shape;644;p40"/>
          <p:cNvSpPr txBox="1"/>
          <p:nvPr/>
        </p:nvSpPr>
        <p:spPr>
          <a:xfrm>
            <a:off x="2216840" y="3527800"/>
            <a:ext cx="769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Apply mitigations: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RAG, meta-prompting, filters, human-in-loop.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p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6" name="Google Shape;646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76125" y="481950"/>
            <a:ext cx="1108826" cy="1108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0"/>
          <p:cNvSpPr txBox="1"/>
          <p:nvPr/>
        </p:nvSpPr>
        <p:spPr>
          <a:xfrm>
            <a:off x="2712350" y="4491925"/>
            <a:ext cx="7439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Key Outcome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 comprehensive validation strategy that ensures safe, accurate, and fair AI outputs across the entire model lifecycle.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8" name="Google Shape;648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27925" y="4692025"/>
            <a:ext cx="431100" cy="4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1"/>
          <p:cNvSpPr txBox="1"/>
          <p:nvPr/>
        </p:nvSpPr>
        <p:spPr>
          <a:xfrm>
            <a:off x="356875" y="350625"/>
            <a:ext cx="5485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Why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Output Validation</a:t>
            </a: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Matters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4" name="Google Shape;654;p4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1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6" name="Google Shape;656;p41"/>
          <p:cNvSpPr/>
          <p:nvPr/>
        </p:nvSpPr>
        <p:spPr>
          <a:xfrm>
            <a:off x="1969650" y="4675450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1"/>
          <p:cNvSpPr txBox="1"/>
          <p:nvPr/>
        </p:nvSpPr>
        <p:spPr>
          <a:xfrm>
            <a:off x="2609468" y="4675450"/>
            <a:ext cx="1462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Risk Example: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8" name="Google Shape;658;p41"/>
          <p:cNvSpPr txBox="1"/>
          <p:nvPr/>
        </p:nvSpPr>
        <p:spPr>
          <a:xfrm>
            <a:off x="2582150" y="4979257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finance chatbot misquoting regulations could lead to significant compliance risks, customer misinformation, and potential regulatory penalties.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9" name="Google Shape;659;p41"/>
          <p:cNvSpPr txBox="1"/>
          <p:nvPr/>
        </p:nvSpPr>
        <p:spPr>
          <a:xfrm>
            <a:off x="2239188" y="1821025"/>
            <a:ext cx="767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Ensures trust, safety, and reliability of AI responses.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p41"/>
          <p:cNvSpPr txBox="1"/>
          <p:nvPr/>
        </p:nvSpPr>
        <p:spPr>
          <a:xfrm>
            <a:off x="2239203" y="2389950"/>
            <a:ext cx="739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Prevents business, legal, and reputational risks.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p41"/>
          <p:cNvSpPr txBox="1"/>
          <p:nvPr/>
        </p:nvSpPr>
        <p:spPr>
          <a:xfrm>
            <a:off x="2238016" y="2958875"/>
            <a:ext cx="733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Reduces operational costs from post-deployment debugging.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p41"/>
          <p:cNvSpPr txBox="1"/>
          <p:nvPr/>
        </p:nvSpPr>
        <p:spPr>
          <a:xfrm>
            <a:off x="2216840" y="3527800"/>
            <a:ext cx="769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Helps set measurable thresholds before release.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3" name="Google Shape;66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200" y="1961399"/>
            <a:ext cx="192826" cy="19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5775" y="2496673"/>
            <a:ext cx="217676" cy="21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5775" y="3048051"/>
            <a:ext cx="261550" cy="26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3350" y="3651348"/>
            <a:ext cx="217676" cy="21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16850" y="4713828"/>
            <a:ext cx="342950" cy="3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2"/>
          <p:cNvSpPr txBox="1"/>
          <p:nvPr/>
        </p:nvSpPr>
        <p:spPr>
          <a:xfrm>
            <a:off x="356875" y="350625"/>
            <a:ext cx="885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Key Concepts: </a:t>
            </a:r>
            <a:r>
              <a:rPr b="1" lang="en-US" sz="27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Accuracy &amp; Hallucination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3" name="Google Shape;673;p4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5" name="Google Shape;675;p42"/>
          <p:cNvSpPr/>
          <p:nvPr/>
        </p:nvSpPr>
        <p:spPr>
          <a:xfrm>
            <a:off x="533300" y="2409375"/>
            <a:ext cx="5150400" cy="1220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Intrinsic Hallucinations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Logical inconsistencies, contradictions, or reasoning errors within the response itself.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6" name="Google Shape;676;p42"/>
          <p:cNvSpPr/>
          <p:nvPr/>
        </p:nvSpPr>
        <p:spPr>
          <a:xfrm>
            <a:off x="6142900" y="2409375"/>
            <a:ext cx="5150400" cy="1220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Extrinsic Hallucinations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Factual errors that contradict external knowledge or provided context.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7" name="Google Shape;677;p42"/>
          <p:cNvSpPr/>
          <p:nvPr/>
        </p:nvSpPr>
        <p:spPr>
          <a:xfrm>
            <a:off x="2364000" y="5180925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42"/>
          <p:cNvSpPr txBox="1"/>
          <p:nvPr/>
        </p:nvSpPr>
        <p:spPr>
          <a:xfrm>
            <a:off x="3003827" y="5180925"/>
            <a:ext cx="1865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Why This Matters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p42"/>
          <p:cNvSpPr txBox="1"/>
          <p:nvPr/>
        </p:nvSpPr>
        <p:spPr>
          <a:xfrm>
            <a:off x="2976500" y="5484732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Hallucinations undermine trust and can lead to serious downstream consequences, especially in high-stakes domains like medicine, finance, and legal applications.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0" name="Google Shape;680;p42"/>
          <p:cNvSpPr txBox="1"/>
          <p:nvPr/>
        </p:nvSpPr>
        <p:spPr>
          <a:xfrm>
            <a:off x="1625938" y="1269125"/>
            <a:ext cx="767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Accuracy: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Alignment of output with factual or reference data.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p42"/>
          <p:cNvSpPr txBox="1"/>
          <p:nvPr/>
        </p:nvSpPr>
        <p:spPr>
          <a:xfrm>
            <a:off x="1625953" y="1633675"/>
            <a:ext cx="739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Hallucination: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False, fabricated, or unsupported model responses.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2" name="Google Shape;682;p42"/>
          <p:cNvSpPr txBox="1"/>
          <p:nvPr/>
        </p:nvSpPr>
        <p:spPr>
          <a:xfrm>
            <a:off x="1631000" y="4016975"/>
            <a:ext cx="970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Evaluation methods: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Reference-based metrics, model-based checks, human review.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3" name="Google Shape;683;p42"/>
          <p:cNvSpPr txBox="1"/>
          <p:nvPr/>
        </p:nvSpPr>
        <p:spPr>
          <a:xfrm>
            <a:off x="1625940" y="4464825"/>
            <a:ext cx="739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Goal: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Detect, quantify, and reduce misinformation in outputs.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4" name="Google Shape;68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586" y="1342262"/>
            <a:ext cx="284826" cy="28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8598" y="1706800"/>
            <a:ext cx="284826" cy="284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3285" y="4074800"/>
            <a:ext cx="315475" cy="31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93285" y="4522646"/>
            <a:ext cx="315475" cy="315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17485" y="5233034"/>
            <a:ext cx="315475" cy="315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3351" y="2564902"/>
            <a:ext cx="315475" cy="315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4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54535" y="2629775"/>
            <a:ext cx="350525" cy="35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3"/>
          <p:cNvSpPr txBox="1"/>
          <p:nvPr/>
        </p:nvSpPr>
        <p:spPr>
          <a:xfrm>
            <a:off x="356875" y="350625"/>
            <a:ext cx="6803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Metrics for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Accuracy </a:t>
            </a: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Factuality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6" name="Google Shape;696;p4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3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8" name="Google Shape;698;p43"/>
          <p:cNvSpPr/>
          <p:nvPr/>
        </p:nvSpPr>
        <p:spPr>
          <a:xfrm>
            <a:off x="1985425" y="5007625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43"/>
          <p:cNvSpPr txBox="1"/>
          <p:nvPr/>
        </p:nvSpPr>
        <p:spPr>
          <a:xfrm>
            <a:off x="2625243" y="5007625"/>
            <a:ext cx="1462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Data Source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0" name="Google Shape;700;p43"/>
          <p:cNvSpPr txBox="1"/>
          <p:nvPr/>
        </p:nvSpPr>
        <p:spPr>
          <a:xfrm>
            <a:off x="2597925" y="5311432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Metrics and evaluation methodologies derived from the Azure AI Foundry evaluation framework, providing industry-standard benchmarks for model performance.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1" name="Google Shape;701;p43"/>
          <p:cNvSpPr txBox="1"/>
          <p:nvPr/>
        </p:nvSpPr>
        <p:spPr>
          <a:xfrm>
            <a:off x="2027488" y="1427525"/>
            <a:ext cx="767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BLEU, ROUGE, METEOR: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Measure token overlap with reference texts to evaluate generation quality.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2" name="Google Shape;702;p43"/>
          <p:cNvSpPr txBox="1"/>
          <p:nvPr/>
        </p:nvSpPr>
        <p:spPr>
          <a:xfrm>
            <a:off x="1986603" y="2221300"/>
            <a:ext cx="7392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F1 Score: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Combines precision and recall for balanced accuracy measurement.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3" name="Google Shape;703;p43"/>
          <p:cNvSpPr txBox="1"/>
          <p:nvPr/>
        </p:nvSpPr>
        <p:spPr>
          <a:xfrm>
            <a:off x="1954766" y="3015063"/>
            <a:ext cx="7335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Human/LLM Evaluations: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Capture semantic faithfulness and nuance that automated metrics might miss.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4" name="Google Shape;704;p43"/>
          <p:cNvSpPr txBox="1"/>
          <p:nvPr/>
        </p:nvSpPr>
        <p:spPr>
          <a:xfrm>
            <a:off x="1946015" y="3924338"/>
            <a:ext cx="7696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BLEU/F1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question-answering tasks; use LLM evaluators for open-ended text generation.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5" name="Google Shape;7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788" y="3164921"/>
            <a:ext cx="377400" cy="3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6800" y="2371158"/>
            <a:ext cx="377400" cy="3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6800" y="1577383"/>
            <a:ext cx="377400" cy="3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4025" y="4117883"/>
            <a:ext cx="342950" cy="3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2850" y="5049933"/>
            <a:ext cx="377400" cy="3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4"/>
          <p:cNvSpPr txBox="1"/>
          <p:nvPr/>
        </p:nvSpPr>
        <p:spPr>
          <a:xfrm>
            <a:off x="356875" y="35062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BLEU Score: 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Formula &amp; Example</a:t>
            </a:r>
            <a:endParaRPr sz="21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5" name="Google Shape;715;p4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4"/>
          <p:cNvSpPr txBox="1"/>
          <p:nvPr>
            <p:ph idx="12" type="sldNum"/>
          </p:nvPr>
        </p:nvSpPr>
        <p:spPr>
          <a:xfrm>
            <a:off x="11409045" y="629990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7" name="Google Shape;717;p44"/>
          <p:cNvSpPr/>
          <p:nvPr/>
        </p:nvSpPr>
        <p:spPr>
          <a:xfrm>
            <a:off x="506275" y="1233625"/>
            <a:ext cx="9692700" cy="1502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44"/>
          <p:cNvSpPr txBox="1"/>
          <p:nvPr/>
        </p:nvSpPr>
        <p:spPr>
          <a:xfrm>
            <a:off x="775850" y="1358425"/>
            <a:ext cx="166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BLEU Formula:</a:t>
            </a:r>
            <a:endParaRPr/>
          </a:p>
        </p:txBody>
      </p:sp>
      <p:sp>
        <p:nvSpPr>
          <p:cNvPr id="719" name="Google Shape;719;p44"/>
          <p:cNvSpPr txBox="1"/>
          <p:nvPr/>
        </p:nvSpPr>
        <p:spPr>
          <a:xfrm>
            <a:off x="643000" y="2202200"/>
            <a:ext cx="200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BP: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Brevity Penalty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Penalizes short translations</a:t>
            </a:r>
            <a:endParaRPr/>
          </a:p>
        </p:txBody>
      </p:sp>
      <p:sp>
        <p:nvSpPr>
          <p:cNvPr id="720" name="Google Shape;720;p44"/>
          <p:cNvSpPr txBox="1"/>
          <p:nvPr/>
        </p:nvSpPr>
        <p:spPr>
          <a:xfrm>
            <a:off x="4427450" y="2243100"/>
            <a:ext cx="186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: N-gram Weight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Typically uniform (1/N)</a:t>
            </a:r>
            <a:endParaRPr/>
          </a:p>
        </p:txBody>
      </p:sp>
      <p:sp>
        <p:nvSpPr>
          <p:cNvPr id="721" name="Google Shape;721;p44"/>
          <p:cNvSpPr txBox="1"/>
          <p:nvPr/>
        </p:nvSpPr>
        <p:spPr>
          <a:xfrm>
            <a:off x="7751400" y="2243100"/>
            <a:ext cx="18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Pn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: N-gram Precision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Matching n-grams ratio</a:t>
            </a:r>
            <a:endParaRPr/>
          </a:p>
        </p:txBody>
      </p:sp>
      <p:pic>
        <p:nvPicPr>
          <p:cNvPr id="722" name="Google Shape;72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7375" y="1266425"/>
            <a:ext cx="3374725" cy="91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75" y="1422666"/>
            <a:ext cx="210225" cy="210225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44"/>
          <p:cNvSpPr/>
          <p:nvPr/>
        </p:nvSpPr>
        <p:spPr>
          <a:xfrm>
            <a:off x="3834175" y="3015525"/>
            <a:ext cx="4923600" cy="10218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Calculate unigram precision (p1 ):</a:t>
            </a:r>
            <a:b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Matching unigrams: "the", "cat", "is", "on", "mat" = 5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unigrams in hypothesis: 5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p1 = 5/5 = 1.0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5" name="Google Shape;725;p44"/>
          <p:cNvSpPr txBox="1"/>
          <p:nvPr/>
        </p:nvSpPr>
        <p:spPr>
          <a:xfrm>
            <a:off x="643000" y="303635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Practical Example:</a:t>
            </a:r>
            <a:br>
              <a:rPr lang="en-US" sz="1200">
                <a:latin typeface="Poppins"/>
                <a:ea typeface="Poppins"/>
                <a:cs typeface="Poppins"/>
                <a:sym typeface="Poppins"/>
              </a:rPr>
            </a:b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Reference: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"the cat is on the mat"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Hypothesis: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"the cat is on mat"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6" name="Google Shape;726;p44"/>
          <p:cNvSpPr/>
          <p:nvPr/>
        </p:nvSpPr>
        <p:spPr>
          <a:xfrm>
            <a:off x="3834175" y="4189975"/>
            <a:ext cx="4923600" cy="10218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Calculate bigram precision (p2 ):</a:t>
            </a:r>
            <a:b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Matching bigrams: "the cat", "cat is", "is on" = 3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bigrams in hypothesis: 4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p2 = 3/4 = 0.75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7" name="Google Shape;727;p44"/>
          <p:cNvSpPr/>
          <p:nvPr/>
        </p:nvSpPr>
        <p:spPr>
          <a:xfrm>
            <a:off x="3834175" y="5364425"/>
            <a:ext cx="4923600" cy="10218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Calculate BLEU (with BP=1, w1 =w2 =0.5):</a:t>
            </a:r>
            <a:b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BLEU = 1 × exp(0.5×log(1.0) + 0.5×log(0.75))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BLEU = exp(0 + 0.5×(-0.288)) ≈ 0.866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8" name="Google Shape;72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8375" y="3095525"/>
            <a:ext cx="307601" cy="30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8375" y="5469775"/>
            <a:ext cx="307601" cy="30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18375" y="4282650"/>
            <a:ext cx="307601" cy="30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5"/>
          <p:cNvSpPr txBox="1"/>
          <p:nvPr/>
        </p:nvSpPr>
        <p:spPr>
          <a:xfrm>
            <a:off x="356875" y="35062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ROUGE Score: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Formula &amp; Example</a:t>
            </a:r>
            <a:endParaRPr sz="21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6" name="Google Shape;736;p4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5"/>
          <p:cNvSpPr txBox="1"/>
          <p:nvPr>
            <p:ph idx="12" type="sldNum"/>
          </p:nvPr>
        </p:nvSpPr>
        <p:spPr>
          <a:xfrm>
            <a:off x="11409045" y="629990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8" name="Google Shape;738;p45"/>
          <p:cNvSpPr/>
          <p:nvPr/>
        </p:nvSpPr>
        <p:spPr>
          <a:xfrm>
            <a:off x="1024625" y="1544150"/>
            <a:ext cx="8734800" cy="5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45"/>
          <p:cNvSpPr txBox="1"/>
          <p:nvPr/>
        </p:nvSpPr>
        <p:spPr>
          <a:xfrm>
            <a:off x="1234850" y="1647475"/>
            <a:ext cx="839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ROUGE-N  =  (Number of overlapping n-grams) / (Total n-grams in reference)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0" name="Google Shape;740;p45"/>
          <p:cNvSpPr/>
          <p:nvPr/>
        </p:nvSpPr>
        <p:spPr>
          <a:xfrm>
            <a:off x="519450" y="3833000"/>
            <a:ext cx="4923600" cy="107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ROUGE-1 (Unigrams)</a:t>
            </a:r>
            <a:b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Reference unigrams: {the, dog, sat, on, the, rug}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Candidate unigrams: {the, dog, sat, on, rug}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Overlapping: {the, dog, sat, on, rug} = 5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ROUGE-1 = 5/6 = 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0.83</a:t>
            </a: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1" name="Google Shape;741;p45"/>
          <p:cNvSpPr txBox="1"/>
          <p:nvPr/>
        </p:nvSpPr>
        <p:spPr>
          <a:xfrm>
            <a:off x="519450" y="285355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Step-by-Step Calculation:</a:t>
            </a:r>
            <a:br>
              <a:rPr lang="en-US" sz="1200">
                <a:latin typeface="Poppins"/>
                <a:ea typeface="Poppins"/>
                <a:cs typeface="Poppins"/>
                <a:sym typeface="Poppins"/>
              </a:rPr>
            </a:b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Reference: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"the dog sat on the rug"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Candidate: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"the dog sat on rug"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2" name="Google Shape;742;p45"/>
          <p:cNvSpPr/>
          <p:nvPr/>
        </p:nvSpPr>
        <p:spPr>
          <a:xfrm>
            <a:off x="5750525" y="3833050"/>
            <a:ext cx="4923600" cy="107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ROUGE-2 (Bigrams)</a:t>
            </a:r>
            <a:b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Reference bigrams: {the dog, dog sat, sat on, on the, the rug}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Candidate bigrams: {the dog, dog sat, sat on, on rug}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Overlapping: {the dog, dog sat, sat on} = 3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ROUGE-2 = 3/5 = 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0.60</a:t>
            </a: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3" name="Google Shape;743;p45"/>
          <p:cNvSpPr/>
          <p:nvPr/>
        </p:nvSpPr>
        <p:spPr>
          <a:xfrm>
            <a:off x="1945825" y="5330325"/>
            <a:ext cx="7875000" cy="756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Usage Tip</a:t>
            </a:r>
            <a:b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Higher ROUGE-N scores indicate better match with reference text. ROUGE-1 is useful for general content overlap, while ROUGE-2 better captures fluency and readability.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p45"/>
          <p:cNvSpPr txBox="1"/>
          <p:nvPr/>
        </p:nvSpPr>
        <p:spPr>
          <a:xfrm>
            <a:off x="647200" y="1170550"/>
            <a:ext cx="166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Rouge 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Formula:</a:t>
            </a:r>
            <a:endParaRPr/>
          </a:p>
        </p:txBody>
      </p:sp>
      <p:pic>
        <p:nvPicPr>
          <p:cNvPr id="745" name="Google Shape;74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25" y="1234791"/>
            <a:ext cx="210225" cy="210225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45"/>
          <p:cNvSpPr txBox="1"/>
          <p:nvPr/>
        </p:nvSpPr>
        <p:spPr>
          <a:xfrm>
            <a:off x="1047600" y="2104050"/>
            <a:ext cx="86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ROUGE measures the </a:t>
            </a:r>
            <a:r>
              <a:rPr b="1" lang="en-US" sz="1200">
                <a:solidFill>
                  <a:srgbClr val="0000FF"/>
                </a:solidFill>
              </a:rPr>
              <a:t>overlap of n-grams</a:t>
            </a:r>
            <a:r>
              <a:rPr lang="en-US" sz="1200"/>
              <a:t> between model-generated text and reference text.</a:t>
            </a:r>
            <a:endParaRPr sz="1200"/>
          </a:p>
        </p:txBody>
      </p:sp>
      <p:pic>
        <p:nvPicPr>
          <p:cNvPr id="747" name="Google Shape;74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4525" y="5406975"/>
            <a:ext cx="210225" cy="21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6"/>
          <p:cNvSpPr txBox="1"/>
          <p:nvPr/>
        </p:nvSpPr>
        <p:spPr>
          <a:xfrm>
            <a:off x="356875" y="35062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METEOR Score: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Formula &amp; Example</a:t>
            </a:r>
            <a:endParaRPr sz="21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3" name="Google Shape;753;p4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6"/>
          <p:cNvSpPr txBox="1"/>
          <p:nvPr>
            <p:ph idx="12" type="sldNum"/>
          </p:nvPr>
        </p:nvSpPr>
        <p:spPr>
          <a:xfrm>
            <a:off x="11409045" y="629990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5" name="Google Shape;755;p46"/>
          <p:cNvSpPr/>
          <p:nvPr/>
        </p:nvSpPr>
        <p:spPr>
          <a:xfrm>
            <a:off x="1047600" y="1282200"/>
            <a:ext cx="8734800" cy="101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46"/>
          <p:cNvSpPr txBox="1"/>
          <p:nvPr/>
        </p:nvSpPr>
        <p:spPr>
          <a:xfrm>
            <a:off x="2492850" y="1481900"/>
            <a:ext cx="60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METEOR = (10 × Precision × Recall) / (Recall + 9 × Precision) × (1 - Penalty)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7" name="Google Shape;757;p46"/>
          <p:cNvSpPr/>
          <p:nvPr/>
        </p:nvSpPr>
        <p:spPr>
          <a:xfrm>
            <a:off x="5589425" y="3108875"/>
            <a:ext cx="4527600" cy="3003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Step-by-Step Example:</a:t>
            </a:r>
            <a:b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Reference: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"the quick brown fox"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Hypothesis: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"the brown quick fox"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Unigram matches: 4/4 words matched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Precision = 4/4 = 1.0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Recall = 4/4 = 1.0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Chunks = 3 (word order difference creates chunks)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5. Penalty = 0.5 × (3/4)2 = 0.28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6. METEOR = 1.0 × (1 - 0.28) = 0.72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8" name="Google Shape;758;p46"/>
          <p:cNvSpPr txBox="1"/>
          <p:nvPr/>
        </p:nvSpPr>
        <p:spPr>
          <a:xfrm>
            <a:off x="1413825" y="1356975"/>
            <a:ext cx="85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Formula:</a:t>
            </a:r>
            <a:endParaRPr/>
          </a:p>
        </p:txBody>
      </p:sp>
      <p:pic>
        <p:nvPicPr>
          <p:cNvPr id="759" name="Google Shape;75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700" y="1395524"/>
            <a:ext cx="261600" cy="261626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46"/>
          <p:cNvSpPr txBox="1"/>
          <p:nvPr/>
        </p:nvSpPr>
        <p:spPr>
          <a:xfrm>
            <a:off x="1176700" y="1951675"/>
            <a:ext cx="517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Where Penalty = 0.5 × (chunks / unigram_matches)2</a:t>
            </a:r>
            <a:endParaRPr sz="1000"/>
          </a:p>
        </p:txBody>
      </p:sp>
      <p:sp>
        <p:nvSpPr>
          <p:cNvPr id="761" name="Google Shape;761;p46"/>
          <p:cNvSpPr txBox="1"/>
          <p:nvPr/>
        </p:nvSpPr>
        <p:spPr>
          <a:xfrm>
            <a:off x="1047600" y="3108875"/>
            <a:ext cx="4857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Components:</a:t>
            </a:r>
            <a:b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Precision: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Matched n-grams / total n-grams in hypothesis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Recall: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Matched n-grams / total n-grams in reference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Penalty: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Reduces score when word ordering differs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2" name="Google Shape;762;p46"/>
          <p:cNvSpPr txBox="1"/>
          <p:nvPr/>
        </p:nvSpPr>
        <p:spPr>
          <a:xfrm>
            <a:off x="1047600" y="4385525"/>
            <a:ext cx="4413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Advantages over BLEU:</a:t>
            </a:r>
            <a:b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Accounts for word ordering &amp; synonyms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Balances precision and recall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Correlates better with human judgments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3" name="Google Shape;76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4650" y="3177279"/>
            <a:ext cx="291150" cy="29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1750" y="4435350"/>
            <a:ext cx="216950" cy="21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4850" y="3368225"/>
            <a:ext cx="291150" cy="291150"/>
          </a:xfrm>
          <a:prstGeom prst="rect">
            <a:avLst/>
          </a:prstGeom>
          <a:solidFill>
            <a:srgbClr val="C9DAF8"/>
          </a:soli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7"/>
          <p:cNvSpPr txBox="1"/>
          <p:nvPr/>
        </p:nvSpPr>
        <p:spPr>
          <a:xfrm>
            <a:off x="356875" y="35062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F1 Score: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Formula &amp; Example</a:t>
            </a:r>
            <a:endParaRPr sz="21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1" name="Google Shape;771;p4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7"/>
          <p:cNvSpPr txBox="1"/>
          <p:nvPr>
            <p:ph idx="12" type="sldNum"/>
          </p:nvPr>
        </p:nvSpPr>
        <p:spPr>
          <a:xfrm>
            <a:off x="11409045" y="629990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3" name="Google Shape;773;p47"/>
          <p:cNvSpPr/>
          <p:nvPr/>
        </p:nvSpPr>
        <p:spPr>
          <a:xfrm>
            <a:off x="1098700" y="1415050"/>
            <a:ext cx="8734800" cy="569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47"/>
          <p:cNvSpPr txBox="1"/>
          <p:nvPr/>
        </p:nvSpPr>
        <p:spPr>
          <a:xfrm>
            <a:off x="2804575" y="1474525"/>
            <a:ext cx="60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F1 = 2 × (Precision × Recall) / (Precision + Recall)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5" name="Google Shape;775;p47"/>
          <p:cNvSpPr/>
          <p:nvPr/>
        </p:nvSpPr>
        <p:spPr>
          <a:xfrm>
            <a:off x="6723900" y="2613200"/>
            <a:ext cx="4527600" cy="3003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 Calculation:</a:t>
            </a:r>
            <a:b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Reference: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[a, b, c, d]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Prediction: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[a, c, e]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True Positives (TP) = 2 (elements a, c)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False Positives (FP) = 1 (element e)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False Negatives (FN) = 2 (elements b, d)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Precision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TP/(TP+FP) = 2/3 ≈ 0.67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Recall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TP/(TP+FN) = 2/4 = 0.5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F1 Score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2 × (0.67 × 0.5) / (0.67 + 0.5) = 2 × 0.335 / 1.17 ≈ 0.57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6" name="Google Shape;776;p47"/>
          <p:cNvSpPr txBox="1"/>
          <p:nvPr/>
        </p:nvSpPr>
        <p:spPr>
          <a:xfrm>
            <a:off x="1464925" y="1489825"/>
            <a:ext cx="85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Formula:</a:t>
            </a:r>
            <a:endParaRPr/>
          </a:p>
        </p:txBody>
      </p:sp>
      <p:pic>
        <p:nvPicPr>
          <p:cNvPr id="777" name="Google Shape;77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7800" y="1528374"/>
            <a:ext cx="261600" cy="261626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47"/>
          <p:cNvSpPr txBox="1"/>
          <p:nvPr/>
        </p:nvSpPr>
        <p:spPr>
          <a:xfrm>
            <a:off x="659225" y="2721125"/>
            <a:ext cx="5783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Precision: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Ratio of true positive predictions to all positive predictions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Precision = TP / (TP + FP)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Recall: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Matched n-grams / total n-grams in reference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Recall = TP / (TP + FN)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 use F1?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Balances precision and recall, especially useful when data is imbalanced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79" name="Google Shape;77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7350" y="2770350"/>
            <a:ext cx="291150" cy="291150"/>
          </a:xfrm>
          <a:prstGeom prst="rect">
            <a:avLst/>
          </a:prstGeom>
          <a:solidFill>
            <a:srgbClr val="C9DAF8"/>
          </a:solidFill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8"/>
          <p:cNvSpPr txBox="1"/>
          <p:nvPr/>
        </p:nvSpPr>
        <p:spPr>
          <a:xfrm>
            <a:off x="356875" y="350625"/>
            <a:ext cx="7731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RAG &amp; Grounding: </a:t>
            </a:r>
            <a:r>
              <a:rPr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The Hallucination Solution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5" name="Google Shape;785;p4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8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7" name="Google Shape;787;p48"/>
          <p:cNvSpPr/>
          <p:nvPr/>
        </p:nvSpPr>
        <p:spPr>
          <a:xfrm>
            <a:off x="1985425" y="5007625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48"/>
          <p:cNvSpPr txBox="1"/>
          <p:nvPr/>
        </p:nvSpPr>
        <p:spPr>
          <a:xfrm>
            <a:off x="2625243" y="5007625"/>
            <a:ext cx="1462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Example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9" name="Google Shape;789;p48"/>
          <p:cNvSpPr txBox="1"/>
          <p:nvPr/>
        </p:nvSpPr>
        <p:spPr>
          <a:xfrm>
            <a:off x="2597925" y="5311432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support chatbot retrieves specific sections from product manuals before generating troubleshooting instructions, ensuring accuracy and preventing fabricated steps.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0" name="Google Shape;790;p48"/>
          <p:cNvSpPr txBox="1"/>
          <p:nvPr/>
        </p:nvSpPr>
        <p:spPr>
          <a:xfrm>
            <a:off x="2027488" y="1427525"/>
            <a:ext cx="767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Retrieval-Augmented Generation (RAG):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Adds factual grounding via external data.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1" name="Google Shape;791;p48"/>
          <p:cNvSpPr txBox="1"/>
          <p:nvPr/>
        </p:nvSpPr>
        <p:spPr>
          <a:xfrm>
            <a:off x="1986603" y="2221300"/>
            <a:ext cx="739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Improves factual consistency by using verified context.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2" name="Google Shape;792;p48"/>
          <p:cNvSpPr txBox="1"/>
          <p:nvPr/>
        </p:nvSpPr>
        <p:spPr>
          <a:xfrm>
            <a:off x="1954766" y="3015063"/>
            <a:ext cx="733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Groundedness Metric: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% of response supported by retrieved sources.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3" name="Google Shape;793;p48"/>
          <p:cNvSpPr txBox="1"/>
          <p:nvPr/>
        </p:nvSpPr>
        <p:spPr>
          <a:xfrm>
            <a:off x="1882790" y="3814425"/>
            <a:ext cx="769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Ensures up-to-date and evidence-backed answers.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94" name="Google Shape;79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800" y="3902596"/>
            <a:ext cx="342950" cy="3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6800" y="3041933"/>
            <a:ext cx="377400" cy="3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2725" y="2248151"/>
            <a:ext cx="377400" cy="3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1725" y="1575350"/>
            <a:ext cx="307525" cy="30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7949" y="5049933"/>
            <a:ext cx="377400" cy="3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9"/>
          <p:cNvSpPr txBox="1"/>
          <p:nvPr/>
        </p:nvSpPr>
        <p:spPr>
          <a:xfrm>
            <a:off x="356875" y="350625"/>
            <a:ext cx="7731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Evaluating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RAG </a:t>
            </a: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4" name="Google Shape;804;p4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49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6" name="Google Shape;806;p49"/>
          <p:cNvSpPr/>
          <p:nvPr/>
        </p:nvSpPr>
        <p:spPr>
          <a:xfrm>
            <a:off x="1985425" y="5007625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9"/>
          <p:cNvSpPr txBox="1"/>
          <p:nvPr/>
        </p:nvSpPr>
        <p:spPr>
          <a:xfrm>
            <a:off x="2625252" y="5007625"/>
            <a:ext cx="19779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Best Practice Tip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8" name="Google Shape;808;p49"/>
          <p:cNvSpPr txBox="1"/>
          <p:nvPr/>
        </p:nvSpPr>
        <p:spPr>
          <a:xfrm>
            <a:off x="2597925" y="5311432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Automate logging of retrieval + grounding scores per query to build performance dashboards and detect quality issues early.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49"/>
          <p:cNvSpPr txBox="1"/>
          <p:nvPr/>
        </p:nvSpPr>
        <p:spPr>
          <a:xfrm>
            <a:off x="2027488" y="1427525"/>
            <a:ext cx="767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Retrieval Accuracy: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% queries with correct document in top-k results.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49"/>
          <p:cNvSpPr txBox="1"/>
          <p:nvPr/>
        </p:nvSpPr>
        <p:spPr>
          <a:xfrm>
            <a:off x="1986603" y="2221300"/>
            <a:ext cx="739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Relevance Metrics: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Precision@k, Recall@k, and hit rate.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49"/>
          <p:cNvSpPr txBox="1"/>
          <p:nvPr/>
        </p:nvSpPr>
        <p:spPr>
          <a:xfrm>
            <a:off x="1954766" y="3015063"/>
            <a:ext cx="733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Groundedness Score: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Portion of response justified by retrieved text.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49"/>
          <p:cNvSpPr txBox="1"/>
          <p:nvPr/>
        </p:nvSpPr>
        <p:spPr>
          <a:xfrm>
            <a:off x="1882790" y="3814425"/>
            <a:ext cx="769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Monitor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latency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vs.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factuality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tradeoffs.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13" name="Google Shape;81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650" y="1551100"/>
            <a:ext cx="307525" cy="30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7949" y="5049933"/>
            <a:ext cx="377400" cy="3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7662" y="3876220"/>
            <a:ext cx="307525" cy="30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1737" y="2277502"/>
            <a:ext cx="307525" cy="30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97650" y="3035825"/>
            <a:ext cx="337700" cy="3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0"/>
          <p:cNvSpPr txBox="1"/>
          <p:nvPr/>
        </p:nvSpPr>
        <p:spPr>
          <a:xfrm>
            <a:off x="356875" y="350625"/>
            <a:ext cx="855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RAG Metric: 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Precision@k</a:t>
            </a: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Recall@k</a:t>
            </a:r>
            <a:endParaRPr sz="21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5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0"/>
          <p:cNvSpPr txBox="1"/>
          <p:nvPr>
            <p:ph idx="12" type="sldNum"/>
          </p:nvPr>
        </p:nvSpPr>
        <p:spPr>
          <a:xfrm>
            <a:off x="11409045" y="6299909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5" name="Google Shape;825;p50"/>
          <p:cNvSpPr/>
          <p:nvPr/>
        </p:nvSpPr>
        <p:spPr>
          <a:xfrm>
            <a:off x="766900" y="1627075"/>
            <a:ext cx="4429200" cy="82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6" name="Google Shape;826;p50"/>
          <p:cNvSpPr txBox="1"/>
          <p:nvPr/>
        </p:nvSpPr>
        <p:spPr>
          <a:xfrm>
            <a:off x="839650" y="1810975"/>
            <a:ext cx="435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Precision@k = 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Number of relevant documents in top k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/ k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50"/>
          <p:cNvSpPr/>
          <p:nvPr/>
        </p:nvSpPr>
        <p:spPr>
          <a:xfrm>
            <a:off x="1462725" y="2699275"/>
            <a:ext cx="8266800" cy="251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28" name="Google Shape;828;p50"/>
          <p:cNvSpPr txBox="1"/>
          <p:nvPr/>
        </p:nvSpPr>
        <p:spPr>
          <a:xfrm>
            <a:off x="1535475" y="2780850"/>
            <a:ext cx="19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Practical Example: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50"/>
          <p:cNvSpPr/>
          <p:nvPr/>
        </p:nvSpPr>
        <p:spPr>
          <a:xfrm>
            <a:off x="5641225" y="1627075"/>
            <a:ext cx="4624200" cy="82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50"/>
          <p:cNvSpPr txBox="1"/>
          <p:nvPr/>
        </p:nvSpPr>
        <p:spPr>
          <a:xfrm>
            <a:off x="5713975" y="1810975"/>
            <a:ext cx="442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Recall@k = </a:t>
            </a: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Number of relevant documents in top k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/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relevant documents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1" name="Google Shape;831;p50"/>
          <p:cNvSpPr txBox="1"/>
          <p:nvPr/>
        </p:nvSpPr>
        <p:spPr>
          <a:xfrm>
            <a:off x="766900" y="12577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Precision@k Formula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832" name="Google Shape;832;p50"/>
          <p:cNvSpPr txBox="1"/>
          <p:nvPr/>
        </p:nvSpPr>
        <p:spPr>
          <a:xfrm>
            <a:off x="5641225" y="12824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Recall@k Formula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833" name="Google Shape;833;p50"/>
          <p:cNvSpPr txBox="1"/>
          <p:nvPr/>
        </p:nvSpPr>
        <p:spPr>
          <a:xfrm>
            <a:off x="3276150" y="2830200"/>
            <a:ext cx="47217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Query: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"What are side effects of medication X?"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Retrieved Documents (top-5):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✓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Doc 1: "Side effects of medication X" </a:t>
            </a:r>
            <a:r>
              <a:rPr b="1" lang="en-US" sz="1000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(relevant)</a:t>
            </a:r>
            <a:br>
              <a:rPr b="1" lang="en-US" sz="1000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000">
              <a:solidFill>
                <a:srgbClr val="6AA84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✗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Doc 2: "Pricing for medication X" </a:t>
            </a:r>
            <a:r>
              <a:rPr b="1" lang="en-US" sz="1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(not relevant)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Doc 3: "Common adverse reactions to X" </a:t>
            </a:r>
            <a:r>
              <a:rPr b="1" lang="en-US" sz="1000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(relevant)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✗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Doc 4: "History of medication X development" </a:t>
            </a:r>
            <a:r>
              <a:rPr b="1" lang="en-US" sz="1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(not relevant)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Doc 5: "Clinical trials showing X side effects" </a:t>
            </a:r>
            <a:r>
              <a:rPr b="1" lang="en-US" sz="1000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(relevant)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834" name="Google Shape;834;p50"/>
          <p:cNvSpPr/>
          <p:nvPr/>
        </p:nvSpPr>
        <p:spPr>
          <a:xfrm>
            <a:off x="1506325" y="5376325"/>
            <a:ext cx="8156100" cy="73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Total relevant documents in collection: 5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Precision@5 = 3/5 = 0.6 or 60%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Recall@5 = 3/5 = 0.6 or 60%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51"/>
          <p:cNvSpPr txBox="1"/>
          <p:nvPr/>
        </p:nvSpPr>
        <p:spPr>
          <a:xfrm>
            <a:off x="356875" y="350625"/>
            <a:ext cx="8109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RAG Metric: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Groundedness Calculation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0" name="Google Shape;840;p5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1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2" name="Google Shape;842;p51"/>
          <p:cNvSpPr/>
          <p:nvPr/>
        </p:nvSpPr>
        <p:spPr>
          <a:xfrm>
            <a:off x="1206750" y="1447600"/>
            <a:ext cx="7464000" cy="41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51"/>
          <p:cNvSpPr txBox="1"/>
          <p:nvPr/>
        </p:nvSpPr>
        <p:spPr>
          <a:xfrm>
            <a:off x="1928419" y="1453213"/>
            <a:ext cx="5770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Groundedness = (Supported claims) / (Total factual claims)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4" name="Google Shape;844;p51"/>
          <p:cNvSpPr txBox="1"/>
          <p:nvPr/>
        </p:nvSpPr>
        <p:spPr>
          <a:xfrm>
            <a:off x="2436013" y="3116850"/>
            <a:ext cx="767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"The PowerShot X50 has 20MP resolution" (Supported by manual)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5" name="Google Shape;845;p51"/>
          <p:cNvSpPr txBox="1"/>
          <p:nvPr/>
        </p:nvSpPr>
        <p:spPr>
          <a:xfrm>
            <a:off x="2436028" y="3517050"/>
            <a:ext cx="73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"It includes built-in WiFi connectivity" (Supported by specs)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6" name="Google Shape;846;p51"/>
          <p:cNvSpPr txBox="1"/>
          <p:nvPr/>
        </p:nvSpPr>
        <p:spPr>
          <a:xfrm>
            <a:off x="2464366" y="3911150"/>
            <a:ext cx="73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"Battery life is approximately 300 shots" (Supported by manual)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7" name="Google Shape;847;p51"/>
          <p:cNvSpPr txBox="1"/>
          <p:nvPr/>
        </p:nvSpPr>
        <p:spPr>
          <a:xfrm>
            <a:off x="2464378" y="4311350"/>
            <a:ext cx="769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"It has 4K video recording capability" (Supported by specs)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8" name="Google Shape;848;p51"/>
          <p:cNvSpPr txBox="1"/>
          <p:nvPr/>
        </p:nvSpPr>
        <p:spPr>
          <a:xfrm>
            <a:off x="700900" y="1047400"/>
            <a:ext cx="83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Groundedness measures how well an AI response is supported by the retrieved context documents.</a:t>
            </a:r>
            <a:endParaRPr/>
          </a:p>
        </p:txBody>
      </p:sp>
      <p:sp>
        <p:nvSpPr>
          <p:cNvPr id="849" name="Google Shape;849;p51"/>
          <p:cNvSpPr txBox="1"/>
          <p:nvPr/>
        </p:nvSpPr>
        <p:spPr>
          <a:xfrm>
            <a:off x="700900" y="1878550"/>
            <a:ext cx="10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Calculation requires identifying all factual claims in a response and determining which ones are supported by source documents.</a:t>
            </a:r>
            <a:endParaRPr/>
          </a:p>
        </p:txBody>
      </p:sp>
      <p:sp>
        <p:nvSpPr>
          <p:cNvPr id="850" name="Google Shape;850;p51"/>
          <p:cNvSpPr txBox="1"/>
          <p:nvPr/>
        </p:nvSpPr>
        <p:spPr>
          <a:xfrm>
            <a:off x="784150" y="2566550"/>
            <a:ext cx="882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Example: Product Support AI Response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Consider an AI response about a camera product with 6 factual claims:</a:t>
            </a:r>
            <a:endParaRPr/>
          </a:p>
        </p:txBody>
      </p:sp>
      <p:sp>
        <p:nvSpPr>
          <p:cNvPr id="851" name="Google Shape;851;p51"/>
          <p:cNvSpPr txBox="1"/>
          <p:nvPr/>
        </p:nvSpPr>
        <p:spPr>
          <a:xfrm>
            <a:off x="2492778" y="4711550"/>
            <a:ext cx="769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"The standard warranty is 1 year" (Supported by warranty doc)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2" name="Google Shape;852;p51"/>
          <p:cNvSpPr txBox="1"/>
          <p:nvPr/>
        </p:nvSpPr>
        <p:spPr>
          <a:xfrm>
            <a:off x="2464378" y="5105650"/>
            <a:ext cx="769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"Compatible with all EF lenses" (Not supported by any source)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3" name="Google Shape;853;p51"/>
          <p:cNvSpPr txBox="1"/>
          <p:nvPr/>
        </p:nvSpPr>
        <p:spPr>
          <a:xfrm>
            <a:off x="2129200" y="5621225"/>
            <a:ext cx="78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Groundedness Score = 5/6 ≈ 0.83 or 83%</a:t>
            </a:r>
            <a:endParaRPr b="1"/>
          </a:p>
        </p:txBody>
      </p:sp>
      <p:pic>
        <p:nvPicPr>
          <p:cNvPr id="854" name="Google Shape;85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201" y="3220023"/>
            <a:ext cx="193850" cy="1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201" y="3620223"/>
            <a:ext cx="193850" cy="1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201" y="4020423"/>
            <a:ext cx="193850" cy="1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201" y="4420623"/>
            <a:ext cx="193850" cy="1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201" y="4820823"/>
            <a:ext cx="193850" cy="1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9201" y="5196514"/>
            <a:ext cx="193850" cy="1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2"/>
          <p:cNvSpPr txBox="1"/>
          <p:nvPr/>
        </p:nvSpPr>
        <p:spPr>
          <a:xfrm>
            <a:off x="356875" y="350625"/>
            <a:ext cx="6803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Measuring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Reducing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Hallucinations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5" name="Google Shape;865;p5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2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7" name="Google Shape;867;p52"/>
          <p:cNvSpPr/>
          <p:nvPr/>
        </p:nvSpPr>
        <p:spPr>
          <a:xfrm>
            <a:off x="1798700" y="3592075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52"/>
          <p:cNvSpPr txBox="1"/>
          <p:nvPr/>
        </p:nvSpPr>
        <p:spPr>
          <a:xfrm>
            <a:off x="2438518" y="3592075"/>
            <a:ext cx="1462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Key Metric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9" name="Google Shape;869;p52"/>
          <p:cNvSpPr txBox="1"/>
          <p:nvPr/>
        </p:nvSpPr>
        <p:spPr>
          <a:xfrm>
            <a:off x="2411200" y="3895882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% of responses flagged as "ungrounded" by automated evaluators or human reviewers, with target thresholds based on use case criticality.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0" name="Google Shape;870;p52"/>
          <p:cNvSpPr txBox="1"/>
          <p:nvPr/>
        </p:nvSpPr>
        <p:spPr>
          <a:xfrm>
            <a:off x="1439801" y="1488850"/>
            <a:ext cx="8253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Combine automated scoring + targeted human sampling for comprehensive evaluation.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factuality benchmarks and adversarial test prompts to stress-test your model.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Track hallucination rates per domain or topic to identify problem areas.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Retrain or add grounding mechanisms where hallucination frequency is high.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1" name="Google Shape;871;p52"/>
          <p:cNvSpPr/>
          <p:nvPr/>
        </p:nvSpPr>
        <p:spPr>
          <a:xfrm>
            <a:off x="1798700" y="4786975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52"/>
          <p:cNvSpPr txBox="1"/>
          <p:nvPr/>
        </p:nvSpPr>
        <p:spPr>
          <a:xfrm>
            <a:off x="2438529" y="4786975"/>
            <a:ext cx="2445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Implementation Tip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3" name="Google Shape;873;p52"/>
          <p:cNvSpPr txBox="1"/>
          <p:nvPr/>
        </p:nvSpPr>
        <p:spPr>
          <a:xfrm>
            <a:off x="2411200" y="5090782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Create domain-specific hallucination dashboards that track trends over time, enabling targeted interventions where they'll have maximum impact.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4" name="Google Shape;87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975" y="1593950"/>
            <a:ext cx="222950" cy="2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5977" y="2023712"/>
            <a:ext cx="222950" cy="2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8262" y="2411662"/>
            <a:ext cx="278374" cy="27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5978" y="2829005"/>
            <a:ext cx="222950" cy="222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20725" y="3682000"/>
            <a:ext cx="329775" cy="32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91138" y="4890850"/>
            <a:ext cx="388950" cy="3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3"/>
          <p:cNvSpPr txBox="1"/>
          <p:nvPr/>
        </p:nvSpPr>
        <p:spPr>
          <a:xfrm>
            <a:off x="356875" y="350625"/>
            <a:ext cx="6803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Practice 1: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Hallucination Detection</a:t>
            </a: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p5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3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7" name="Google Shape;887;p53"/>
          <p:cNvSpPr/>
          <p:nvPr/>
        </p:nvSpPr>
        <p:spPr>
          <a:xfrm>
            <a:off x="2782725" y="4016925"/>
            <a:ext cx="6803700" cy="6426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53"/>
          <p:cNvSpPr txBox="1"/>
          <p:nvPr/>
        </p:nvSpPr>
        <p:spPr>
          <a:xfrm>
            <a:off x="3463443" y="4016925"/>
            <a:ext cx="1462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Optional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p53"/>
          <p:cNvSpPr txBox="1"/>
          <p:nvPr/>
        </p:nvSpPr>
        <p:spPr>
          <a:xfrm>
            <a:off x="3463450" y="4320782"/>
            <a:ext cx="680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Propose a prompt or retrieval tweak.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0" name="Google Shape;890;p53"/>
          <p:cNvSpPr txBox="1"/>
          <p:nvPr/>
        </p:nvSpPr>
        <p:spPr>
          <a:xfrm>
            <a:off x="3046551" y="2465600"/>
            <a:ext cx="8253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Review 3 model outputs.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Label: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Accurate, Intrinsic Hallucination, or Extrinsic Hallucination.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Discuss: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Which verification signals/techniques could catch these?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1" name="Google Shape;891;p53"/>
          <p:cNvSpPr/>
          <p:nvPr/>
        </p:nvSpPr>
        <p:spPr>
          <a:xfrm>
            <a:off x="2823625" y="4828575"/>
            <a:ext cx="6866400" cy="642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53"/>
          <p:cNvSpPr txBox="1"/>
          <p:nvPr/>
        </p:nvSpPr>
        <p:spPr>
          <a:xfrm>
            <a:off x="3463454" y="4828575"/>
            <a:ext cx="2445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p53"/>
          <p:cNvSpPr txBox="1"/>
          <p:nvPr/>
        </p:nvSpPr>
        <p:spPr>
          <a:xfrm>
            <a:off x="3436125" y="5132375"/>
            <a:ext cx="640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this space for group collaboration and insights. Share your findings with the broader team.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4" name="Google Shape;894;p53"/>
          <p:cNvSpPr txBox="1"/>
          <p:nvPr/>
        </p:nvSpPr>
        <p:spPr>
          <a:xfrm>
            <a:off x="1510875" y="1225625"/>
            <a:ext cx="672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Identify and classify hallucinations in AI outputs.</a:t>
            </a:r>
            <a:endParaRPr/>
          </a:p>
        </p:txBody>
      </p:sp>
      <p:sp>
        <p:nvSpPr>
          <p:cNvPr id="895" name="Google Shape;895;p53"/>
          <p:cNvSpPr txBox="1"/>
          <p:nvPr/>
        </p:nvSpPr>
        <p:spPr>
          <a:xfrm>
            <a:off x="1759175" y="2117200"/>
            <a:ext cx="140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Instructions:</a:t>
            </a:r>
            <a:endParaRPr b="1"/>
          </a:p>
        </p:txBody>
      </p:sp>
      <p:pic>
        <p:nvPicPr>
          <p:cNvPr id="896" name="Google Shape;89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725" y="2563375"/>
            <a:ext cx="202175" cy="20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4775" y="2978025"/>
            <a:ext cx="202175" cy="20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4775" y="3435875"/>
            <a:ext cx="202175" cy="20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1100" y="1368537"/>
            <a:ext cx="329775" cy="32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98063" y="4080450"/>
            <a:ext cx="292650" cy="2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79499" y="4948750"/>
            <a:ext cx="329775" cy="329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54"/>
          <p:cNvSpPr txBox="1"/>
          <p:nvPr/>
        </p:nvSpPr>
        <p:spPr>
          <a:xfrm>
            <a:off x="356875" y="350625"/>
            <a:ext cx="885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Harmful Content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Fairness: </a:t>
            </a:r>
            <a:r>
              <a:rPr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The Imperative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7" name="Google Shape;907;p5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54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9" name="Google Shape;909;p54"/>
          <p:cNvSpPr/>
          <p:nvPr/>
        </p:nvSpPr>
        <p:spPr>
          <a:xfrm>
            <a:off x="1911150" y="4956125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54"/>
          <p:cNvSpPr txBox="1"/>
          <p:nvPr/>
        </p:nvSpPr>
        <p:spPr>
          <a:xfrm>
            <a:off x="2623202" y="4956125"/>
            <a:ext cx="18990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Why It Matters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1" name="Google Shape;911;p54"/>
          <p:cNvSpPr txBox="1"/>
          <p:nvPr/>
        </p:nvSpPr>
        <p:spPr>
          <a:xfrm>
            <a:off x="2595250" y="5254807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Harmful or biased outputs can cause immediate user harm, violate regulations, damage brand trust, and limit your AI's market reach.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2" name="Google Shape;912;p54"/>
          <p:cNvSpPr txBox="1"/>
          <p:nvPr/>
        </p:nvSpPr>
        <p:spPr>
          <a:xfrm>
            <a:off x="1439801" y="1488850"/>
            <a:ext cx="8253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Harm categories: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hate, harassment, sexual, violent, self-harm.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Fairness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ensures equitable model behavior across demographics.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Bias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 lead to real-world harm or reputational loss.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dedicated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safety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evaluators for harmful outputs.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Goal: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Ensure safe, inclusive, and compliant AI responses.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13" name="Google Shape;91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600" y="5038975"/>
            <a:ext cx="49260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8250" y="1543625"/>
            <a:ext cx="278374" cy="27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6200" y="2164087"/>
            <a:ext cx="302476" cy="30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6200" y="2808637"/>
            <a:ext cx="302476" cy="30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46425" y="3473625"/>
            <a:ext cx="302476" cy="30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64500" y="4118175"/>
            <a:ext cx="245875" cy="2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5"/>
          <p:cNvSpPr txBox="1"/>
          <p:nvPr/>
        </p:nvSpPr>
        <p:spPr>
          <a:xfrm>
            <a:off x="356875" y="350625"/>
            <a:ext cx="885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Fairness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Bias Metrics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4" name="Google Shape;924;p5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55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6" name="Google Shape;926;p55"/>
          <p:cNvSpPr/>
          <p:nvPr/>
        </p:nvSpPr>
        <p:spPr>
          <a:xfrm>
            <a:off x="1814050" y="3928950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55"/>
          <p:cNvSpPr txBox="1"/>
          <p:nvPr/>
        </p:nvSpPr>
        <p:spPr>
          <a:xfrm>
            <a:off x="2526099" y="3928950"/>
            <a:ext cx="3206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Example Application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8" name="Google Shape;928;p55"/>
          <p:cNvSpPr txBox="1"/>
          <p:nvPr/>
        </p:nvSpPr>
        <p:spPr>
          <a:xfrm>
            <a:off x="2498150" y="4227632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Compare response politeness between genders: Do answers to similar questions maintain consistent tone and formality regardless of perceived user gender?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9" name="Google Shape;929;p55"/>
          <p:cNvSpPr txBox="1"/>
          <p:nvPr/>
        </p:nvSpPr>
        <p:spPr>
          <a:xfrm>
            <a:off x="1484701" y="1228225"/>
            <a:ext cx="8253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Demographic Parity: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Compare positive response rates across demographic groups.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Equalized Odds: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Check TPR/FPR consistency across demographics.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Sentiment/Emotion Breakdown: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Detect tone bias by audience segment.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diverse test data to audit model fairness.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0" name="Google Shape;93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100" y="1290237"/>
            <a:ext cx="302476" cy="302476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55"/>
          <p:cNvSpPr/>
          <p:nvPr/>
        </p:nvSpPr>
        <p:spPr>
          <a:xfrm>
            <a:off x="1802150" y="5026750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55"/>
          <p:cNvSpPr txBox="1"/>
          <p:nvPr/>
        </p:nvSpPr>
        <p:spPr>
          <a:xfrm>
            <a:off x="2514199" y="5026750"/>
            <a:ext cx="2983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Measurement Approach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3" name="Google Shape;933;p55"/>
          <p:cNvSpPr txBox="1"/>
          <p:nvPr/>
        </p:nvSpPr>
        <p:spPr>
          <a:xfrm>
            <a:off x="2486250" y="5325432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Track fairness metrics over time to identify shifts in model behavior across software updates or data changes.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4" name="Google Shape;93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7063" y="1926850"/>
            <a:ext cx="277650" cy="27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7075" y="2570774"/>
            <a:ext cx="277626" cy="27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4650" y="3214675"/>
            <a:ext cx="302476" cy="30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35575" y="4071999"/>
            <a:ext cx="450675" cy="4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91588" y="5151875"/>
            <a:ext cx="338650" cy="3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6"/>
          <p:cNvSpPr txBox="1"/>
          <p:nvPr/>
        </p:nvSpPr>
        <p:spPr>
          <a:xfrm>
            <a:off x="356875" y="350625"/>
            <a:ext cx="885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Content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Filtering </a:t>
            </a: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Safety </a:t>
            </a: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Pipelines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4" name="Google Shape;944;p5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56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6" name="Google Shape;946;p56"/>
          <p:cNvSpPr/>
          <p:nvPr/>
        </p:nvSpPr>
        <p:spPr>
          <a:xfrm>
            <a:off x="2035700" y="5097275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56"/>
          <p:cNvSpPr txBox="1"/>
          <p:nvPr/>
        </p:nvSpPr>
        <p:spPr>
          <a:xfrm>
            <a:off x="2747749" y="5097275"/>
            <a:ext cx="3206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Example: PII Protection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8" name="Google Shape;948;p56"/>
          <p:cNvSpPr txBox="1"/>
          <p:nvPr/>
        </p:nvSpPr>
        <p:spPr>
          <a:xfrm>
            <a:off x="2719800" y="5395957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Automated output filters identify and redact personally identifiable information (PII) such as phone numbers, emails, and addresses to ensure compliance with privacy regulations.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9" name="Google Shape;949;p56"/>
          <p:cNvSpPr txBox="1"/>
          <p:nvPr/>
        </p:nvSpPr>
        <p:spPr>
          <a:xfrm>
            <a:off x="1652951" y="3217500"/>
            <a:ext cx="8253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Layered filters: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input → model → output provides multiple safety checkpoints.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Automated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classifiers detect hate, sexual, or violent content.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policies: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block, redact, or escalate flagged responses.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Integrate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filters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both pre- and post-generation for comprehensive safety.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0" name="Google Shape;95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525" y="5216573"/>
            <a:ext cx="521500" cy="52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2675" y="1564687"/>
            <a:ext cx="922275" cy="92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9425" y="1559800"/>
            <a:ext cx="861900" cy="86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1475" y="1594875"/>
            <a:ext cx="861900" cy="86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56"/>
          <p:cNvSpPr/>
          <p:nvPr/>
        </p:nvSpPr>
        <p:spPr>
          <a:xfrm>
            <a:off x="3402225" y="1878250"/>
            <a:ext cx="521400" cy="2250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56"/>
          <p:cNvSpPr/>
          <p:nvPr/>
        </p:nvSpPr>
        <p:spPr>
          <a:xfrm>
            <a:off x="5932500" y="1913325"/>
            <a:ext cx="521400" cy="2250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56"/>
          <p:cNvSpPr txBox="1"/>
          <p:nvPr/>
        </p:nvSpPr>
        <p:spPr>
          <a:xfrm>
            <a:off x="2142675" y="2486950"/>
            <a:ext cx="107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Input Filter</a:t>
            </a:r>
            <a:endParaRPr b="1" sz="1200"/>
          </a:p>
        </p:txBody>
      </p:sp>
      <p:sp>
        <p:nvSpPr>
          <p:cNvPr id="957" name="Google Shape;957;p56"/>
          <p:cNvSpPr txBox="1"/>
          <p:nvPr/>
        </p:nvSpPr>
        <p:spPr>
          <a:xfrm>
            <a:off x="6826125" y="2486950"/>
            <a:ext cx="116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Output </a:t>
            </a:r>
            <a:r>
              <a:rPr b="1" lang="en-US" sz="1200"/>
              <a:t>Filter</a:t>
            </a:r>
            <a:endParaRPr b="1" sz="1200"/>
          </a:p>
        </p:txBody>
      </p:sp>
      <p:sp>
        <p:nvSpPr>
          <p:cNvPr id="958" name="Google Shape;958;p56"/>
          <p:cNvSpPr txBox="1"/>
          <p:nvPr/>
        </p:nvSpPr>
        <p:spPr>
          <a:xfrm>
            <a:off x="4577225" y="2486950"/>
            <a:ext cx="107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Model</a:t>
            </a:r>
            <a:r>
              <a:rPr b="1" lang="en-US" sz="1200"/>
              <a:t> Filter</a:t>
            </a:r>
            <a:endParaRPr b="1" sz="1200"/>
          </a:p>
        </p:txBody>
      </p:sp>
      <p:pic>
        <p:nvPicPr>
          <p:cNvPr id="959" name="Google Shape;959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94625" y="3277763"/>
            <a:ext cx="302476" cy="30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94625" y="3692425"/>
            <a:ext cx="302476" cy="30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94625" y="4107075"/>
            <a:ext cx="302476" cy="30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5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17625" y="4622475"/>
            <a:ext cx="256475" cy="2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57"/>
          <p:cNvSpPr txBox="1"/>
          <p:nvPr/>
        </p:nvSpPr>
        <p:spPr>
          <a:xfrm>
            <a:off x="356875" y="350625"/>
            <a:ext cx="885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Guardrails: Enforcing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Output Constraints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8" name="Google Shape;968;p5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57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0" name="Google Shape;970;p57"/>
          <p:cNvSpPr/>
          <p:nvPr/>
        </p:nvSpPr>
        <p:spPr>
          <a:xfrm>
            <a:off x="1677975" y="3938025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57"/>
          <p:cNvSpPr txBox="1"/>
          <p:nvPr/>
        </p:nvSpPr>
        <p:spPr>
          <a:xfrm>
            <a:off x="2390024" y="3938025"/>
            <a:ext cx="3206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Example: Citation Guardrail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2" name="Google Shape;972;p57"/>
          <p:cNvSpPr txBox="1"/>
          <p:nvPr/>
        </p:nvSpPr>
        <p:spPr>
          <a:xfrm>
            <a:off x="2362075" y="4236707"/>
            <a:ext cx="680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financial advisor chatbot using the prompt constraint: "All claims about regulations, rates, or deadlines must include a citation to an official source. If you cannot provide a citation, state this limitation explicitly."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3" name="Google Shape;973;p57"/>
          <p:cNvSpPr txBox="1"/>
          <p:nvPr/>
        </p:nvSpPr>
        <p:spPr>
          <a:xfrm>
            <a:off x="1453651" y="1536225"/>
            <a:ext cx="8253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Prompt-level: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Specify roles, refusal logic, and output schema directly in system prompts.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System-level: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Validate outputs via JSON schemas and regex pattern checks.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Runtime: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Enforce limits on actions or tool usage during execution.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Combine static validation + runtime enforcement for maximum safety.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4" name="Google Shape;97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325" y="1596488"/>
            <a:ext cx="302476" cy="30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328" y="2067028"/>
            <a:ext cx="256475" cy="2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1325" y="2501400"/>
            <a:ext cx="256475" cy="2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3012" y="2913149"/>
            <a:ext cx="233100" cy="23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58"/>
          <p:cNvSpPr txBox="1"/>
          <p:nvPr/>
        </p:nvSpPr>
        <p:spPr>
          <a:xfrm>
            <a:off x="356875" y="350625"/>
            <a:ext cx="6803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Practice 2: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Designing a Safety Filter</a:t>
            </a: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3" name="Google Shape;983;p5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58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5" name="Google Shape;985;p58"/>
          <p:cNvSpPr/>
          <p:nvPr/>
        </p:nvSpPr>
        <p:spPr>
          <a:xfrm>
            <a:off x="2782725" y="4016925"/>
            <a:ext cx="6803700" cy="6426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58"/>
          <p:cNvSpPr txBox="1"/>
          <p:nvPr/>
        </p:nvSpPr>
        <p:spPr>
          <a:xfrm>
            <a:off x="3463443" y="4016925"/>
            <a:ext cx="1462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Bonus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7" name="Google Shape;987;p58"/>
          <p:cNvSpPr txBox="1"/>
          <p:nvPr/>
        </p:nvSpPr>
        <p:spPr>
          <a:xfrm>
            <a:off x="3463450" y="4320782"/>
            <a:ext cx="680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Write a sample "guardrail prompt" to enforce the rule.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8" name="Google Shape;988;p58"/>
          <p:cNvSpPr txBox="1"/>
          <p:nvPr/>
        </p:nvSpPr>
        <p:spPr>
          <a:xfrm>
            <a:off x="3046551" y="2465600"/>
            <a:ext cx="8253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Brainstorm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3 types of harmful content your model could produce.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Design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simple rule or classifier to detect each type.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Specify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the model should do: block, rephrase, or escalate.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9" name="Google Shape;989;p58"/>
          <p:cNvSpPr/>
          <p:nvPr/>
        </p:nvSpPr>
        <p:spPr>
          <a:xfrm>
            <a:off x="2823625" y="4828575"/>
            <a:ext cx="6866400" cy="642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58"/>
          <p:cNvSpPr txBox="1"/>
          <p:nvPr/>
        </p:nvSpPr>
        <p:spPr>
          <a:xfrm>
            <a:off x="3463454" y="4757025"/>
            <a:ext cx="2445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Group Collaboration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1" name="Google Shape;991;p58"/>
          <p:cNvSpPr txBox="1"/>
          <p:nvPr/>
        </p:nvSpPr>
        <p:spPr>
          <a:xfrm>
            <a:off x="3463450" y="5040375"/>
            <a:ext cx="640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Consider content categories like hate speech, PII disclosure, or harmful instructions when designing your filters.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2" name="Google Shape;992;p58"/>
          <p:cNvSpPr txBox="1"/>
          <p:nvPr/>
        </p:nvSpPr>
        <p:spPr>
          <a:xfrm>
            <a:off x="1510875" y="1225625"/>
            <a:ext cx="672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 a lightweight content safety filter.</a:t>
            </a:r>
            <a:endParaRPr/>
          </a:p>
        </p:txBody>
      </p:sp>
      <p:sp>
        <p:nvSpPr>
          <p:cNvPr id="993" name="Google Shape;993;p58"/>
          <p:cNvSpPr txBox="1"/>
          <p:nvPr/>
        </p:nvSpPr>
        <p:spPr>
          <a:xfrm>
            <a:off x="1759175" y="2117200"/>
            <a:ext cx="140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Instructions:</a:t>
            </a:r>
            <a:endParaRPr b="1"/>
          </a:p>
        </p:txBody>
      </p:sp>
      <p:pic>
        <p:nvPicPr>
          <p:cNvPr id="994" name="Google Shape;99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725" y="2563375"/>
            <a:ext cx="202175" cy="20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4775" y="2978025"/>
            <a:ext cx="202175" cy="20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4775" y="3435875"/>
            <a:ext cx="202175" cy="20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1100" y="1368537"/>
            <a:ext cx="329775" cy="32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98063" y="4080450"/>
            <a:ext cx="292650" cy="2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79499" y="4948750"/>
            <a:ext cx="329775" cy="329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59"/>
          <p:cNvSpPr txBox="1"/>
          <p:nvPr/>
        </p:nvSpPr>
        <p:spPr>
          <a:xfrm>
            <a:off x="356875" y="350625"/>
            <a:ext cx="885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Risk Mitigation: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Pre-Production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5" name="Google Shape;1005;p5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59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7" name="Google Shape;1007;p59"/>
          <p:cNvSpPr/>
          <p:nvPr/>
        </p:nvSpPr>
        <p:spPr>
          <a:xfrm>
            <a:off x="1677975" y="3938025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59"/>
          <p:cNvSpPr txBox="1"/>
          <p:nvPr/>
        </p:nvSpPr>
        <p:spPr>
          <a:xfrm>
            <a:off x="2390024" y="3938025"/>
            <a:ext cx="3206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Example: 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9" name="Google Shape;1009;p59"/>
          <p:cNvSpPr txBox="1"/>
          <p:nvPr/>
        </p:nvSpPr>
        <p:spPr>
          <a:xfrm>
            <a:off x="2362075" y="4236707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Red-team prompts designed to trigger policy-violating answers help identify vulnerabilities before they reach users.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0" name="Google Shape;1010;p59"/>
          <p:cNvSpPr txBox="1"/>
          <p:nvPr/>
        </p:nvSpPr>
        <p:spPr>
          <a:xfrm>
            <a:off x="1453651" y="1536225"/>
            <a:ext cx="8253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Conduct adversarial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red-teaming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find failure modes.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 with edge-case and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synthetic datasets.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Review flagged outputs through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human-in-loop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evaluations.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</a:t>
            </a: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sandboxed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 environments before release.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11" name="Google Shape;101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325" y="1596488"/>
            <a:ext cx="302476" cy="30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3012" y="2913149"/>
            <a:ext cx="233100" cy="2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5324" y="2048949"/>
            <a:ext cx="302476" cy="30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5324" y="2443650"/>
            <a:ext cx="342625" cy="34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0"/>
          <p:cNvSpPr txBox="1"/>
          <p:nvPr/>
        </p:nvSpPr>
        <p:spPr>
          <a:xfrm>
            <a:off x="356875" y="350625"/>
            <a:ext cx="885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Risk Mitigation: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Post-Production</a:t>
            </a:r>
            <a:endParaRPr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0" name="Google Shape;1020;p6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60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2" name="Google Shape;1022;p60"/>
          <p:cNvSpPr/>
          <p:nvPr/>
        </p:nvSpPr>
        <p:spPr>
          <a:xfrm>
            <a:off x="1677975" y="3938025"/>
            <a:ext cx="7464000" cy="19134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60"/>
          <p:cNvSpPr txBox="1"/>
          <p:nvPr/>
        </p:nvSpPr>
        <p:spPr>
          <a:xfrm>
            <a:off x="2390024" y="3938025"/>
            <a:ext cx="3206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Key Metric Example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4" name="Google Shape;1024;p60"/>
          <p:cNvSpPr txBox="1"/>
          <p:nvPr/>
        </p:nvSpPr>
        <p:spPr>
          <a:xfrm>
            <a:off x="2111675" y="4270369"/>
            <a:ext cx="6803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Safety flags per 10K responses (weekly trend) with automated alerts when exceeding threshold values.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Normal : &lt;5 flags/10K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Warning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5-15 flags/10K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Alert 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&gt;15 flags/10K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5" name="Google Shape;1025;p60"/>
          <p:cNvSpPr txBox="1"/>
          <p:nvPr/>
        </p:nvSpPr>
        <p:spPr>
          <a:xfrm>
            <a:off x="1453651" y="1536225"/>
            <a:ext cx="8253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Continuous monitoring: accuracy, safety, and fairness metrics.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Track key metrics: hallucination rate, safety-flag rate, retrieval success.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thresholds and alerts for anomalies.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Feed incidents back into model refinement loop.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26" name="Google Shape;102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325" y="1596488"/>
            <a:ext cx="302476" cy="30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328" y="2067028"/>
            <a:ext cx="256475" cy="2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3012" y="2913149"/>
            <a:ext cx="233100" cy="2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6803" y="4949728"/>
            <a:ext cx="169125" cy="16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36803" y="4683978"/>
            <a:ext cx="169125" cy="16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17599" y="5258775"/>
            <a:ext cx="169125" cy="169125"/>
          </a:xfrm>
          <a:prstGeom prst="rect">
            <a:avLst/>
          </a:prstGeom>
          <a:solidFill>
            <a:srgbClr val="C2D4FF"/>
          </a:solidFill>
          <a:ln>
            <a:noFill/>
          </a:ln>
        </p:spPr>
      </p:pic>
      <p:pic>
        <p:nvPicPr>
          <p:cNvPr id="1032" name="Google Shape;1032;p6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75315" y="2402652"/>
            <a:ext cx="342500" cy="3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61"/>
          <p:cNvSpPr txBox="1"/>
          <p:nvPr/>
        </p:nvSpPr>
        <p:spPr>
          <a:xfrm>
            <a:off x="356875" y="350625"/>
            <a:ext cx="885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Meta-Prompting &amp;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Prompt Chaining</a:t>
            </a:r>
            <a:endParaRPr b="1"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8" name="Google Shape;1038;p6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61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0" name="Google Shape;1040;p61"/>
          <p:cNvSpPr/>
          <p:nvPr/>
        </p:nvSpPr>
        <p:spPr>
          <a:xfrm>
            <a:off x="1672850" y="3677400"/>
            <a:ext cx="7464000" cy="10959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1"/>
          <p:cNvSpPr txBox="1"/>
          <p:nvPr/>
        </p:nvSpPr>
        <p:spPr>
          <a:xfrm>
            <a:off x="2384899" y="3677400"/>
            <a:ext cx="3206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Example: Citation Verification Chain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2" name="Google Shape;1042;p61"/>
          <p:cNvSpPr txBox="1"/>
          <p:nvPr/>
        </p:nvSpPr>
        <p:spPr>
          <a:xfrm>
            <a:off x="2106550" y="4009744"/>
            <a:ext cx="680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1: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"List all factual claims and potential sources"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2: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"Verify each citation against retrieved context"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3:</a:t>
            </a: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"Finalize output, including only verified information"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3" name="Google Shape;1043;p61"/>
          <p:cNvSpPr txBox="1"/>
          <p:nvPr/>
        </p:nvSpPr>
        <p:spPr>
          <a:xfrm>
            <a:off x="1448526" y="1275600"/>
            <a:ext cx="8253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Meta-prompts: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Instructions that guide the model to self-check or explain its reasoning process.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 chaining: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Divide complex tasks into smaller, verified sub-steps for better reliability.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models as self-evaluators or cross-checkers to verify their own outputs.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Improves reliability through internal verification mechanisms without additional external tools.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4" name="Google Shape;104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228" y="1987403"/>
            <a:ext cx="256475" cy="2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213" y="2405325"/>
            <a:ext cx="256475" cy="2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899" y="2882874"/>
            <a:ext cx="233100" cy="2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61"/>
          <p:cNvSpPr/>
          <p:nvPr/>
        </p:nvSpPr>
        <p:spPr>
          <a:xfrm>
            <a:off x="1672850" y="5015375"/>
            <a:ext cx="7464000" cy="851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1"/>
          <p:cNvSpPr txBox="1"/>
          <p:nvPr/>
        </p:nvSpPr>
        <p:spPr>
          <a:xfrm>
            <a:off x="2384899" y="5015375"/>
            <a:ext cx="3206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 benefits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9" name="Google Shape;1049;p61"/>
          <p:cNvSpPr txBox="1"/>
          <p:nvPr/>
        </p:nvSpPr>
        <p:spPr>
          <a:xfrm>
            <a:off x="2106550" y="5347719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Reduces hallucinations by 40-60% in factual domains by forcing structured verification before generating final responses.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50" name="Google Shape;1050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9262" y="1378649"/>
            <a:ext cx="350374" cy="35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88949" y="3711499"/>
            <a:ext cx="419700" cy="4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62"/>
          <p:cNvSpPr txBox="1"/>
          <p:nvPr/>
        </p:nvSpPr>
        <p:spPr>
          <a:xfrm>
            <a:off x="356875" y="350625"/>
            <a:ext cx="885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Validation Lifecycle: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Putting it All Together</a:t>
            </a:r>
            <a:endParaRPr b="1"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7" name="Google Shape;1057;p6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62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9" name="Google Shape;1059;p62"/>
          <p:cNvSpPr/>
          <p:nvPr/>
        </p:nvSpPr>
        <p:spPr>
          <a:xfrm>
            <a:off x="1672850" y="3677400"/>
            <a:ext cx="7464000" cy="809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62"/>
          <p:cNvSpPr txBox="1"/>
          <p:nvPr/>
        </p:nvSpPr>
        <p:spPr>
          <a:xfrm>
            <a:off x="2384899" y="3677400"/>
            <a:ext cx="3206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 Principle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1" name="Google Shape;1061;p62"/>
          <p:cNvSpPr txBox="1"/>
          <p:nvPr/>
        </p:nvSpPr>
        <p:spPr>
          <a:xfrm>
            <a:off x="2106550" y="4009744"/>
            <a:ext cx="680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Balance automation with consistent human oversight throughout the validation lifecycle.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2" name="Google Shape;1062;p62"/>
          <p:cNvSpPr txBox="1"/>
          <p:nvPr/>
        </p:nvSpPr>
        <p:spPr>
          <a:xfrm>
            <a:off x="1448526" y="1275600"/>
            <a:ext cx="8253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Complete lifecycle: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selection → evaluation → monitoring → refinement.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Track KPIs: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groundedness %, hallucination rate, safety-flag %, fairness gap.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Monitoring tools: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dashboards, automated alerts, and regular red-teaming.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integrity: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maintain provenance for every metric and evaluator used.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3" name="Google Shape;106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203" y="1806403"/>
            <a:ext cx="256475" cy="2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200" y="2240775"/>
            <a:ext cx="256475" cy="2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887" y="2652524"/>
            <a:ext cx="233100" cy="2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62"/>
          <p:cNvSpPr/>
          <p:nvPr/>
        </p:nvSpPr>
        <p:spPr>
          <a:xfrm>
            <a:off x="1672850" y="4652550"/>
            <a:ext cx="7464000" cy="851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2"/>
          <p:cNvSpPr txBox="1"/>
          <p:nvPr/>
        </p:nvSpPr>
        <p:spPr>
          <a:xfrm>
            <a:off x="2384899" y="4652550"/>
            <a:ext cx="3206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Implementation Tip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8" name="Google Shape;1068;p62"/>
          <p:cNvSpPr txBox="1"/>
          <p:nvPr/>
        </p:nvSpPr>
        <p:spPr>
          <a:xfrm>
            <a:off x="2106550" y="4984894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Create a unified validation dashboard that integrates automated metrics with human review workflows for comprehensive oversight.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9" name="Google Shape;1069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2091" y="1364853"/>
            <a:ext cx="338700" cy="3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40750" y="4688150"/>
            <a:ext cx="384100" cy="3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63"/>
          <p:cNvSpPr txBox="1"/>
          <p:nvPr/>
        </p:nvSpPr>
        <p:spPr>
          <a:xfrm>
            <a:off x="356875" y="350625"/>
            <a:ext cx="6803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Practice 3: 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Build a Mini Evaluation Plan</a:t>
            </a:r>
            <a:endParaRPr sz="1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6" name="Google Shape;1076;p6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63"/>
          <p:cNvSpPr txBox="1"/>
          <p:nvPr>
            <p:ph idx="12" type="sldNum"/>
          </p:nvPr>
        </p:nvSpPr>
        <p:spPr>
          <a:xfrm>
            <a:off x="11390449" y="491367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8" name="Google Shape;1078;p63"/>
          <p:cNvSpPr/>
          <p:nvPr/>
        </p:nvSpPr>
        <p:spPr>
          <a:xfrm>
            <a:off x="2764125" y="3909775"/>
            <a:ext cx="6803700" cy="6426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63"/>
          <p:cNvSpPr txBox="1"/>
          <p:nvPr/>
        </p:nvSpPr>
        <p:spPr>
          <a:xfrm>
            <a:off x="3444843" y="3909775"/>
            <a:ext cx="1462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Deliverable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0" name="Google Shape;1080;p63"/>
          <p:cNvSpPr txBox="1"/>
          <p:nvPr/>
        </p:nvSpPr>
        <p:spPr>
          <a:xfrm>
            <a:off x="3444850" y="4213632"/>
            <a:ext cx="680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5-minute group presentation outlining your evaluation strategy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1" name="Google Shape;1081;p63"/>
          <p:cNvSpPr txBox="1"/>
          <p:nvPr/>
        </p:nvSpPr>
        <p:spPr>
          <a:xfrm>
            <a:off x="3015901" y="2067000"/>
            <a:ext cx="8253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small groups, choose a GenAI use case (e.g., chatbot, summarizer).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3 key metrics (accuracy, safety, fairness).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Describe how you will measure and improve each metric.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Include how you'll detect risks and enforce guardrails.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2" name="Google Shape;1082;p63"/>
          <p:cNvSpPr/>
          <p:nvPr/>
        </p:nvSpPr>
        <p:spPr>
          <a:xfrm>
            <a:off x="2805025" y="4721425"/>
            <a:ext cx="6866400" cy="1273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3"/>
          <p:cNvSpPr txBox="1"/>
          <p:nvPr/>
        </p:nvSpPr>
        <p:spPr>
          <a:xfrm>
            <a:off x="3444854" y="4701950"/>
            <a:ext cx="2445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Group Planning Space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4" name="Google Shape;1084;p63"/>
          <p:cNvSpPr txBox="1"/>
          <p:nvPr/>
        </p:nvSpPr>
        <p:spPr>
          <a:xfrm>
            <a:off x="3444850" y="5069575"/>
            <a:ext cx="5297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this space to organize your evaluation framework:</a:t>
            </a:r>
            <a:b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critical failures could impact your chosen use case?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metrics would detect these failures early?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guardrails would prevent these failures?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5" name="Google Shape;1085;p63"/>
          <p:cNvSpPr txBox="1"/>
          <p:nvPr/>
        </p:nvSpPr>
        <p:spPr>
          <a:xfrm>
            <a:off x="1510875" y="1034088"/>
            <a:ext cx="672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b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Design an end-to-end validation workflow for a GenAI use case.</a:t>
            </a:r>
            <a:endParaRPr/>
          </a:p>
        </p:txBody>
      </p:sp>
      <p:sp>
        <p:nvSpPr>
          <p:cNvPr id="1086" name="Google Shape;1086;p63"/>
          <p:cNvSpPr txBox="1"/>
          <p:nvPr/>
        </p:nvSpPr>
        <p:spPr>
          <a:xfrm>
            <a:off x="1728525" y="1718600"/>
            <a:ext cx="140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Instructions:</a:t>
            </a:r>
            <a:endParaRPr b="1"/>
          </a:p>
        </p:txBody>
      </p:sp>
      <p:pic>
        <p:nvPicPr>
          <p:cNvPr id="1087" name="Google Shape;108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075" y="2164775"/>
            <a:ext cx="202175" cy="20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4125" y="2579425"/>
            <a:ext cx="202175" cy="20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64125" y="3037275"/>
            <a:ext cx="202175" cy="20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1100" y="1177000"/>
            <a:ext cx="329775" cy="32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79463" y="3973300"/>
            <a:ext cx="292650" cy="2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6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60899" y="4841600"/>
            <a:ext cx="329775" cy="329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6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64125" y="3473525"/>
            <a:ext cx="202175" cy="2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64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64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Q/A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6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65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65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6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