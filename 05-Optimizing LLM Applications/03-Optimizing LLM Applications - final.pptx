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Inter SemiBold"/>
      <p:regular r:id="rId26"/>
      <p:bold r:id="rId27"/>
      <p:italic r:id="rId28"/>
      <p:boldItalic r:id="rId29"/>
    </p:embeddedFont>
    <p:embeddedFont>
      <p:font typeface="Poppins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IBM Plex Mono Light"/>
      <p:regular r:id="rId38"/>
      <p:bold r:id="rId39"/>
      <p:italic r:id="rId40"/>
      <p:boldItalic r:id="rId41"/>
    </p:embeddedFont>
    <p:embeddedFont>
      <p:font typeface="Poppins Medium"/>
      <p:regular r:id="rId42"/>
      <p:bold r:id="rId43"/>
      <p:italic r:id="rId44"/>
      <p:boldItalic r:id="rId45"/>
    </p:embeddedFont>
    <p:embeddedFont>
      <p:font typeface="Open Sans Light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40ECED-FCFA-4D99-B313-3E3FFE9E7EC5}">
  <a:tblStyle styleId="{B840ECED-FCFA-4D99-B313-3E3FFE9E7E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Light-italic.fntdata"/><Relationship Id="rId42" Type="http://schemas.openxmlformats.org/officeDocument/2006/relationships/font" Target="fonts/PoppinsMedium-regular.fntdata"/><Relationship Id="rId41" Type="http://schemas.openxmlformats.org/officeDocument/2006/relationships/font" Target="fonts/IBMPlexMonoLight-boldItalic.fntdata"/><Relationship Id="rId44" Type="http://schemas.openxmlformats.org/officeDocument/2006/relationships/font" Target="fonts/PoppinsMedium-italic.fntdata"/><Relationship Id="rId43" Type="http://schemas.openxmlformats.org/officeDocument/2006/relationships/font" Target="fonts/PoppinsMedium-bold.fntdata"/><Relationship Id="rId46" Type="http://schemas.openxmlformats.org/officeDocument/2006/relationships/font" Target="fonts/OpenSansLight-regular.fntdata"/><Relationship Id="rId45" Type="http://schemas.openxmlformats.org/officeDocument/2006/relationships/font" Target="fonts/Poppi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Light-italic.fntdata"/><Relationship Id="rId47" Type="http://schemas.openxmlformats.org/officeDocument/2006/relationships/font" Target="fonts/OpenSansLight-bold.fntdata"/><Relationship Id="rId49" Type="http://schemas.openxmlformats.org/officeDocument/2006/relationships/font" Target="fonts/OpenSans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33" Type="http://schemas.openxmlformats.org/officeDocument/2006/relationships/font" Target="fonts/Poppins-boldItalic.fntdata"/><Relationship Id="rId32" Type="http://schemas.openxmlformats.org/officeDocument/2006/relationships/font" Target="fonts/Poppins-italic.fntdata"/><Relationship Id="rId35" Type="http://schemas.openxmlformats.org/officeDocument/2006/relationships/font" Target="fonts/Inter-bold.fntdata"/><Relationship Id="rId34" Type="http://schemas.openxmlformats.org/officeDocument/2006/relationships/font" Target="fonts/Inter-regular.fntdata"/><Relationship Id="rId37" Type="http://schemas.openxmlformats.org/officeDocument/2006/relationships/font" Target="fonts/Inter-boldItalic.fntdata"/><Relationship Id="rId36" Type="http://schemas.openxmlformats.org/officeDocument/2006/relationships/font" Target="fonts/Inter-italic.fntdata"/><Relationship Id="rId39" Type="http://schemas.openxmlformats.org/officeDocument/2006/relationships/font" Target="fonts/IBMPlexMonoLight-bold.fntdata"/><Relationship Id="rId38" Type="http://schemas.openxmlformats.org/officeDocument/2006/relationships/font" Target="fonts/IBMPlexMonoLigh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InterSemiBold-regular.fntdata"/><Relationship Id="rId25" Type="http://schemas.openxmlformats.org/officeDocument/2006/relationships/slide" Target="slides/slide19.xml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29" Type="http://schemas.openxmlformats.org/officeDocument/2006/relationships/font" Target="fonts/InterSemiBold-boldItalic.fntdata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81778fac8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81778fac87_0_6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e0ee1b56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ae0ee1b560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ae0ee1b56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ae0ee1b560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ae0ee1b56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ae0ee1b560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ae0ee1b56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ae0ee1b560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e0ee1b56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ae0ee1b560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ae0ee1b56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g3ae0ee1b560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ae0ee1b5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ae0ee1b560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ae0ee1b56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ae0ee1b560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ae0ee1b560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ae0ee1b56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ae0ee1b560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ae0ee1b56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ae0ee1b560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ae0ee1b56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e0ee1b560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ae0ee1b56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64" y="2469826"/>
            <a:ext cx="9459084" cy="1631701"/>
            <a:chOff x="800251" y="1467172"/>
            <a:chExt cx="11123100" cy="16317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1" y="1467173"/>
              <a:ext cx="111231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E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endParaRPr b="1" sz="5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Optimizing LLM Applications</a:t>
              </a:r>
              <a:endParaRPr b="1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2104825" y="2997350"/>
            <a:ext cx="8535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r>
              <a:rPr b="1" lang="en-US" sz="3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Advanced Strategies for Cost, Speed, and Scale in the Gemini Ecosystem</a:t>
            </a:r>
            <a:endParaRPr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0"/>
          <p:cNvSpPr txBox="1"/>
          <p:nvPr/>
        </p:nvSpPr>
        <p:spPr>
          <a:xfrm>
            <a:off x="2420025" y="4199825"/>
            <a:ext cx="7028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Objectives:</a:t>
            </a:r>
            <a:endParaRPr b="1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 Medium"/>
              <a:buChar char="●"/>
            </a:pP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Familiarize</a:t>
            </a: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 with the concepts and practices</a:t>
            </a:r>
            <a:r>
              <a:rPr lang="en-US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for optimizing Cost, Speed, and Scale in the Gemini Ecosystem</a:t>
            </a:r>
            <a:endParaRPr i="0" sz="16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5" name="Google Shape;635;p40"/>
          <p:cNvSpPr txBox="1"/>
          <p:nvPr/>
        </p:nvSpPr>
        <p:spPr>
          <a:xfrm>
            <a:off x="337853" y="433775"/>
            <a:ext cx="32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4079925" y="13368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Optimization Framework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8" name="Google Shape;6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850" y="1434925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852" y="187400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850" y="2313063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850" y="2738062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0850" y="3163050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0"/>
          <p:cNvSpPr txBox="1"/>
          <p:nvPr/>
        </p:nvSpPr>
        <p:spPr>
          <a:xfrm>
            <a:off x="4079925" y="17758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 Optimization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40"/>
          <p:cNvSpPr txBox="1"/>
          <p:nvPr/>
        </p:nvSpPr>
        <p:spPr>
          <a:xfrm>
            <a:off x="4079925" y="26540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Lite LLM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p40"/>
          <p:cNvSpPr txBox="1"/>
          <p:nvPr/>
        </p:nvSpPr>
        <p:spPr>
          <a:xfrm>
            <a:off x="4079925" y="30671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Reliability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6" name="Google Shape;646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7" name="Google Shape;647;p40"/>
          <p:cNvSpPr txBox="1"/>
          <p:nvPr/>
        </p:nvSpPr>
        <p:spPr>
          <a:xfrm>
            <a:off x="4079925" y="348988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Caching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4079925" y="220198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Batch vs Real-Time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9" name="Google Shape;649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10850" y="3588025"/>
            <a:ext cx="234851" cy="23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1"/>
          <p:cNvSpPr txBox="1"/>
          <p:nvPr/>
        </p:nvSpPr>
        <p:spPr>
          <a:xfrm>
            <a:off x="356875" y="350625"/>
            <a:ext cx="53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Optimization Framework</a:t>
            </a:r>
            <a:endParaRPr b="1" sz="2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5" name="Google Shape;655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7" name="Google Shape;657;p41"/>
          <p:cNvSpPr/>
          <p:nvPr/>
        </p:nvSpPr>
        <p:spPr>
          <a:xfrm>
            <a:off x="662925" y="1704500"/>
            <a:ext cx="2749500" cy="43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8" name="Google Shape;658;p41"/>
          <p:cNvSpPr/>
          <p:nvPr/>
        </p:nvSpPr>
        <p:spPr>
          <a:xfrm>
            <a:off x="4321550" y="1704500"/>
            <a:ext cx="2749500" cy="43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1"/>
          <p:cNvSpPr/>
          <p:nvPr/>
        </p:nvSpPr>
        <p:spPr>
          <a:xfrm>
            <a:off x="7980175" y="1704500"/>
            <a:ext cx="2749500" cy="43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0" name="Google Shape;6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050" y="1884725"/>
            <a:ext cx="55410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1"/>
          <p:cNvSpPr txBox="1"/>
          <p:nvPr/>
        </p:nvSpPr>
        <p:spPr>
          <a:xfrm>
            <a:off x="1411239" y="2017625"/>
            <a:ext cx="18123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5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Performance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62" name="Google Shape;66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826" y="1884725"/>
            <a:ext cx="554100" cy="554127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1"/>
          <p:cNvSpPr txBox="1"/>
          <p:nvPr/>
        </p:nvSpPr>
        <p:spPr>
          <a:xfrm>
            <a:off x="5138364" y="2017625"/>
            <a:ext cx="18123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64" name="Google Shape;66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9050" y="1884725"/>
            <a:ext cx="55410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1"/>
          <p:cNvSpPr txBox="1"/>
          <p:nvPr/>
        </p:nvSpPr>
        <p:spPr>
          <a:xfrm>
            <a:off x="8838189" y="2017625"/>
            <a:ext cx="18123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Cost &amp; Scale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66" name="Google Shape;666;p41"/>
          <p:cNvSpPr txBox="1"/>
          <p:nvPr/>
        </p:nvSpPr>
        <p:spPr>
          <a:xfrm>
            <a:off x="849525" y="3085075"/>
            <a:ext cx="23763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selection, structured prompts, and RAG strategies.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7" name="Google Shape;667;p41"/>
          <p:cNvSpPr txBox="1"/>
          <p:nvPr/>
        </p:nvSpPr>
        <p:spPr>
          <a:xfrm>
            <a:off x="4479825" y="3085075"/>
            <a:ext cx="23763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Batch vs. Real-time, Parallel execution, and Streaming.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8" name="Google Shape;668;p41"/>
          <p:cNvSpPr txBox="1"/>
          <p:nvPr/>
        </p:nvSpPr>
        <p:spPr>
          <a:xfrm>
            <a:off x="8110125" y="3249800"/>
            <a:ext cx="23763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Caching, LiteLLM Proxy, and Observability.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356875" y="350625"/>
            <a:ext cx="53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Selection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Strategy</a:t>
            </a:r>
            <a:endParaRPr b="1" sz="2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4" name="Google Shape;674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6" name="Google Shape;676;p42"/>
          <p:cNvSpPr/>
          <p:nvPr/>
        </p:nvSpPr>
        <p:spPr>
          <a:xfrm>
            <a:off x="698975" y="1704500"/>
            <a:ext cx="4443300" cy="43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42"/>
          <p:cNvSpPr/>
          <p:nvPr/>
        </p:nvSpPr>
        <p:spPr>
          <a:xfrm>
            <a:off x="6096000" y="1704500"/>
            <a:ext cx="4373100" cy="43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2"/>
          <p:cNvSpPr txBox="1"/>
          <p:nvPr/>
        </p:nvSpPr>
        <p:spPr>
          <a:xfrm>
            <a:off x="849525" y="1991875"/>
            <a:ext cx="3041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Gemini 1.5 Flash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679" name="Google Shape;679;p42"/>
          <p:cNvSpPr txBox="1"/>
          <p:nvPr/>
        </p:nvSpPr>
        <p:spPr>
          <a:xfrm>
            <a:off x="6506630" y="1991875"/>
            <a:ext cx="26580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Gemini 1.5 Pro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80" name="Google Shape;680;p42"/>
          <p:cNvSpPr txBox="1"/>
          <p:nvPr/>
        </p:nvSpPr>
        <p:spPr>
          <a:xfrm>
            <a:off x="947350" y="2628225"/>
            <a:ext cx="375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Workhorse (80% of tasks)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42"/>
          <p:cNvSpPr txBox="1"/>
          <p:nvPr/>
        </p:nvSpPr>
        <p:spPr>
          <a:xfrm>
            <a:off x="1236325" y="3066825"/>
            <a:ext cx="3608100" cy="18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throughput &amp; Low latency.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Cost:</a:t>
            </a: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~$0.075 / 1M input tokens.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For:</a:t>
            </a: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Summarization, Data Extraction, RAG re-ranking, High-volume chat.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2" name="Google Shape;682;p42"/>
          <p:cNvSpPr txBox="1"/>
          <p:nvPr/>
        </p:nvSpPr>
        <p:spPr>
          <a:xfrm>
            <a:off x="6454225" y="2607910"/>
            <a:ext cx="375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Expert (20% of tasks)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42"/>
          <p:cNvSpPr txBox="1"/>
          <p:nvPr/>
        </p:nvSpPr>
        <p:spPr>
          <a:xfrm>
            <a:off x="6860950" y="3066835"/>
            <a:ext cx="3608100" cy="18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Deep reasoning &amp; Nuance.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Cost: </a:t>
            </a: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~$3.50 / 1M input tokens.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For: </a:t>
            </a: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Complex code generation, Creative writing, Mathematical reasoning.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Strict Structured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Outputs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9" name="Google Shape;689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3"/>
          <p:cNvSpPr txBox="1"/>
          <p:nvPr/>
        </p:nvSpPr>
        <p:spPr>
          <a:xfrm>
            <a:off x="1104000" y="1701225"/>
            <a:ext cx="34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Eliminate Parsing Failures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691" name="Google Shape;691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2" name="Google Shape;692;p43"/>
          <p:cNvSpPr txBox="1"/>
          <p:nvPr/>
        </p:nvSpPr>
        <p:spPr>
          <a:xfrm>
            <a:off x="1202475" y="2162925"/>
            <a:ext cx="81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response_mime_type: "application/json"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force Gemini to output valid JSON.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3" name="Google Shape;693;p43"/>
          <p:cNvSpPr txBox="1"/>
          <p:nvPr/>
        </p:nvSpPr>
        <p:spPr>
          <a:xfrm>
            <a:off x="1104000" y="3132575"/>
            <a:ext cx="34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Cost Impact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694" name="Google Shape;694;p43"/>
          <p:cNvSpPr txBox="1"/>
          <p:nvPr/>
        </p:nvSpPr>
        <p:spPr>
          <a:xfrm>
            <a:off x="1202475" y="3565475"/>
            <a:ext cx="895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Zero Retries: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Invalid JSON often forces a retry loop. Eliminating format errors directly saves 30-50% on token costs for data extraction tasks.</a:t>
            </a:r>
            <a:endParaRPr/>
          </a:p>
        </p:txBody>
      </p:sp>
      <p:sp>
        <p:nvSpPr>
          <p:cNvPr id="695" name="Google Shape;695;p43"/>
          <p:cNvSpPr txBox="1"/>
          <p:nvPr/>
        </p:nvSpPr>
        <p:spPr>
          <a:xfrm>
            <a:off x="1202475" y="4271375"/>
            <a:ext cx="895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Token Efficiency: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Removes "conversational filler" (e.g., "Here is the JSON you asked for..."), saving output tokens.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4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RAG Optimization: The "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Long Context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" Shift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1" name="Google Shape;701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4"/>
          <p:cNvSpPr txBox="1"/>
          <p:nvPr/>
        </p:nvSpPr>
        <p:spPr>
          <a:xfrm>
            <a:off x="1104000" y="1701225"/>
            <a:ext cx="431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Traditional RAG vs. Long Context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703" name="Google Shape;703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4" name="Google Shape;704;p44"/>
          <p:cNvSpPr txBox="1"/>
          <p:nvPr/>
        </p:nvSpPr>
        <p:spPr>
          <a:xfrm>
            <a:off x="1202375" y="2240175"/>
            <a:ext cx="81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Gemini 2.5's 2 Million Token context window changes the game.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44"/>
          <p:cNvSpPr txBox="1"/>
          <p:nvPr/>
        </p:nvSpPr>
        <p:spPr>
          <a:xfrm>
            <a:off x="1825475" y="2860100"/>
            <a:ext cx="7476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Chunking is optional: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datasets &lt; 1M tokens, dump the entire document into context.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Accuracy: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"Many-Shot" in-context learning often outperforms retrieval systems by seeing the global context.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Simplicity: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Eliminates Vector DB maintenance and retrieval latency.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5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Architecture: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Batch 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vs.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Real-Time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1" name="Google Shape;711;p4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13" name="Google Shape;713;p45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{B840ECED-FCFA-4D99-B313-3E3FFE9E7EC5}</a:tableStyleId>
              </a:tblPr>
              <a:tblGrid>
                <a:gridCol w="2064600"/>
                <a:gridCol w="3320900"/>
                <a:gridCol w="41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 sz="1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Real-Time (Online)</a:t>
                      </a:r>
                      <a:endParaRPr b="1" sz="1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Gemini Batch API</a:t>
                      </a:r>
                      <a:endParaRPr b="1" sz="1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Latency</a:t>
                      </a:r>
                      <a:endParaRPr b="1">
                        <a:solidFill>
                          <a:srgbClr val="0000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 2 Seconds (Interactive)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24 Hours (Asynchronous)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Cost Benefit</a:t>
                      </a:r>
                      <a:endParaRPr b="1">
                        <a:solidFill>
                          <a:srgbClr val="0000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Standard Pay-as-you-go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50% Discount Guaranteed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Throughput</a:t>
                      </a:r>
                      <a:endParaRPr b="1">
                        <a:solidFill>
                          <a:srgbClr val="0000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RPM Limited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Massive Parallelism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Ideal Use</a:t>
                      </a:r>
                      <a:endParaRPr b="1">
                        <a:solidFill>
                          <a:srgbClr val="0000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Chatbots, Search, Agents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Nightly Evals, Bulk Labeling, Content Migration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6"/>
          <p:cNvSpPr txBox="1"/>
          <p:nvPr/>
        </p:nvSpPr>
        <p:spPr>
          <a:xfrm>
            <a:off x="356876" y="350625"/>
            <a:ext cx="526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Real-Time Speed: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TTFT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9" name="Google Shape;719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1" name="Google Shape;72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119" y="1284413"/>
            <a:ext cx="1887533" cy="12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6"/>
          <p:cNvSpPr txBox="1"/>
          <p:nvPr/>
        </p:nvSpPr>
        <p:spPr>
          <a:xfrm>
            <a:off x="1462725" y="2546525"/>
            <a:ext cx="335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&lt;200ms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723" name="Google Shape;723;p46"/>
          <p:cNvSpPr txBox="1"/>
          <p:nvPr/>
        </p:nvSpPr>
        <p:spPr>
          <a:xfrm>
            <a:off x="6708975" y="254652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00FF"/>
                </a:solidFill>
                <a:latin typeface="Inter"/>
                <a:ea typeface="Inter"/>
                <a:cs typeface="Inter"/>
                <a:sym typeface="Inter"/>
              </a:rPr>
              <a:t>Stream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724" name="Google Shape;724;p46"/>
          <p:cNvSpPr txBox="1"/>
          <p:nvPr/>
        </p:nvSpPr>
        <p:spPr>
          <a:xfrm>
            <a:off x="1721200" y="34567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Target Time-to-First-Token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5" name="Google Shape;725;p46"/>
          <p:cNvSpPr txBox="1"/>
          <p:nvPr/>
        </p:nvSpPr>
        <p:spPr>
          <a:xfrm>
            <a:off x="6708975" y="34567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Always Use Streaming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2193813" y="4466975"/>
            <a:ext cx="7101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</a:rPr>
              <a:t>Perceived Latency Strategy: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❖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Users perceive "speed" based on when the first word appears. Streaming decouples generation time from waiting time.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❖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Combine with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Gemini Flash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near-instant responsiveness.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7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Gemini Batch API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2" name="Google Shape;732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7"/>
          <p:cNvSpPr txBox="1"/>
          <p:nvPr/>
        </p:nvSpPr>
        <p:spPr>
          <a:xfrm>
            <a:off x="1359000" y="1956100"/>
            <a:ext cx="6671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The Batch API allows you to send large asynchronous job requests (JSONL files). It is designed for workloads that are not time-sensitive.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4" name="Google Shape;734;p47"/>
          <p:cNvSpPr txBox="1"/>
          <p:nvPr/>
        </p:nvSpPr>
        <p:spPr>
          <a:xfrm>
            <a:off x="1255375" y="1529700"/>
            <a:ext cx="37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Process More, Pay Half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735" name="Google Shape;735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6" name="Google Shape;736;p47"/>
          <p:cNvSpPr txBox="1"/>
          <p:nvPr/>
        </p:nvSpPr>
        <p:spPr>
          <a:xfrm>
            <a:off x="1255375" y="3108725"/>
            <a:ext cx="37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Workflow</a:t>
            </a:r>
            <a:endParaRPr b="1" sz="1800">
              <a:solidFill>
                <a:schemeClr val="accent1"/>
              </a:solidFill>
            </a:endParaRPr>
          </a:p>
        </p:txBody>
      </p:sp>
      <p:pic>
        <p:nvPicPr>
          <p:cNvPr descr="image.png" id="737" name="Google Shape;73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925" y="3545698"/>
            <a:ext cx="5792125" cy="18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8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Parallel Execution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Pattern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3" name="Google Shape;743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8"/>
          <p:cNvSpPr txBox="1"/>
          <p:nvPr/>
        </p:nvSpPr>
        <p:spPr>
          <a:xfrm>
            <a:off x="1359000" y="1956100"/>
            <a:ext cx="667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LLMs are I/O bound. Never process requests serially (one after another) in a pipeline.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p48"/>
          <p:cNvSpPr txBox="1"/>
          <p:nvPr/>
        </p:nvSpPr>
        <p:spPr>
          <a:xfrm>
            <a:off x="1255375" y="1529700"/>
            <a:ext cx="37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Concurrency is Key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746" name="Google Shape;746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7" name="Google Shape;747;p48"/>
          <p:cNvSpPr txBox="1"/>
          <p:nvPr/>
        </p:nvSpPr>
        <p:spPr>
          <a:xfrm>
            <a:off x="1255375" y="3108725"/>
            <a:ext cx="37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Implementation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748" name="Google Shape;748;p48"/>
          <p:cNvSpPr txBox="1"/>
          <p:nvPr/>
        </p:nvSpPr>
        <p:spPr>
          <a:xfrm>
            <a:off x="1296475" y="3632500"/>
            <a:ext cx="6671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Python: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Use asyncio.gather(*tasks).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Result: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Process 100 documents in the time it takes to process 1, limited only by your Rate Limit (RPM).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9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LiteLLM: The Universal Proxy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4" name="Google Shape;754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6708425" y="2249575"/>
            <a:ext cx="4277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LiteLLM acts as a middleware that standardizes inputs/outputs to the OpenAI format, allowing you to swap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Gemini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Claude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or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GPT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with a single configuration change.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This prevents vendor lock-in and allows for dynamic model routing based on task complexity.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6" name="Google Shape;756;p49"/>
          <p:cNvSpPr txBox="1"/>
          <p:nvPr/>
        </p:nvSpPr>
        <p:spPr>
          <a:xfrm>
            <a:off x="6604800" y="1823175"/>
            <a:ext cx="37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Decouple Code from Provider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757" name="Google Shape;757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8" name="Google Shape;75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850" y="2292300"/>
            <a:ext cx="4171550" cy="23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4" name="Google Shape;764;p50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Reliability: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Router 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Fallbacks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5" name="Google Shape;765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6" name="Google Shape;76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25" y="1281525"/>
            <a:ext cx="11408749" cy="50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2" name="Google Shape;772;p51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Gemini Context Caching Economics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3" name="Google Shape;773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4" name="Google Shape;77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50" y="1297750"/>
            <a:ext cx="10813327" cy="505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0" name="Google Shape;780;p52"/>
          <p:cNvSpPr txBox="1"/>
          <p:nvPr/>
        </p:nvSpPr>
        <p:spPr>
          <a:xfrm>
            <a:off x="356875" y="350625"/>
            <a:ext cx="439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Caching Ladder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1" name="Google Shape;781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2" name="Google Shape;78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38" y="1210250"/>
            <a:ext cx="11761173" cy="522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8" name="Google Shape;788;p53"/>
          <p:cNvSpPr txBox="1"/>
          <p:nvPr/>
        </p:nvSpPr>
        <p:spPr>
          <a:xfrm>
            <a:off x="356875" y="350625"/>
            <a:ext cx="439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Observability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Cost </a:t>
            </a:r>
            <a:b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Tracking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9" name="Google Shape;789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0" name="Google Shape;79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825" y="1638200"/>
            <a:ext cx="4651174" cy="42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53"/>
          <p:cNvSpPr txBox="1"/>
          <p:nvPr/>
        </p:nvSpPr>
        <p:spPr>
          <a:xfrm>
            <a:off x="293225" y="2028200"/>
            <a:ext cx="4277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Use LiteLLM’s callback system to send usage data to observability tools( LangFuse, Helicone, or Custom DB).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2" name="Google Shape;792;p53"/>
          <p:cNvSpPr txBox="1"/>
          <p:nvPr/>
        </p:nvSpPr>
        <p:spPr>
          <a:xfrm>
            <a:off x="189600" y="1601800"/>
            <a:ext cx="5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</a:rPr>
              <a:t>You can’t optimize what you can’t see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793" name="Google Shape;793;p53"/>
          <p:cNvSpPr txBox="1"/>
          <p:nvPr/>
        </p:nvSpPr>
        <p:spPr>
          <a:xfrm>
            <a:off x="755950" y="3987050"/>
            <a:ext cx="6347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Spend per User/Tag: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Identify who is burning the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budget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Latency (p95/p99):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Detect slow responses affecting user experience.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Cache Hit Rate: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Verify your optimization strategies are working.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4" name="Google Shape;794;p53"/>
          <p:cNvSpPr txBox="1"/>
          <p:nvPr/>
        </p:nvSpPr>
        <p:spPr>
          <a:xfrm>
            <a:off x="189600" y="3525350"/>
            <a:ext cx="5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</a:rPr>
              <a:t>Key Metrics to Track</a:t>
            </a:r>
            <a:endParaRPr b="1" sz="1800">
              <a:solidFill>
                <a:srgbClr val="0000FF"/>
              </a:solidFill>
            </a:endParaRPr>
          </a:p>
        </p:txBody>
      </p:sp>
      <p:pic>
        <p:nvPicPr>
          <p:cNvPr id="795" name="Google Shape;79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625" y="4067750"/>
            <a:ext cx="277000" cy="2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625" y="4695150"/>
            <a:ext cx="277000" cy="2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627" y="5291000"/>
            <a:ext cx="277000" cy="2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4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4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5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5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